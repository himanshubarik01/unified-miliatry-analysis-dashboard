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as an Infosys internship deliverable. State the goal: turning scattered military datasets into one interactive Power BI experience for analysis, comparison, and coalition-building. Briefly preview the four dashboard sections shown on the mock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challenge first: large, fragmented military datasets are hard to compare manually. Then walk through the seven objectives that guided the dashboard build, from cleaning raw data through to coalition-level analysis. Keep this brisk — it sets up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data categories the dataset spans. Then explain the collection pipeline — raw source data is extracted, consolidated into a structured dataset, and loaded into Power BI. Point out the representative field list as a preview of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preprocessing pipeline that prepares raw military data for Power BI — missing values, standardized names, correct data types, and numeric conversions. Use the format-conversion example to make the abstraction concrete, then point to the four-stage flow summarizing the journey from raw data to a Power BI-ready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Quick Stats page as the dashboard’s landing view. Walk through each KPI card conceptually — countries covered, global ranking, power index, personnel, aircraft, and budget — without quoting specific figures. Emphasize that this page replaces manual record-by-record analysis with an instant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 user picks a single country from the global dataset and instantly sees its full military profile. Walk across the twelve category cards — from population and personnel through to naval fleet and budget — explaining that this page turns a global overview into a focused, country-level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head-to-head comparison view: pick any two countries and the dashboard lines up their metrics side by side. The bars on screen are illustrative only — in the live Power BI dashboard these update dynamically from the underlying dataset. Close with the four analytical benefits this view provides.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Coalition Builder as the most advanced view — selecting several countries at once and seeing their combined military profile. Then pivot to the five key insights, being clear these are conceptual takeaways about what the dashboard reveals, not fabricated country-specific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what the project delivered — a unified, interactive Power BI military analytics platform with four dashboard sections. Then walk quickly through the future scope items, framing them as natural next steps rather than commitments. Close by thanking the panel and opening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slideLayout" Target="../slideLayouts/slideLayout1.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9646920" y="502920"/>
            <a:ext cx="1920240" cy="1920240"/>
          </a:xfrm>
          <a:prstGeom prst="ellipse">
            <a:avLst/>
          </a:prstGeom>
          <a:solidFill>
            <a:srgbClr val="13253F"/>
          </a:solidFill>
          <a:ln/>
        </p:spPr>
      </p:sp>
      <p:pic>
        <p:nvPicPr>
          <p:cNvPr id="5" name="Image 0" descr="preencoded.png">    </p:cNvPr>
          <p:cNvPicPr>
            <a:picLocks noChangeAspect="1"/>
          </p:cNvPicPr>
          <p:nvPr/>
        </p:nvPicPr>
        <p:blipFill>
          <a:blip r:embed="rId1"/>
          <a:stretch>
            <a:fillRect/>
          </a:stretch>
        </p:blipFill>
        <p:spPr>
          <a:xfrm>
            <a:off x="9896551" y="752551"/>
            <a:ext cx="1420978" cy="1420978"/>
          </a:xfrm>
          <a:prstGeom prst="rect">
            <a:avLst/>
          </a:prstGeom>
        </p:spPr>
      </p:pic>
      <p:sp>
        <p:nvSpPr>
          <p:cNvPr id="6" name="Shape 3"/>
          <p:cNvSpPr/>
          <p:nvPr/>
        </p:nvSpPr>
        <p:spPr>
          <a:xfrm>
            <a:off x="548640" y="640080"/>
            <a:ext cx="3355848" cy="310896"/>
          </a:xfrm>
          <a:prstGeom prst="roundRect">
            <a:avLst>
              <a:gd name="adj" fmla="val 50000"/>
            </a:avLst>
          </a:prstGeom>
          <a:solidFill>
            <a:srgbClr val="13253F"/>
          </a:solidFill>
          <a:ln w="9525">
            <a:solidFill>
              <a:srgbClr val="24405F"/>
            </a:solidFill>
            <a:prstDash val="solid"/>
          </a:ln>
        </p:spPr>
      </p:sp>
      <p:sp>
        <p:nvSpPr>
          <p:cNvPr id="7" name="Text 4"/>
          <p:cNvSpPr/>
          <p:nvPr/>
        </p:nvSpPr>
        <p:spPr>
          <a:xfrm>
            <a:off x="548640" y="640080"/>
            <a:ext cx="3355848"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INFOSYS INTERNSHIP PROJECT</a:t>
            </a:r>
            <a:endParaRPr lang="en-US" sz="1050" dirty="0"/>
          </a:p>
        </p:txBody>
      </p:sp>
      <p:sp>
        <p:nvSpPr>
          <p:cNvPr id="8" name="Text 5"/>
          <p:cNvSpPr/>
          <p:nvPr/>
        </p:nvSpPr>
        <p:spPr>
          <a:xfrm>
            <a:off x="548640" y="1234440"/>
            <a:ext cx="7863840" cy="1554480"/>
          </a:xfrm>
          <a:prstGeom prst="rect">
            <a:avLst/>
          </a:prstGeom>
          <a:noFill/>
          <a:ln/>
        </p:spPr>
        <p:txBody>
          <a:bodyPr wrap="square" lIns="0" tIns="0" rIns="0" bIns="0" rtlCol="0" anchor="ctr"/>
          <a:lstStyle/>
          <a:p>
            <a:pPr indent="0" marL="0">
              <a:lnSpc>
                <a:spcPct val="105000"/>
              </a:lnSpc>
              <a:buNone/>
            </a:pPr>
            <a:r>
              <a:rPr lang="en-US" sz="4000" b="1" dirty="0">
                <a:solidFill>
                  <a:srgbClr val="F2F6FA"/>
                </a:solidFill>
                <a:latin typeface="Cambria" pitchFamily="34" charset="0"/>
                <a:ea typeface="Cambria" pitchFamily="34" charset="-122"/>
                <a:cs typeface="Cambria" pitchFamily="34" charset="-120"/>
              </a:rPr>
              <a:t>Unified Military Analytics</a:t>
            </a:r>
            <a:endParaRPr lang="en-US" sz="4000" dirty="0"/>
          </a:p>
          <a:p>
            <a:pPr indent="0" marL="0">
              <a:lnSpc>
                <a:spcPct val="105000"/>
              </a:lnSpc>
              <a:buNone/>
            </a:pPr>
            <a:r>
              <a:rPr lang="en-US" sz="4000" b="1" dirty="0">
                <a:solidFill>
                  <a:srgbClr val="F2F6FA"/>
                </a:solidFill>
                <a:latin typeface="Cambria" pitchFamily="34" charset="0"/>
                <a:ea typeface="Cambria" pitchFamily="34" charset="-122"/>
                <a:cs typeface="Cambria" pitchFamily="34" charset="-120"/>
              </a:rPr>
              <a:t>&amp; Comparison Dashboard</a:t>
            </a:r>
            <a:endParaRPr lang="en-US" sz="4000" dirty="0"/>
          </a:p>
        </p:txBody>
      </p:sp>
      <p:sp>
        <p:nvSpPr>
          <p:cNvPr id="9" name="Text 6"/>
          <p:cNvSpPr/>
          <p:nvPr/>
        </p:nvSpPr>
        <p:spPr>
          <a:xfrm>
            <a:off x="548640" y="2788920"/>
            <a:ext cx="6949440" cy="640080"/>
          </a:xfrm>
          <a:prstGeom prst="rect">
            <a:avLst/>
          </a:prstGeom>
          <a:noFill/>
          <a:ln/>
        </p:spPr>
        <p:txBody>
          <a:bodyPr wrap="square" lIns="0" tIns="0" rIns="0" bIns="0" rtlCol="0" anchor="ctr"/>
          <a:lstStyle/>
          <a:p>
            <a:pPr indent="0" marL="0">
              <a:lnSpc>
                <a:spcPct val="115000"/>
              </a:lnSpc>
              <a:buNone/>
            </a:pPr>
            <a:r>
              <a:rPr lang="en-US" sz="1400" dirty="0">
                <a:solidFill>
                  <a:srgbClr val="9BB0CC"/>
                </a:solidFill>
                <a:latin typeface="Calibri" pitchFamily="34" charset="0"/>
                <a:ea typeface="Calibri" pitchFamily="34" charset="-122"/>
                <a:cs typeface="Calibri" pitchFamily="34" charset="-120"/>
              </a:rPr>
              <a:t>A Power BI-driven platform for exploring, comparing, and understanding global military capabilities.</a:t>
            </a:r>
            <a:endParaRPr lang="en-US" sz="1400" dirty="0"/>
          </a:p>
        </p:txBody>
      </p:sp>
      <p:sp>
        <p:nvSpPr>
          <p:cNvPr id="10" name="Shape 7"/>
          <p:cNvSpPr/>
          <p:nvPr/>
        </p:nvSpPr>
        <p:spPr>
          <a:xfrm>
            <a:off x="548640" y="3703320"/>
            <a:ext cx="310896" cy="310896"/>
          </a:xfrm>
          <a:prstGeom prst="ellipse">
            <a:avLst/>
          </a:prstGeom>
          <a:solidFill>
            <a:srgbClr val="1B324F"/>
          </a:solidFill>
          <a:ln/>
        </p:spPr>
      </p:sp>
      <p:pic>
        <p:nvPicPr>
          <p:cNvPr id="11" name="Image 1" descr="preencoded.png">    </p:cNvPr>
          <p:cNvPicPr>
            <a:picLocks noChangeAspect="1"/>
          </p:cNvPicPr>
          <p:nvPr/>
        </p:nvPicPr>
        <p:blipFill>
          <a:blip r:embed="rId2"/>
          <a:stretch>
            <a:fillRect/>
          </a:stretch>
        </p:blipFill>
        <p:spPr>
          <a:xfrm>
            <a:off x="589056" y="3743736"/>
            <a:ext cx="230063" cy="230063"/>
          </a:xfrm>
          <a:prstGeom prst="rect">
            <a:avLst/>
          </a:prstGeom>
        </p:spPr>
      </p:pic>
      <p:sp>
        <p:nvSpPr>
          <p:cNvPr id="12" name="Text 8"/>
          <p:cNvSpPr/>
          <p:nvPr/>
        </p:nvSpPr>
        <p:spPr>
          <a:xfrm>
            <a:off x="1005840" y="3657600"/>
            <a:ext cx="1920240" cy="402336"/>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Global Coverage</a:t>
            </a:r>
            <a:endParaRPr lang="en-US" sz="1200" dirty="0"/>
          </a:p>
        </p:txBody>
      </p:sp>
      <p:sp>
        <p:nvSpPr>
          <p:cNvPr id="13" name="Shape 9"/>
          <p:cNvSpPr/>
          <p:nvPr/>
        </p:nvSpPr>
        <p:spPr>
          <a:xfrm>
            <a:off x="3017520" y="3703320"/>
            <a:ext cx="310896" cy="310896"/>
          </a:xfrm>
          <a:prstGeom prst="ellipse">
            <a:avLst/>
          </a:prstGeom>
          <a:solidFill>
            <a:srgbClr val="1B324F"/>
          </a:solidFill>
          <a:ln/>
        </p:spPr>
      </p:sp>
      <p:pic>
        <p:nvPicPr>
          <p:cNvPr id="14" name="Image 2" descr="preencoded.png">    </p:cNvPr>
          <p:cNvPicPr>
            <a:picLocks noChangeAspect="1"/>
          </p:cNvPicPr>
          <p:nvPr/>
        </p:nvPicPr>
        <p:blipFill>
          <a:blip r:embed="rId3"/>
          <a:stretch>
            <a:fillRect/>
          </a:stretch>
        </p:blipFill>
        <p:spPr>
          <a:xfrm>
            <a:off x="3057936" y="3743736"/>
            <a:ext cx="230063" cy="230063"/>
          </a:xfrm>
          <a:prstGeom prst="rect">
            <a:avLst/>
          </a:prstGeom>
        </p:spPr>
      </p:pic>
      <p:sp>
        <p:nvSpPr>
          <p:cNvPr id="15" name="Text 10"/>
          <p:cNvSpPr/>
          <p:nvPr/>
        </p:nvSpPr>
        <p:spPr>
          <a:xfrm>
            <a:off x="3474720" y="3657600"/>
            <a:ext cx="1920240" cy="402336"/>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Interactive Analysis</a:t>
            </a:r>
            <a:endParaRPr lang="en-US" sz="1200" dirty="0"/>
          </a:p>
        </p:txBody>
      </p:sp>
      <p:sp>
        <p:nvSpPr>
          <p:cNvPr id="16" name="Shape 11"/>
          <p:cNvSpPr/>
          <p:nvPr/>
        </p:nvSpPr>
        <p:spPr>
          <a:xfrm>
            <a:off x="5486400" y="3703320"/>
            <a:ext cx="310896" cy="310896"/>
          </a:xfrm>
          <a:prstGeom prst="ellipse">
            <a:avLst/>
          </a:prstGeom>
          <a:solidFill>
            <a:srgbClr val="1B324F"/>
          </a:solidFill>
          <a:ln/>
        </p:spPr>
      </p:sp>
      <p:pic>
        <p:nvPicPr>
          <p:cNvPr id="17" name="Image 3" descr="preencoded.png">    </p:cNvPr>
          <p:cNvPicPr>
            <a:picLocks noChangeAspect="1"/>
          </p:cNvPicPr>
          <p:nvPr/>
        </p:nvPicPr>
        <p:blipFill>
          <a:blip r:embed="rId4"/>
          <a:stretch>
            <a:fillRect/>
          </a:stretch>
        </p:blipFill>
        <p:spPr>
          <a:xfrm>
            <a:off x="5526816" y="3743736"/>
            <a:ext cx="230063" cy="230063"/>
          </a:xfrm>
          <a:prstGeom prst="rect">
            <a:avLst/>
          </a:prstGeom>
        </p:spPr>
      </p:pic>
      <p:sp>
        <p:nvSpPr>
          <p:cNvPr id="18" name="Text 12"/>
          <p:cNvSpPr/>
          <p:nvPr/>
        </p:nvSpPr>
        <p:spPr>
          <a:xfrm>
            <a:off x="5943600" y="3657600"/>
            <a:ext cx="1920240" cy="402336"/>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Data-Driven Insight</a:t>
            </a:r>
            <a:endParaRPr lang="en-US" sz="1200" dirty="0"/>
          </a:p>
        </p:txBody>
      </p:sp>
      <p:sp>
        <p:nvSpPr>
          <p:cNvPr id="19" name="Shape 13"/>
          <p:cNvSpPr/>
          <p:nvPr/>
        </p:nvSpPr>
        <p:spPr>
          <a:xfrm>
            <a:off x="7818120" y="3520440"/>
            <a:ext cx="3840480" cy="2331720"/>
          </a:xfrm>
          <a:prstGeom prst="roundRect">
            <a:avLst>
              <a:gd name="adj" fmla="val 3922"/>
            </a:avLst>
          </a:prstGeom>
          <a:solidFill>
            <a:srgbClr val="0F1E33"/>
          </a:solidFill>
          <a:ln w="12700">
            <a:solidFill>
              <a:srgbClr val="24405F"/>
            </a:solidFill>
            <a:prstDash val="solid"/>
          </a:ln>
        </p:spPr>
      </p:sp>
      <p:sp>
        <p:nvSpPr>
          <p:cNvPr id="20" name="Text 14"/>
          <p:cNvSpPr/>
          <p:nvPr/>
        </p:nvSpPr>
        <p:spPr>
          <a:xfrm>
            <a:off x="8046720" y="3639312"/>
            <a:ext cx="3383280" cy="274320"/>
          </a:xfrm>
          <a:prstGeom prst="rect">
            <a:avLst/>
          </a:prstGeom>
          <a:noFill/>
          <a:ln/>
        </p:spPr>
        <p:txBody>
          <a:bodyPr wrap="square" lIns="0" tIns="0" rIns="0" bIns="0" rtlCol="0" anchor="ctr"/>
          <a:lstStyle/>
          <a:p>
            <a:pPr indent="0" marL="0">
              <a:buNone/>
            </a:pPr>
            <a:r>
              <a:rPr lang="en-US" sz="900" b="1" spc="120" kern="0" dirty="0">
                <a:solidFill>
                  <a:srgbClr val="5C7291"/>
                </a:solidFill>
                <a:latin typeface="Calibri" pitchFamily="34" charset="0"/>
                <a:ea typeface="Calibri" pitchFamily="34" charset="-122"/>
                <a:cs typeface="Calibri" pitchFamily="34" charset="-120"/>
              </a:rPr>
              <a:t>QUICK STATS</a:t>
            </a:r>
            <a:endParaRPr lang="en-US" sz="900" dirty="0"/>
          </a:p>
        </p:txBody>
      </p:sp>
      <p:sp>
        <p:nvSpPr>
          <p:cNvPr id="21" name="Shape 15"/>
          <p:cNvSpPr/>
          <p:nvPr/>
        </p:nvSpPr>
        <p:spPr>
          <a:xfrm>
            <a:off x="8046720" y="3977640"/>
            <a:ext cx="1645920" cy="777240"/>
          </a:xfrm>
          <a:prstGeom prst="roundRect">
            <a:avLst>
              <a:gd name="adj" fmla="val 11765"/>
            </a:avLst>
          </a:prstGeom>
          <a:solidFill>
            <a:srgbClr val="13253F"/>
          </a:solidFill>
          <a:ln w="12700">
            <a:solidFill>
              <a:srgbClr val="24405F"/>
            </a:solidFill>
            <a:prstDash val="solid"/>
          </a:ln>
        </p:spPr>
      </p:sp>
      <p:sp>
        <p:nvSpPr>
          <p:cNvPr id="22" name="Shape 16"/>
          <p:cNvSpPr/>
          <p:nvPr/>
        </p:nvSpPr>
        <p:spPr>
          <a:xfrm>
            <a:off x="8174736" y="4105656"/>
            <a:ext cx="384048" cy="384048"/>
          </a:xfrm>
          <a:prstGeom prst="ellipse">
            <a:avLst/>
          </a:prstGeom>
          <a:solidFill>
            <a:srgbClr val="1B324F"/>
          </a:solidFill>
          <a:ln/>
        </p:spPr>
      </p:sp>
      <p:pic>
        <p:nvPicPr>
          <p:cNvPr id="23" name="Image 4" descr="preencoded.png">    </p:cNvPr>
          <p:cNvPicPr>
            <a:picLocks noChangeAspect="1"/>
          </p:cNvPicPr>
          <p:nvPr/>
        </p:nvPicPr>
        <p:blipFill>
          <a:blip r:embed="rId5"/>
          <a:stretch>
            <a:fillRect/>
          </a:stretch>
        </p:blipFill>
        <p:spPr>
          <a:xfrm>
            <a:off x="8224662" y="4155582"/>
            <a:ext cx="284196" cy="284196"/>
          </a:xfrm>
          <a:prstGeom prst="rect">
            <a:avLst/>
          </a:prstGeom>
        </p:spPr>
      </p:pic>
      <p:sp>
        <p:nvSpPr>
          <p:cNvPr id="24" name="Text 17"/>
          <p:cNvSpPr/>
          <p:nvPr/>
        </p:nvSpPr>
        <p:spPr>
          <a:xfrm>
            <a:off x="8613648" y="4105656"/>
            <a:ext cx="1005840" cy="548640"/>
          </a:xfrm>
          <a:prstGeom prst="rect">
            <a:avLst/>
          </a:prstGeom>
          <a:noFill/>
          <a:ln/>
        </p:spPr>
        <p:txBody>
          <a:bodyPr wrap="square" lIns="0" tIns="0" rIns="0" bIns="0" rtlCol="0" anchor="ctr"/>
          <a:lstStyle/>
          <a:p>
            <a:pPr indent="0" marL="0">
              <a:lnSpc>
                <a:spcPct val="100000"/>
              </a:lnSpc>
              <a:buNone/>
            </a:pPr>
            <a:r>
              <a:rPr lang="en-US" sz="1000" b="1" dirty="0">
                <a:solidFill>
                  <a:srgbClr val="F2F6FA"/>
                </a:solidFill>
                <a:latin typeface="Calibri" pitchFamily="34" charset="0"/>
                <a:ea typeface="Calibri" pitchFamily="34" charset="-122"/>
                <a:cs typeface="Calibri" pitchFamily="34" charset="-120"/>
              </a:rPr>
              <a:t>Global Rank</a:t>
            </a:r>
            <a:endParaRPr lang="en-US" sz="1000" dirty="0"/>
          </a:p>
        </p:txBody>
      </p:sp>
      <p:sp>
        <p:nvSpPr>
          <p:cNvPr id="25" name="Shape 18"/>
          <p:cNvSpPr/>
          <p:nvPr/>
        </p:nvSpPr>
        <p:spPr>
          <a:xfrm>
            <a:off x="9829800" y="3977640"/>
            <a:ext cx="1645920" cy="777240"/>
          </a:xfrm>
          <a:prstGeom prst="roundRect">
            <a:avLst>
              <a:gd name="adj" fmla="val 11765"/>
            </a:avLst>
          </a:prstGeom>
          <a:solidFill>
            <a:srgbClr val="13253F"/>
          </a:solidFill>
          <a:ln w="12700">
            <a:solidFill>
              <a:srgbClr val="24405F"/>
            </a:solidFill>
            <a:prstDash val="solid"/>
          </a:ln>
        </p:spPr>
      </p:sp>
      <p:sp>
        <p:nvSpPr>
          <p:cNvPr id="26" name="Shape 19"/>
          <p:cNvSpPr/>
          <p:nvPr/>
        </p:nvSpPr>
        <p:spPr>
          <a:xfrm>
            <a:off x="9957816" y="4105656"/>
            <a:ext cx="384048" cy="384048"/>
          </a:xfrm>
          <a:prstGeom prst="ellipse">
            <a:avLst/>
          </a:prstGeom>
          <a:solidFill>
            <a:srgbClr val="1B324F"/>
          </a:solidFill>
          <a:ln/>
        </p:spPr>
      </p:sp>
      <p:pic>
        <p:nvPicPr>
          <p:cNvPr id="27" name="Image 5" descr="preencoded.png">    </p:cNvPr>
          <p:cNvPicPr>
            <a:picLocks noChangeAspect="1"/>
          </p:cNvPicPr>
          <p:nvPr/>
        </p:nvPicPr>
        <p:blipFill>
          <a:blip r:embed="rId6"/>
          <a:stretch>
            <a:fillRect/>
          </a:stretch>
        </p:blipFill>
        <p:spPr>
          <a:xfrm>
            <a:off x="10007742" y="4155582"/>
            <a:ext cx="284196" cy="284196"/>
          </a:xfrm>
          <a:prstGeom prst="rect">
            <a:avLst/>
          </a:prstGeom>
        </p:spPr>
      </p:pic>
      <p:sp>
        <p:nvSpPr>
          <p:cNvPr id="28" name="Text 20"/>
          <p:cNvSpPr/>
          <p:nvPr/>
        </p:nvSpPr>
        <p:spPr>
          <a:xfrm>
            <a:off x="10396728" y="4105656"/>
            <a:ext cx="1005840" cy="548640"/>
          </a:xfrm>
          <a:prstGeom prst="rect">
            <a:avLst/>
          </a:prstGeom>
          <a:noFill/>
          <a:ln/>
        </p:spPr>
        <p:txBody>
          <a:bodyPr wrap="square" lIns="0" tIns="0" rIns="0" bIns="0" rtlCol="0" anchor="ctr"/>
          <a:lstStyle/>
          <a:p>
            <a:pPr indent="0" marL="0">
              <a:lnSpc>
                <a:spcPct val="100000"/>
              </a:lnSpc>
              <a:buNone/>
            </a:pPr>
            <a:r>
              <a:rPr lang="en-US" sz="1000" b="1" dirty="0">
                <a:solidFill>
                  <a:srgbClr val="F2F6FA"/>
                </a:solidFill>
                <a:latin typeface="Calibri" pitchFamily="34" charset="0"/>
                <a:ea typeface="Calibri" pitchFamily="34" charset="-122"/>
                <a:cs typeface="Calibri" pitchFamily="34" charset="-120"/>
              </a:rPr>
              <a:t>Power Index</a:t>
            </a:r>
            <a:endParaRPr lang="en-US" sz="1000" dirty="0"/>
          </a:p>
        </p:txBody>
      </p:sp>
      <p:sp>
        <p:nvSpPr>
          <p:cNvPr id="29" name="Shape 21"/>
          <p:cNvSpPr/>
          <p:nvPr/>
        </p:nvSpPr>
        <p:spPr>
          <a:xfrm>
            <a:off x="8046720" y="4873752"/>
            <a:ext cx="1645920" cy="777240"/>
          </a:xfrm>
          <a:prstGeom prst="roundRect">
            <a:avLst>
              <a:gd name="adj" fmla="val 11765"/>
            </a:avLst>
          </a:prstGeom>
          <a:solidFill>
            <a:srgbClr val="13253F"/>
          </a:solidFill>
          <a:ln w="12700">
            <a:solidFill>
              <a:srgbClr val="24405F"/>
            </a:solidFill>
            <a:prstDash val="solid"/>
          </a:ln>
        </p:spPr>
      </p:sp>
      <p:sp>
        <p:nvSpPr>
          <p:cNvPr id="30" name="Shape 22"/>
          <p:cNvSpPr/>
          <p:nvPr/>
        </p:nvSpPr>
        <p:spPr>
          <a:xfrm>
            <a:off x="8174736" y="5001768"/>
            <a:ext cx="384048" cy="384048"/>
          </a:xfrm>
          <a:prstGeom prst="ellipse">
            <a:avLst/>
          </a:prstGeom>
          <a:solidFill>
            <a:srgbClr val="1B324F"/>
          </a:solidFill>
          <a:ln/>
        </p:spPr>
      </p:sp>
      <p:pic>
        <p:nvPicPr>
          <p:cNvPr id="31" name="Image 6" descr="preencoded.png">    </p:cNvPr>
          <p:cNvPicPr>
            <a:picLocks noChangeAspect="1"/>
          </p:cNvPicPr>
          <p:nvPr/>
        </p:nvPicPr>
        <p:blipFill>
          <a:blip r:embed="rId7"/>
          <a:stretch>
            <a:fillRect/>
          </a:stretch>
        </p:blipFill>
        <p:spPr>
          <a:xfrm>
            <a:off x="8224662" y="5051694"/>
            <a:ext cx="284196" cy="284196"/>
          </a:xfrm>
          <a:prstGeom prst="rect">
            <a:avLst/>
          </a:prstGeom>
        </p:spPr>
      </p:pic>
      <p:sp>
        <p:nvSpPr>
          <p:cNvPr id="32" name="Text 23"/>
          <p:cNvSpPr/>
          <p:nvPr/>
        </p:nvSpPr>
        <p:spPr>
          <a:xfrm>
            <a:off x="8613648" y="5001768"/>
            <a:ext cx="1005840" cy="548640"/>
          </a:xfrm>
          <a:prstGeom prst="rect">
            <a:avLst/>
          </a:prstGeom>
          <a:noFill/>
          <a:ln/>
        </p:spPr>
        <p:txBody>
          <a:bodyPr wrap="square" lIns="0" tIns="0" rIns="0" bIns="0" rtlCol="0" anchor="ctr"/>
          <a:lstStyle/>
          <a:p>
            <a:pPr indent="0" marL="0">
              <a:lnSpc>
                <a:spcPct val="100000"/>
              </a:lnSpc>
              <a:buNone/>
            </a:pPr>
            <a:r>
              <a:rPr lang="en-US" sz="1000" b="1" dirty="0">
                <a:solidFill>
                  <a:srgbClr val="F2F6FA"/>
                </a:solidFill>
                <a:latin typeface="Calibri" pitchFamily="34" charset="0"/>
                <a:ea typeface="Calibri" pitchFamily="34" charset="-122"/>
                <a:cs typeface="Calibri" pitchFamily="34" charset="-120"/>
              </a:rPr>
              <a:t>Personnel</a:t>
            </a:r>
            <a:endParaRPr lang="en-US" sz="1000" dirty="0"/>
          </a:p>
        </p:txBody>
      </p:sp>
      <p:sp>
        <p:nvSpPr>
          <p:cNvPr id="33" name="Shape 24"/>
          <p:cNvSpPr/>
          <p:nvPr/>
        </p:nvSpPr>
        <p:spPr>
          <a:xfrm>
            <a:off x="9829800" y="4873752"/>
            <a:ext cx="1645920" cy="777240"/>
          </a:xfrm>
          <a:prstGeom prst="roundRect">
            <a:avLst>
              <a:gd name="adj" fmla="val 11765"/>
            </a:avLst>
          </a:prstGeom>
          <a:solidFill>
            <a:srgbClr val="13253F"/>
          </a:solidFill>
          <a:ln w="12700">
            <a:solidFill>
              <a:srgbClr val="24405F"/>
            </a:solidFill>
            <a:prstDash val="solid"/>
          </a:ln>
        </p:spPr>
      </p:sp>
      <p:sp>
        <p:nvSpPr>
          <p:cNvPr id="34" name="Shape 25"/>
          <p:cNvSpPr/>
          <p:nvPr/>
        </p:nvSpPr>
        <p:spPr>
          <a:xfrm>
            <a:off x="9957816" y="5001768"/>
            <a:ext cx="384048" cy="384048"/>
          </a:xfrm>
          <a:prstGeom prst="ellipse">
            <a:avLst/>
          </a:prstGeom>
          <a:solidFill>
            <a:srgbClr val="1B324F"/>
          </a:solidFill>
          <a:ln/>
        </p:spPr>
      </p:sp>
      <p:pic>
        <p:nvPicPr>
          <p:cNvPr id="35" name="Image 7" descr="preencoded.png">    </p:cNvPr>
          <p:cNvPicPr>
            <a:picLocks noChangeAspect="1"/>
          </p:cNvPicPr>
          <p:nvPr/>
        </p:nvPicPr>
        <p:blipFill>
          <a:blip r:embed="rId8"/>
          <a:stretch>
            <a:fillRect/>
          </a:stretch>
        </p:blipFill>
        <p:spPr>
          <a:xfrm>
            <a:off x="10007742" y="5051694"/>
            <a:ext cx="284196" cy="284196"/>
          </a:xfrm>
          <a:prstGeom prst="rect">
            <a:avLst/>
          </a:prstGeom>
        </p:spPr>
      </p:pic>
      <p:sp>
        <p:nvSpPr>
          <p:cNvPr id="36" name="Text 26"/>
          <p:cNvSpPr/>
          <p:nvPr/>
        </p:nvSpPr>
        <p:spPr>
          <a:xfrm>
            <a:off x="10396728" y="5001768"/>
            <a:ext cx="1005840" cy="548640"/>
          </a:xfrm>
          <a:prstGeom prst="rect">
            <a:avLst/>
          </a:prstGeom>
          <a:noFill/>
          <a:ln/>
        </p:spPr>
        <p:txBody>
          <a:bodyPr wrap="square" lIns="0" tIns="0" rIns="0" bIns="0" rtlCol="0" anchor="ctr"/>
          <a:lstStyle/>
          <a:p>
            <a:pPr indent="0" marL="0">
              <a:lnSpc>
                <a:spcPct val="100000"/>
              </a:lnSpc>
              <a:buNone/>
            </a:pPr>
            <a:r>
              <a:rPr lang="en-US" sz="1000" b="1" dirty="0">
                <a:solidFill>
                  <a:srgbClr val="F2F6FA"/>
                </a:solidFill>
                <a:latin typeface="Calibri" pitchFamily="34" charset="0"/>
                <a:ea typeface="Calibri" pitchFamily="34" charset="-122"/>
                <a:cs typeface="Calibri" pitchFamily="34" charset="-120"/>
              </a:rPr>
              <a:t>Aircraft Fleet</a:t>
            </a:r>
            <a:endParaRPr lang="en-US" sz="1000" dirty="0"/>
          </a:p>
        </p:txBody>
      </p:sp>
      <p:sp>
        <p:nvSpPr>
          <p:cNvPr id="37" name="Text 27"/>
          <p:cNvSpPr/>
          <p:nvPr/>
        </p:nvSpPr>
        <p:spPr>
          <a:xfrm>
            <a:off x="548640" y="5806440"/>
            <a:ext cx="548640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Presented by  Himanshu Barik</a:t>
            </a:r>
            <a:endParaRPr lang="en-US" sz="1300" dirty="0"/>
          </a:p>
        </p:txBody>
      </p:sp>
      <p:sp>
        <p:nvSpPr>
          <p:cNvPr id="38" name="Text 28"/>
          <p:cNvSpPr/>
          <p:nvPr/>
        </p:nvSpPr>
        <p:spPr>
          <a:xfrm>
            <a:off x="548640" y="6108192"/>
            <a:ext cx="8686800" cy="274320"/>
          </a:xfrm>
          <a:prstGeom prst="rect">
            <a:avLst/>
          </a:prstGeom>
          <a:noFill/>
          <a:ln/>
        </p:spPr>
        <p:txBody>
          <a:bodyPr wrap="square" lIns="0" tIns="0" rIns="0" bIns="0" rtlCol="0" anchor="ctr"/>
          <a:lstStyle/>
          <a:p>
            <a:pPr indent="0" marL="0">
              <a:buNone/>
            </a:pPr>
            <a:r>
              <a:rPr lang="en-US" sz="1000" dirty="0">
                <a:solidFill>
                  <a:srgbClr val="5C7291"/>
                </a:solidFill>
                <a:latin typeface="Calibri" pitchFamily="34" charset="0"/>
                <a:ea typeface="Calibri" pitchFamily="34" charset="-122"/>
                <a:cs typeface="Calibri" pitchFamily="34" charset="-120"/>
              </a:rPr>
              <a:t>Team: Dasari.Charishma Indhu   ·   Soniya K   ·   Indu Burujula   ·   Sahana.N   ·   R. Meghanasri   ·   Bhagavan Yerra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457200" y="384048"/>
            <a:ext cx="2478024" cy="310896"/>
          </a:xfrm>
          <a:prstGeom prst="roundRect">
            <a:avLst>
              <a:gd name="adj" fmla="val 50000"/>
            </a:avLst>
          </a:prstGeom>
          <a:solidFill>
            <a:srgbClr val="13253F"/>
          </a:solidFill>
          <a:ln w="9525">
            <a:solidFill>
              <a:srgbClr val="24405F"/>
            </a:solidFill>
            <a:prstDash val="solid"/>
          </a:ln>
        </p:spPr>
      </p:sp>
      <p:sp>
        <p:nvSpPr>
          <p:cNvPr id="5" name="Text 3"/>
          <p:cNvSpPr/>
          <p:nvPr/>
        </p:nvSpPr>
        <p:spPr>
          <a:xfrm>
            <a:off x="457200" y="384048"/>
            <a:ext cx="2478024"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PROJECT FOUNDATION</a:t>
            </a:r>
            <a:endParaRPr lang="en-US" sz="1050" dirty="0"/>
          </a:p>
        </p:txBody>
      </p:sp>
      <p:sp>
        <p:nvSpPr>
          <p:cNvPr id="6" name="Text 4"/>
          <p:cNvSpPr/>
          <p:nvPr/>
        </p:nvSpPr>
        <p:spPr>
          <a:xfrm>
            <a:off x="457200" y="786384"/>
            <a:ext cx="10607040" cy="685800"/>
          </a:xfrm>
          <a:prstGeom prst="rect">
            <a:avLst/>
          </a:prstGeom>
          <a:noFill/>
          <a:ln/>
        </p:spPr>
        <p:txBody>
          <a:bodyPr wrap="square" lIns="0" tIns="0" rIns="0" bIns="0" rtlCol="0" anchor="ctr"/>
          <a:lstStyle/>
          <a:p>
            <a:pPr indent="0" marL="0">
              <a:buNone/>
            </a:pPr>
            <a:r>
              <a:rPr lang="en-US" sz="3000" b="1" dirty="0">
                <a:solidFill>
                  <a:srgbClr val="F2F6FA"/>
                </a:solidFill>
                <a:latin typeface="Cambria" pitchFamily="34" charset="0"/>
                <a:ea typeface="Cambria" pitchFamily="34" charset="-122"/>
                <a:cs typeface="Cambria" pitchFamily="34" charset="-120"/>
              </a:rPr>
              <a:t>Problem Statement &amp; Objectives</a:t>
            </a:r>
            <a:endParaRPr lang="en-US" sz="3000" dirty="0"/>
          </a:p>
        </p:txBody>
      </p:sp>
      <p:sp>
        <p:nvSpPr>
          <p:cNvPr id="7" name="Shape 5"/>
          <p:cNvSpPr/>
          <p:nvPr/>
        </p:nvSpPr>
        <p:spPr>
          <a:xfrm>
            <a:off x="457200" y="1508760"/>
            <a:ext cx="5349240" cy="4709160"/>
          </a:xfrm>
          <a:prstGeom prst="roundRect">
            <a:avLst>
              <a:gd name="adj" fmla="val 1942"/>
            </a:avLst>
          </a:prstGeom>
          <a:solidFill>
            <a:srgbClr val="0F1E33"/>
          </a:solidFill>
          <a:ln w="12700">
            <a:solidFill>
              <a:srgbClr val="24405F"/>
            </a:solidFill>
            <a:prstDash val="solid"/>
          </a:ln>
        </p:spPr>
      </p:sp>
      <p:sp>
        <p:nvSpPr>
          <p:cNvPr id="8" name="Shape 6"/>
          <p:cNvSpPr/>
          <p:nvPr/>
        </p:nvSpPr>
        <p:spPr>
          <a:xfrm>
            <a:off x="749808" y="1783080"/>
            <a:ext cx="502920" cy="502920"/>
          </a:xfrm>
          <a:prstGeom prst="ellipse">
            <a:avLst/>
          </a:prstGeom>
          <a:solidFill>
            <a:srgbClr val="1B324F"/>
          </a:solidFill>
          <a:ln/>
        </p:spPr>
      </p:sp>
      <p:pic>
        <p:nvPicPr>
          <p:cNvPr id="9" name="Image 0" descr="preencoded.png">    </p:cNvPr>
          <p:cNvPicPr>
            <a:picLocks noChangeAspect="1"/>
          </p:cNvPicPr>
          <p:nvPr/>
        </p:nvPicPr>
        <p:blipFill>
          <a:blip r:embed="rId1"/>
          <a:stretch>
            <a:fillRect/>
          </a:stretch>
        </p:blipFill>
        <p:spPr>
          <a:xfrm>
            <a:off x="815188" y="1848460"/>
            <a:ext cx="372161" cy="372161"/>
          </a:xfrm>
          <a:prstGeom prst="rect">
            <a:avLst/>
          </a:prstGeom>
        </p:spPr>
      </p:pic>
      <p:sp>
        <p:nvSpPr>
          <p:cNvPr id="10" name="Text 7"/>
          <p:cNvSpPr/>
          <p:nvPr/>
        </p:nvSpPr>
        <p:spPr>
          <a:xfrm>
            <a:off x="1417320" y="1810512"/>
            <a:ext cx="4114800" cy="457200"/>
          </a:xfrm>
          <a:prstGeom prst="rect">
            <a:avLst/>
          </a:prstGeom>
          <a:noFill/>
          <a:ln/>
        </p:spPr>
        <p:txBody>
          <a:bodyPr wrap="square" lIns="0" tIns="0" rIns="0" bIns="0" rtlCol="0" anchor="ctr"/>
          <a:lstStyle/>
          <a:p>
            <a:pPr indent="0" marL="0">
              <a:buNone/>
            </a:pPr>
            <a:r>
              <a:rPr lang="en-US" sz="1800" b="1" dirty="0">
                <a:solidFill>
                  <a:srgbClr val="F2F6FA"/>
                </a:solidFill>
                <a:latin typeface="Cambria" pitchFamily="34" charset="0"/>
                <a:ea typeface="Cambria" pitchFamily="34" charset="-122"/>
                <a:cs typeface="Cambria" pitchFamily="34" charset="-120"/>
              </a:rPr>
              <a:t>The Problem</a:t>
            </a:r>
            <a:endParaRPr lang="en-US" sz="1800" dirty="0"/>
          </a:p>
        </p:txBody>
      </p:sp>
      <p:sp>
        <p:nvSpPr>
          <p:cNvPr id="11" name="Shape 8"/>
          <p:cNvSpPr/>
          <p:nvPr/>
        </p:nvSpPr>
        <p:spPr>
          <a:xfrm>
            <a:off x="749808" y="2514600"/>
            <a:ext cx="274320" cy="274320"/>
          </a:xfrm>
          <a:prstGeom prst="ellipse">
            <a:avLst/>
          </a:prstGeom>
          <a:solidFill>
            <a:srgbClr val="1B324F"/>
          </a:solidFill>
          <a:ln/>
        </p:spPr>
      </p:sp>
      <p:pic>
        <p:nvPicPr>
          <p:cNvPr id="12" name="Image 1" descr="preencoded.png">    </p:cNvPr>
          <p:cNvPicPr>
            <a:picLocks noChangeAspect="1"/>
          </p:cNvPicPr>
          <p:nvPr/>
        </p:nvPicPr>
        <p:blipFill>
          <a:blip r:embed="rId2"/>
          <a:stretch>
            <a:fillRect/>
          </a:stretch>
        </p:blipFill>
        <p:spPr>
          <a:xfrm>
            <a:off x="785470" y="2550262"/>
            <a:ext cx="202997" cy="202997"/>
          </a:xfrm>
          <a:prstGeom prst="rect">
            <a:avLst/>
          </a:prstGeom>
        </p:spPr>
      </p:pic>
      <p:sp>
        <p:nvSpPr>
          <p:cNvPr id="13" name="Text 9"/>
          <p:cNvSpPr/>
          <p:nvPr/>
        </p:nvSpPr>
        <p:spPr>
          <a:xfrm>
            <a:off x="1170432" y="2468880"/>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Military datasets span many countries and dozens of variables</a:t>
            </a:r>
            <a:endParaRPr lang="en-US" sz="1200" dirty="0"/>
          </a:p>
        </p:txBody>
      </p:sp>
      <p:sp>
        <p:nvSpPr>
          <p:cNvPr id="14" name="Shape 10"/>
          <p:cNvSpPr/>
          <p:nvPr/>
        </p:nvSpPr>
        <p:spPr>
          <a:xfrm>
            <a:off x="749808" y="3236976"/>
            <a:ext cx="274320" cy="274320"/>
          </a:xfrm>
          <a:prstGeom prst="ellipse">
            <a:avLst/>
          </a:prstGeom>
          <a:solidFill>
            <a:srgbClr val="1B324F"/>
          </a:solidFill>
          <a:ln/>
        </p:spPr>
      </p:sp>
      <p:pic>
        <p:nvPicPr>
          <p:cNvPr id="15" name="Image 2" descr="preencoded.png">    </p:cNvPr>
          <p:cNvPicPr>
            <a:picLocks noChangeAspect="1"/>
          </p:cNvPicPr>
          <p:nvPr/>
        </p:nvPicPr>
        <p:blipFill>
          <a:blip r:embed="rId3"/>
          <a:stretch>
            <a:fillRect/>
          </a:stretch>
        </p:blipFill>
        <p:spPr>
          <a:xfrm>
            <a:off x="785470" y="3272638"/>
            <a:ext cx="202997" cy="202997"/>
          </a:xfrm>
          <a:prstGeom prst="rect">
            <a:avLst/>
          </a:prstGeom>
        </p:spPr>
      </p:pic>
      <p:sp>
        <p:nvSpPr>
          <p:cNvPr id="16" name="Text 11"/>
          <p:cNvSpPr/>
          <p:nvPr/>
        </p:nvSpPr>
        <p:spPr>
          <a:xfrm>
            <a:off x="1170432" y="3191256"/>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Manual, spreadsheet-based comparison across nations is slow and error-prone</a:t>
            </a:r>
            <a:endParaRPr lang="en-US" sz="1200" dirty="0"/>
          </a:p>
        </p:txBody>
      </p:sp>
      <p:sp>
        <p:nvSpPr>
          <p:cNvPr id="17" name="Shape 12"/>
          <p:cNvSpPr/>
          <p:nvPr/>
        </p:nvSpPr>
        <p:spPr>
          <a:xfrm>
            <a:off x="749808" y="3959352"/>
            <a:ext cx="274320" cy="274320"/>
          </a:xfrm>
          <a:prstGeom prst="ellipse">
            <a:avLst/>
          </a:prstGeom>
          <a:solidFill>
            <a:srgbClr val="1B324F"/>
          </a:solidFill>
          <a:ln/>
        </p:spPr>
      </p:sp>
      <p:pic>
        <p:nvPicPr>
          <p:cNvPr id="18" name="Image 3" descr="preencoded.png">    </p:cNvPr>
          <p:cNvPicPr>
            <a:picLocks noChangeAspect="1"/>
          </p:cNvPicPr>
          <p:nvPr/>
        </p:nvPicPr>
        <p:blipFill>
          <a:blip r:embed="rId4"/>
          <a:stretch>
            <a:fillRect/>
          </a:stretch>
        </p:blipFill>
        <p:spPr>
          <a:xfrm>
            <a:off x="785470" y="3995014"/>
            <a:ext cx="202997" cy="202997"/>
          </a:xfrm>
          <a:prstGeom prst="rect">
            <a:avLst/>
          </a:prstGeom>
        </p:spPr>
      </p:pic>
      <p:sp>
        <p:nvSpPr>
          <p:cNvPr id="19" name="Text 13"/>
          <p:cNvSpPr/>
          <p:nvPr/>
        </p:nvSpPr>
        <p:spPr>
          <a:xfrm>
            <a:off x="1170432" y="3913632"/>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Data is scattered across personnel, equipment, budget, and geography categories</a:t>
            </a:r>
            <a:endParaRPr lang="en-US" sz="1200" dirty="0"/>
          </a:p>
        </p:txBody>
      </p:sp>
      <p:sp>
        <p:nvSpPr>
          <p:cNvPr id="20" name="Shape 14"/>
          <p:cNvSpPr/>
          <p:nvPr/>
        </p:nvSpPr>
        <p:spPr>
          <a:xfrm>
            <a:off x="749808" y="4681728"/>
            <a:ext cx="274320" cy="274320"/>
          </a:xfrm>
          <a:prstGeom prst="ellipse">
            <a:avLst/>
          </a:prstGeom>
          <a:solidFill>
            <a:srgbClr val="1B324F"/>
          </a:solidFill>
          <a:ln/>
        </p:spPr>
      </p:sp>
      <p:pic>
        <p:nvPicPr>
          <p:cNvPr id="21" name="Image 4" descr="preencoded.png">    </p:cNvPr>
          <p:cNvPicPr>
            <a:picLocks noChangeAspect="1"/>
          </p:cNvPicPr>
          <p:nvPr/>
        </p:nvPicPr>
        <p:blipFill>
          <a:blip r:embed="rId5"/>
          <a:stretch>
            <a:fillRect/>
          </a:stretch>
        </p:blipFill>
        <p:spPr>
          <a:xfrm>
            <a:off x="785470" y="4717390"/>
            <a:ext cx="202997" cy="202997"/>
          </a:xfrm>
          <a:prstGeom prst="rect">
            <a:avLst/>
          </a:prstGeom>
        </p:spPr>
      </p:pic>
      <p:sp>
        <p:nvSpPr>
          <p:cNvPr id="22" name="Text 15"/>
          <p:cNvSpPr/>
          <p:nvPr/>
        </p:nvSpPr>
        <p:spPr>
          <a:xfrm>
            <a:off x="1170432" y="4636008"/>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Identifying key military indicators quickly is difficult without a unified view</a:t>
            </a:r>
            <a:endParaRPr lang="en-US" sz="1200" dirty="0"/>
          </a:p>
        </p:txBody>
      </p:sp>
      <p:sp>
        <p:nvSpPr>
          <p:cNvPr id="23" name="Shape 16"/>
          <p:cNvSpPr/>
          <p:nvPr/>
        </p:nvSpPr>
        <p:spPr>
          <a:xfrm>
            <a:off x="749808" y="5404104"/>
            <a:ext cx="274320" cy="274320"/>
          </a:xfrm>
          <a:prstGeom prst="ellipse">
            <a:avLst/>
          </a:prstGeom>
          <a:solidFill>
            <a:srgbClr val="1B324F"/>
          </a:solidFill>
          <a:ln/>
        </p:spPr>
      </p:sp>
      <p:pic>
        <p:nvPicPr>
          <p:cNvPr id="24" name="Image 5" descr="preencoded.png">    </p:cNvPr>
          <p:cNvPicPr>
            <a:picLocks noChangeAspect="1"/>
          </p:cNvPicPr>
          <p:nvPr/>
        </p:nvPicPr>
        <p:blipFill>
          <a:blip r:embed="rId6"/>
          <a:stretch>
            <a:fillRect/>
          </a:stretch>
        </p:blipFill>
        <p:spPr>
          <a:xfrm>
            <a:off x="785470" y="5439766"/>
            <a:ext cx="202997" cy="202997"/>
          </a:xfrm>
          <a:prstGeom prst="rect">
            <a:avLst/>
          </a:prstGeom>
        </p:spPr>
      </p:pic>
      <p:sp>
        <p:nvSpPr>
          <p:cNvPr id="25" name="Text 17"/>
          <p:cNvSpPr/>
          <p:nvPr/>
        </p:nvSpPr>
        <p:spPr>
          <a:xfrm>
            <a:off x="1170432" y="5358384"/>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No single interactive platform exists to explore this data holistically</a:t>
            </a:r>
            <a:endParaRPr lang="en-US" sz="1200" dirty="0"/>
          </a:p>
        </p:txBody>
      </p:sp>
      <p:sp>
        <p:nvSpPr>
          <p:cNvPr id="26" name="Shape 18"/>
          <p:cNvSpPr/>
          <p:nvPr/>
        </p:nvSpPr>
        <p:spPr>
          <a:xfrm>
            <a:off x="6035040" y="1508760"/>
            <a:ext cx="5696712" cy="4709160"/>
          </a:xfrm>
          <a:prstGeom prst="roundRect">
            <a:avLst>
              <a:gd name="adj" fmla="val 1942"/>
            </a:avLst>
          </a:prstGeom>
          <a:solidFill>
            <a:srgbClr val="0F1E33"/>
          </a:solidFill>
          <a:ln w="12700">
            <a:solidFill>
              <a:srgbClr val="24405F"/>
            </a:solidFill>
            <a:prstDash val="solid"/>
          </a:ln>
        </p:spPr>
      </p:sp>
      <p:sp>
        <p:nvSpPr>
          <p:cNvPr id="27" name="Shape 19"/>
          <p:cNvSpPr/>
          <p:nvPr/>
        </p:nvSpPr>
        <p:spPr>
          <a:xfrm>
            <a:off x="6327648" y="1783080"/>
            <a:ext cx="502920" cy="502920"/>
          </a:xfrm>
          <a:prstGeom prst="ellipse">
            <a:avLst/>
          </a:prstGeom>
          <a:solidFill>
            <a:srgbClr val="1B324F"/>
          </a:solidFill>
          <a:ln/>
        </p:spPr>
      </p:sp>
      <p:pic>
        <p:nvPicPr>
          <p:cNvPr id="28" name="Image 6" descr="preencoded.png">    </p:cNvPr>
          <p:cNvPicPr>
            <a:picLocks noChangeAspect="1"/>
          </p:cNvPicPr>
          <p:nvPr/>
        </p:nvPicPr>
        <p:blipFill>
          <a:blip r:embed="rId7"/>
          <a:stretch>
            <a:fillRect/>
          </a:stretch>
        </p:blipFill>
        <p:spPr>
          <a:xfrm>
            <a:off x="6393028" y="1848460"/>
            <a:ext cx="372161" cy="372161"/>
          </a:xfrm>
          <a:prstGeom prst="rect">
            <a:avLst/>
          </a:prstGeom>
        </p:spPr>
      </p:pic>
      <p:sp>
        <p:nvSpPr>
          <p:cNvPr id="29" name="Text 20"/>
          <p:cNvSpPr/>
          <p:nvPr/>
        </p:nvSpPr>
        <p:spPr>
          <a:xfrm>
            <a:off x="6995160" y="1810512"/>
            <a:ext cx="4389120" cy="457200"/>
          </a:xfrm>
          <a:prstGeom prst="rect">
            <a:avLst/>
          </a:prstGeom>
          <a:noFill/>
          <a:ln/>
        </p:spPr>
        <p:txBody>
          <a:bodyPr wrap="square" lIns="0" tIns="0" rIns="0" bIns="0" rtlCol="0" anchor="ctr"/>
          <a:lstStyle/>
          <a:p>
            <a:pPr indent="0" marL="0">
              <a:buNone/>
            </a:pPr>
            <a:r>
              <a:rPr lang="en-US" sz="1800" b="1" dirty="0">
                <a:solidFill>
                  <a:srgbClr val="F2F6FA"/>
                </a:solidFill>
                <a:latin typeface="Cambria" pitchFamily="34" charset="0"/>
                <a:ea typeface="Cambria" pitchFamily="34" charset="-122"/>
                <a:cs typeface="Cambria" pitchFamily="34" charset="-120"/>
              </a:rPr>
              <a:t>Our Objectives</a:t>
            </a:r>
            <a:endParaRPr lang="en-US" sz="1800" dirty="0"/>
          </a:p>
        </p:txBody>
      </p:sp>
      <p:sp>
        <p:nvSpPr>
          <p:cNvPr id="30" name="Shape 21"/>
          <p:cNvSpPr/>
          <p:nvPr/>
        </p:nvSpPr>
        <p:spPr>
          <a:xfrm>
            <a:off x="6327648" y="2450592"/>
            <a:ext cx="274320" cy="274320"/>
          </a:xfrm>
          <a:prstGeom prst="ellipse">
            <a:avLst/>
          </a:prstGeom>
          <a:solidFill>
            <a:srgbClr val="1B324F"/>
          </a:solidFill>
          <a:ln/>
        </p:spPr>
      </p:sp>
      <p:pic>
        <p:nvPicPr>
          <p:cNvPr id="31" name="Image 7" descr="preencoded.png">    </p:cNvPr>
          <p:cNvPicPr>
            <a:picLocks noChangeAspect="1"/>
          </p:cNvPicPr>
          <p:nvPr/>
        </p:nvPicPr>
        <p:blipFill>
          <a:blip r:embed="rId8"/>
          <a:stretch>
            <a:fillRect/>
          </a:stretch>
        </p:blipFill>
        <p:spPr>
          <a:xfrm>
            <a:off x="6363310" y="2486254"/>
            <a:ext cx="202997" cy="202997"/>
          </a:xfrm>
          <a:prstGeom prst="rect">
            <a:avLst/>
          </a:prstGeom>
        </p:spPr>
      </p:pic>
      <p:sp>
        <p:nvSpPr>
          <p:cNvPr id="32" name="Text 22"/>
          <p:cNvSpPr/>
          <p:nvPr/>
        </p:nvSpPr>
        <p:spPr>
          <a:xfrm>
            <a:off x="6748272" y="2404872"/>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Build a unified, interactive military analytics dashboard</a:t>
            </a:r>
            <a:endParaRPr lang="en-US" sz="1150" dirty="0"/>
          </a:p>
        </p:txBody>
      </p:sp>
      <p:sp>
        <p:nvSpPr>
          <p:cNvPr id="33" name="Shape 23"/>
          <p:cNvSpPr/>
          <p:nvPr/>
        </p:nvSpPr>
        <p:spPr>
          <a:xfrm>
            <a:off x="6327648" y="2985516"/>
            <a:ext cx="274320" cy="274320"/>
          </a:xfrm>
          <a:prstGeom prst="ellipse">
            <a:avLst/>
          </a:prstGeom>
          <a:solidFill>
            <a:srgbClr val="1B324F"/>
          </a:solidFill>
          <a:ln/>
        </p:spPr>
      </p:sp>
      <p:pic>
        <p:nvPicPr>
          <p:cNvPr id="34" name="Image 8" descr="preencoded.png">    </p:cNvPr>
          <p:cNvPicPr>
            <a:picLocks noChangeAspect="1"/>
          </p:cNvPicPr>
          <p:nvPr/>
        </p:nvPicPr>
        <p:blipFill>
          <a:blip r:embed="rId9"/>
          <a:stretch>
            <a:fillRect/>
          </a:stretch>
        </p:blipFill>
        <p:spPr>
          <a:xfrm>
            <a:off x="6363310" y="3021178"/>
            <a:ext cx="202997" cy="202997"/>
          </a:xfrm>
          <a:prstGeom prst="rect">
            <a:avLst/>
          </a:prstGeom>
        </p:spPr>
      </p:pic>
      <p:sp>
        <p:nvSpPr>
          <p:cNvPr id="35" name="Text 24"/>
          <p:cNvSpPr/>
          <p:nvPr/>
        </p:nvSpPr>
        <p:spPr>
          <a:xfrm>
            <a:off x="6748272" y="2939796"/>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Clean and transform raw military data into an analysis-ready dataset</a:t>
            </a:r>
            <a:endParaRPr lang="en-US" sz="1150" dirty="0"/>
          </a:p>
        </p:txBody>
      </p:sp>
      <p:sp>
        <p:nvSpPr>
          <p:cNvPr id="36" name="Shape 25"/>
          <p:cNvSpPr/>
          <p:nvPr/>
        </p:nvSpPr>
        <p:spPr>
          <a:xfrm>
            <a:off x="6327648" y="3520440"/>
            <a:ext cx="274320" cy="274320"/>
          </a:xfrm>
          <a:prstGeom prst="ellipse">
            <a:avLst/>
          </a:prstGeom>
          <a:solidFill>
            <a:srgbClr val="1B324F"/>
          </a:solidFill>
          <a:ln/>
        </p:spPr>
      </p:sp>
      <p:pic>
        <p:nvPicPr>
          <p:cNvPr id="37" name="Image 9" descr="preencoded.png">    </p:cNvPr>
          <p:cNvPicPr>
            <a:picLocks noChangeAspect="1"/>
          </p:cNvPicPr>
          <p:nvPr/>
        </p:nvPicPr>
        <p:blipFill>
          <a:blip r:embed="rId10"/>
          <a:stretch>
            <a:fillRect/>
          </a:stretch>
        </p:blipFill>
        <p:spPr>
          <a:xfrm>
            <a:off x="6363310" y="3556102"/>
            <a:ext cx="202997" cy="202997"/>
          </a:xfrm>
          <a:prstGeom prst="rect">
            <a:avLst/>
          </a:prstGeom>
        </p:spPr>
      </p:pic>
      <p:sp>
        <p:nvSpPr>
          <p:cNvPr id="38" name="Text 26"/>
          <p:cNvSpPr/>
          <p:nvPr/>
        </p:nvSpPr>
        <p:spPr>
          <a:xfrm>
            <a:off x="6748272" y="3474720"/>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Deliver country-level military insights on demand</a:t>
            </a:r>
            <a:endParaRPr lang="en-US" sz="1150" dirty="0"/>
          </a:p>
        </p:txBody>
      </p:sp>
      <p:sp>
        <p:nvSpPr>
          <p:cNvPr id="39" name="Shape 27"/>
          <p:cNvSpPr/>
          <p:nvPr/>
        </p:nvSpPr>
        <p:spPr>
          <a:xfrm>
            <a:off x="6327648" y="4055364"/>
            <a:ext cx="274320" cy="274320"/>
          </a:xfrm>
          <a:prstGeom prst="ellipse">
            <a:avLst/>
          </a:prstGeom>
          <a:solidFill>
            <a:srgbClr val="1B324F"/>
          </a:solidFill>
          <a:ln/>
        </p:spPr>
      </p:sp>
      <p:pic>
        <p:nvPicPr>
          <p:cNvPr id="40" name="Image 10" descr="preencoded.png">    </p:cNvPr>
          <p:cNvPicPr>
            <a:picLocks noChangeAspect="1"/>
          </p:cNvPicPr>
          <p:nvPr/>
        </p:nvPicPr>
        <p:blipFill>
          <a:blip r:embed="rId11"/>
          <a:stretch>
            <a:fillRect/>
          </a:stretch>
        </p:blipFill>
        <p:spPr>
          <a:xfrm>
            <a:off x="6363310" y="4091026"/>
            <a:ext cx="202997" cy="202997"/>
          </a:xfrm>
          <a:prstGeom prst="rect">
            <a:avLst/>
          </a:prstGeom>
        </p:spPr>
      </p:pic>
      <p:sp>
        <p:nvSpPr>
          <p:cNvPr id="41" name="Text 28"/>
          <p:cNvSpPr/>
          <p:nvPr/>
        </p:nvSpPr>
        <p:spPr>
          <a:xfrm>
            <a:off x="6748272" y="4009644"/>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Enable side-by-side comparison of military capabilities</a:t>
            </a:r>
            <a:endParaRPr lang="en-US" sz="1150" dirty="0"/>
          </a:p>
        </p:txBody>
      </p:sp>
      <p:sp>
        <p:nvSpPr>
          <p:cNvPr id="42" name="Shape 29"/>
          <p:cNvSpPr/>
          <p:nvPr/>
        </p:nvSpPr>
        <p:spPr>
          <a:xfrm>
            <a:off x="6327648" y="4590288"/>
            <a:ext cx="274320" cy="274320"/>
          </a:xfrm>
          <a:prstGeom prst="ellipse">
            <a:avLst/>
          </a:prstGeom>
          <a:solidFill>
            <a:srgbClr val="1B324F"/>
          </a:solidFill>
          <a:ln/>
        </p:spPr>
      </p:sp>
      <p:pic>
        <p:nvPicPr>
          <p:cNvPr id="43" name="Image 11" descr="preencoded.png">    </p:cNvPr>
          <p:cNvPicPr>
            <a:picLocks noChangeAspect="1"/>
          </p:cNvPicPr>
          <p:nvPr/>
        </p:nvPicPr>
        <p:blipFill>
          <a:blip r:embed="rId12"/>
          <a:stretch>
            <a:fillRect/>
          </a:stretch>
        </p:blipFill>
        <p:spPr>
          <a:xfrm>
            <a:off x="6363310" y="4625950"/>
            <a:ext cx="202997" cy="202997"/>
          </a:xfrm>
          <a:prstGeom prst="rect">
            <a:avLst/>
          </a:prstGeom>
        </p:spPr>
      </p:pic>
      <p:sp>
        <p:nvSpPr>
          <p:cNvPr id="44" name="Text 30"/>
          <p:cNvSpPr/>
          <p:nvPr/>
        </p:nvSpPr>
        <p:spPr>
          <a:xfrm>
            <a:off x="6748272" y="4544568"/>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Visualize key KPIs through intuitive charts and cards</a:t>
            </a:r>
            <a:endParaRPr lang="en-US" sz="1150" dirty="0"/>
          </a:p>
        </p:txBody>
      </p:sp>
      <p:sp>
        <p:nvSpPr>
          <p:cNvPr id="45" name="Shape 31"/>
          <p:cNvSpPr/>
          <p:nvPr/>
        </p:nvSpPr>
        <p:spPr>
          <a:xfrm>
            <a:off x="6327648" y="5125212"/>
            <a:ext cx="274320" cy="274320"/>
          </a:xfrm>
          <a:prstGeom prst="ellipse">
            <a:avLst/>
          </a:prstGeom>
          <a:solidFill>
            <a:srgbClr val="1B324F"/>
          </a:solidFill>
          <a:ln/>
        </p:spPr>
      </p:sp>
      <p:pic>
        <p:nvPicPr>
          <p:cNvPr id="46" name="Image 12" descr="preencoded.png">    </p:cNvPr>
          <p:cNvPicPr>
            <a:picLocks noChangeAspect="1"/>
          </p:cNvPicPr>
          <p:nvPr/>
        </p:nvPicPr>
        <p:blipFill>
          <a:blip r:embed="rId13"/>
          <a:stretch>
            <a:fillRect/>
          </a:stretch>
        </p:blipFill>
        <p:spPr>
          <a:xfrm>
            <a:off x="6363310" y="5160874"/>
            <a:ext cx="202997" cy="202997"/>
          </a:xfrm>
          <a:prstGeom prst="rect">
            <a:avLst/>
          </a:prstGeom>
        </p:spPr>
      </p:pic>
      <p:sp>
        <p:nvSpPr>
          <p:cNvPr id="47" name="Text 32"/>
          <p:cNvSpPr/>
          <p:nvPr/>
        </p:nvSpPr>
        <p:spPr>
          <a:xfrm>
            <a:off x="6748272" y="5079492"/>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Support interactive filtering and drill-down exploration</a:t>
            </a:r>
            <a:endParaRPr lang="en-US" sz="1150" dirty="0"/>
          </a:p>
        </p:txBody>
      </p:sp>
      <p:sp>
        <p:nvSpPr>
          <p:cNvPr id="48" name="Shape 33"/>
          <p:cNvSpPr/>
          <p:nvPr/>
        </p:nvSpPr>
        <p:spPr>
          <a:xfrm>
            <a:off x="6327648" y="5660136"/>
            <a:ext cx="274320" cy="274320"/>
          </a:xfrm>
          <a:prstGeom prst="ellipse">
            <a:avLst/>
          </a:prstGeom>
          <a:solidFill>
            <a:srgbClr val="1B324F"/>
          </a:solidFill>
          <a:ln/>
        </p:spPr>
      </p:sp>
      <p:pic>
        <p:nvPicPr>
          <p:cNvPr id="49" name="Image 13" descr="preencoded.png">    </p:cNvPr>
          <p:cNvPicPr>
            <a:picLocks noChangeAspect="1"/>
          </p:cNvPicPr>
          <p:nvPr/>
        </p:nvPicPr>
        <p:blipFill>
          <a:blip r:embed="rId14"/>
          <a:stretch>
            <a:fillRect/>
          </a:stretch>
        </p:blipFill>
        <p:spPr>
          <a:xfrm>
            <a:off x="6363310" y="5695798"/>
            <a:ext cx="202997" cy="202997"/>
          </a:xfrm>
          <a:prstGeom prst="rect">
            <a:avLst/>
          </a:prstGeom>
        </p:spPr>
      </p:pic>
      <p:sp>
        <p:nvSpPr>
          <p:cNvPr id="50" name="Text 34"/>
          <p:cNvSpPr/>
          <p:nvPr/>
        </p:nvSpPr>
        <p:spPr>
          <a:xfrm>
            <a:off x="6748272" y="5614416"/>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Enable coalition-based, multi-country analysis</a:t>
            </a:r>
            <a:endParaRPr lang="en-US" sz="1150" dirty="0"/>
          </a:p>
        </p:txBody>
      </p:sp>
      <p:sp>
        <p:nvSpPr>
          <p:cNvPr id="51" name="Text 35"/>
          <p:cNvSpPr/>
          <p:nvPr/>
        </p:nvSpPr>
        <p:spPr>
          <a:xfrm>
            <a:off x="457200" y="6528816"/>
            <a:ext cx="7315200" cy="256032"/>
          </a:xfrm>
          <a:prstGeom prst="rect">
            <a:avLst/>
          </a:prstGeom>
          <a:noFill/>
          <a:ln/>
        </p:spPr>
        <p:txBody>
          <a:bodyPr wrap="square" lIns="0" tIns="0" rIns="0" bIns="0" rtlCol="0" anchor="ctr"/>
          <a:lstStyle/>
          <a:p>
            <a:pPr indent="0" marL="0">
              <a:buNone/>
            </a:pPr>
            <a:r>
              <a:rPr lang="en-US" sz="800" spc="100" kern="0" dirty="0">
                <a:solidFill>
                  <a:srgbClr val="5C7291"/>
                </a:solidFill>
                <a:latin typeface="Calibri" pitchFamily="34" charset="0"/>
                <a:ea typeface="Calibri" pitchFamily="34" charset="-122"/>
                <a:cs typeface="Calibri" pitchFamily="34" charset="-120"/>
              </a:rPr>
              <a:t>UNIFIED MILITARY ANALYTICS &amp; COMPARISON DASHBOARD</a:t>
            </a:r>
            <a:endParaRPr lang="en-US" sz="800" dirty="0"/>
          </a:p>
        </p:txBody>
      </p:sp>
      <p:sp>
        <p:nvSpPr>
          <p:cNvPr id="52" name="Text 36"/>
          <p:cNvSpPr/>
          <p:nvPr/>
        </p:nvSpPr>
        <p:spPr>
          <a:xfrm>
            <a:off x="8991295" y="6528816"/>
            <a:ext cx="2743200" cy="256032"/>
          </a:xfrm>
          <a:prstGeom prst="rect">
            <a:avLst/>
          </a:prstGeom>
          <a:noFill/>
          <a:ln/>
        </p:spPr>
        <p:txBody>
          <a:bodyPr wrap="square" lIns="0" tIns="0" rIns="0" bIns="0" rtlCol="0" anchor="ctr"/>
          <a:lstStyle/>
          <a:p>
            <a:pPr algn="r" indent="0" marL="0">
              <a:buNone/>
            </a:pPr>
            <a:r>
              <a:rPr lang="en-US" sz="800" dirty="0">
                <a:solidFill>
                  <a:srgbClr val="5C7291"/>
                </a:solidFill>
                <a:latin typeface="Calibri" pitchFamily="34" charset="0"/>
                <a:ea typeface="Calibri" pitchFamily="34" charset="-122"/>
                <a:cs typeface="Calibri" pitchFamily="34" charset="-120"/>
              </a:rPr>
              <a:t>Himanshu Barik   |   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457200" y="384048"/>
            <a:ext cx="2148840" cy="310896"/>
          </a:xfrm>
          <a:prstGeom prst="roundRect">
            <a:avLst>
              <a:gd name="adj" fmla="val 50000"/>
            </a:avLst>
          </a:prstGeom>
          <a:solidFill>
            <a:srgbClr val="13253F"/>
          </a:solidFill>
          <a:ln w="9525">
            <a:solidFill>
              <a:srgbClr val="24405F"/>
            </a:solidFill>
            <a:prstDash val="solid"/>
          </a:ln>
        </p:spPr>
      </p:sp>
      <p:sp>
        <p:nvSpPr>
          <p:cNvPr id="5" name="Text 3"/>
          <p:cNvSpPr/>
          <p:nvPr/>
        </p:nvSpPr>
        <p:spPr>
          <a:xfrm>
            <a:off x="457200" y="384048"/>
            <a:ext cx="2148840"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DATA FOUNDATION</a:t>
            </a:r>
            <a:endParaRPr lang="en-US" sz="1050" dirty="0"/>
          </a:p>
        </p:txBody>
      </p:sp>
      <p:sp>
        <p:nvSpPr>
          <p:cNvPr id="6" name="Text 4"/>
          <p:cNvSpPr/>
          <p:nvPr/>
        </p:nvSpPr>
        <p:spPr>
          <a:xfrm>
            <a:off x="457200" y="786384"/>
            <a:ext cx="10607040" cy="685800"/>
          </a:xfrm>
          <a:prstGeom prst="rect">
            <a:avLst/>
          </a:prstGeom>
          <a:noFill/>
          <a:ln/>
        </p:spPr>
        <p:txBody>
          <a:bodyPr wrap="square" lIns="0" tIns="0" rIns="0" bIns="0" rtlCol="0" anchor="ctr"/>
          <a:lstStyle/>
          <a:p>
            <a:pPr indent="0" marL="0">
              <a:buNone/>
            </a:pPr>
            <a:r>
              <a:rPr lang="en-US" sz="3000" b="1" dirty="0">
                <a:solidFill>
                  <a:srgbClr val="F2F6FA"/>
                </a:solidFill>
                <a:latin typeface="Cambria" pitchFamily="34" charset="0"/>
                <a:ea typeface="Cambria" pitchFamily="34" charset="-122"/>
                <a:cs typeface="Cambria" pitchFamily="34" charset="-120"/>
              </a:rPr>
              <a:t>Dataset &amp; Data Collection</a:t>
            </a:r>
            <a:endParaRPr lang="en-US" sz="3000" dirty="0"/>
          </a:p>
        </p:txBody>
      </p:sp>
      <p:sp>
        <p:nvSpPr>
          <p:cNvPr id="7" name="Text 5"/>
          <p:cNvSpPr/>
          <p:nvPr/>
        </p:nvSpPr>
        <p:spPr>
          <a:xfrm>
            <a:off x="457200" y="1481328"/>
            <a:ext cx="10607040" cy="457200"/>
          </a:xfrm>
          <a:prstGeom prst="rect">
            <a:avLst/>
          </a:prstGeom>
          <a:noFill/>
          <a:ln/>
        </p:spPr>
        <p:txBody>
          <a:bodyPr wrap="square" lIns="0" tIns="0" rIns="0" bIns="0" rtlCol="0" anchor="ctr"/>
          <a:lstStyle/>
          <a:p>
            <a:pPr indent="0" marL="0">
              <a:buNone/>
            </a:pPr>
            <a:r>
              <a:rPr lang="en-US" sz="1250" dirty="0">
                <a:solidFill>
                  <a:srgbClr val="9BB0CC"/>
                </a:solidFill>
                <a:latin typeface="Calibri" pitchFamily="34" charset="0"/>
                <a:ea typeface="Calibri" pitchFamily="34" charset="-122"/>
                <a:cs typeface="Calibri" pitchFamily="34" charset="-120"/>
              </a:rPr>
              <a:t>The dataset consolidates military information for countries across the world into a single structured, analysis-ready table.</a:t>
            </a:r>
            <a:endParaRPr lang="en-US" sz="1250" dirty="0"/>
          </a:p>
        </p:txBody>
      </p:sp>
      <p:sp>
        <p:nvSpPr>
          <p:cNvPr id="8" name="Shape 6"/>
          <p:cNvSpPr/>
          <p:nvPr/>
        </p:nvSpPr>
        <p:spPr>
          <a:xfrm>
            <a:off x="457200" y="2084832"/>
            <a:ext cx="2606040" cy="868680"/>
          </a:xfrm>
          <a:prstGeom prst="roundRect">
            <a:avLst>
              <a:gd name="adj" fmla="val 10526"/>
            </a:avLst>
          </a:prstGeom>
          <a:solidFill>
            <a:srgbClr val="0F1E33"/>
          </a:solidFill>
          <a:ln w="12700">
            <a:solidFill>
              <a:srgbClr val="24405F"/>
            </a:solidFill>
            <a:prstDash val="solid"/>
          </a:ln>
        </p:spPr>
      </p:sp>
      <p:sp>
        <p:nvSpPr>
          <p:cNvPr id="9" name="Shape 7"/>
          <p:cNvSpPr/>
          <p:nvPr/>
        </p:nvSpPr>
        <p:spPr>
          <a:xfrm>
            <a:off x="621792" y="2290572"/>
            <a:ext cx="457200" cy="457200"/>
          </a:xfrm>
          <a:prstGeom prst="ellipse">
            <a:avLst/>
          </a:prstGeom>
          <a:solidFill>
            <a:srgbClr val="1B324F"/>
          </a:solidFill>
          <a:ln/>
        </p:spPr>
      </p:sp>
      <p:pic>
        <p:nvPicPr>
          <p:cNvPr id="10" name="Image 0" descr="preencoded.png">    </p:cNvPr>
          <p:cNvPicPr>
            <a:picLocks noChangeAspect="1"/>
          </p:cNvPicPr>
          <p:nvPr/>
        </p:nvPicPr>
        <p:blipFill>
          <a:blip r:embed="rId1"/>
          <a:stretch>
            <a:fillRect/>
          </a:stretch>
        </p:blipFill>
        <p:spPr>
          <a:xfrm>
            <a:off x="681228" y="2350008"/>
            <a:ext cx="338328" cy="338328"/>
          </a:xfrm>
          <a:prstGeom prst="rect">
            <a:avLst/>
          </a:prstGeom>
        </p:spPr>
      </p:pic>
      <p:sp>
        <p:nvSpPr>
          <p:cNvPr id="11" name="Text 8"/>
          <p:cNvSpPr/>
          <p:nvPr/>
        </p:nvSpPr>
        <p:spPr>
          <a:xfrm>
            <a:off x="1188720" y="2084832"/>
            <a:ext cx="1737360" cy="868680"/>
          </a:xfrm>
          <a:prstGeom prst="rect">
            <a:avLst/>
          </a:prstGeom>
          <a:noFill/>
          <a:ln/>
        </p:spPr>
        <p:txBody>
          <a:bodyPr wrap="square" lIns="0" tIns="0" rIns="0" bIns="0" rtlCol="0" anchor="ctr"/>
          <a:lstStyle/>
          <a:p>
            <a:pPr indent="0" marL="0">
              <a:lnSpc>
                <a:spcPct val="100000"/>
              </a:lnSpc>
              <a:buNone/>
            </a:pPr>
            <a:r>
              <a:rPr lang="en-US" sz="1200" b="1" dirty="0">
                <a:solidFill>
                  <a:srgbClr val="F2F6FA"/>
                </a:solidFill>
                <a:latin typeface="Calibri" pitchFamily="34" charset="0"/>
                <a:ea typeface="Calibri" pitchFamily="34" charset="-122"/>
                <a:cs typeface="Calibri" pitchFamily="34" charset="-120"/>
              </a:rPr>
              <a:t>Demographics</a:t>
            </a:r>
            <a:endParaRPr lang="en-US" sz="1200" dirty="0"/>
          </a:p>
        </p:txBody>
      </p:sp>
      <p:sp>
        <p:nvSpPr>
          <p:cNvPr id="12" name="Shape 9"/>
          <p:cNvSpPr/>
          <p:nvPr/>
        </p:nvSpPr>
        <p:spPr>
          <a:xfrm>
            <a:off x="3200400" y="2084832"/>
            <a:ext cx="2606040" cy="868680"/>
          </a:xfrm>
          <a:prstGeom prst="roundRect">
            <a:avLst>
              <a:gd name="adj" fmla="val 10526"/>
            </a:avLst>
          </a:prstGeom>
          <a:solidFill>
            <a:srgbClr val="0F1E33"/>
          </a:solidFill>
          <a:ln w="12700">
            <a:solidFill>
              <a:srgbClr val="24405F"/>
            </a:solidFill>
            <a:prstDash val="solid"/>
          </a:ln>
        </p:spPr>
      </p:sp>
      <p:sp>
        <p:nvSpPr>
          <p:cNvPr id="13" name="Shape 10"/>
          <p:cNvSpPr/>
          <p:nvPr/>
        </p:nvSpPr>
        <p:spPr>
          <a:xfrm>
            <a:off x="3364992" y="2290572"/>
            <a:ext cx="457200" cy="457200"/>
          </a:xfrm>
          <a:prstGeom prst="ellipse">
            <a:avLst/>
          </a:prstGeom>
          <a:solidFill>
            <a:srgbClr val="1B324F"/>
          </a:solidFill>
          <a:ln/>
        </p:spPr>
      </p:sp>
      <p:pic>
        <p:nvPicPr>
          <p:cNvPr id="14" name="Image 1" descr="preencoded.png">    </p:cNvPr>
          <p:cNvPicPr>
            <a:picLocks noChangeAspect="1"/>
          </p:cNvPicPr>
          <p:nvPr/>
        </p:nvPicPr>
        <p:blipFill>
          <a:blip r:embed="rId2"/>
          <a:stretch>
            <a:fillRect/>
          </a:stretch>
        </p:blipFill>
        <p:spPr>
          <a:xfrm>
            <a:off x="3424428" y="2350008"/>
            <a:ext cx="338328" cy="338328"/>
          </a:xfrm>
          <a:prstGeom prst="rect">
            <a:avLst/>
          </a:prstGeom>
        </p:spPr>
      </p:pic>
      <p:sp>
        <p:nvSpPr>
          <p:cNvPr id="15" name="Text 11"/>
          <p:cNvSpPr/>
          <p:nvPr/>
        </p:nvSpPr>
        <p:spPr>
          <a:xfrm>
            <a:off x="3931920" y="2084832"/>
            <a:ext cx="1737360" cy="868680"/>
          </a:xfrm>
          <a:prstGeom prst="rect">
            <a:avLst/>
          </a:prstGeom>
          <a:noFill/>
          <a:ln/>
        </p:spPr>
        <p:txBody>
          <a:bodyPr wrap="square" lIns="0" tIns="0" rIns="0" bIns="0" rtlCol="0" anchor="ctr"/>
          <a:lstStyle/>
          <a:p>
            <a:pPr indent="0" marL="0">
              <a:lnSpc>
                <a:spcPct val="100000"/>
              </a:lnSpc>
              <a:buNone/>
            </a:pPr>
            <a:r>
              <a:rPr lang="en-US" sz="1200" b="1" dirty="0">
                <a:solidFill>
                  <a:srgbClr val="F2F6FA"/>
                </a:solidFill>
                <a:latin typeface="Calibri" pitchFamily="34" charset="0"/>
                <a:ea typeface="Calibri" pitchFamily="34" charset="-122"/>
                <a:cs typeface="Calibri" pitchFamily="34" charset="-120"/>
              </a:rPr>
              <a:t>Military Personnel</a:t>
            </a:r>
            <a:endParaRPr lang="en-US" sz="1200" dirty="0"/>
          </a:p>
        </p:txBody>
      </p:sp>
      <p:sp>
        <p:nvSpPr>
          <p:cNvPr id="16" name="Shape 12"/>
          <p:cNvSpPr/>
          <p:nvPr/>
        </p:nvSpPr>
        <p:spPr>
          <a:xfrm>
            <a:off x="5943600" y="2084832"/>
            <a:ext cx="2606040" cy="868680"/>
          </a:xfrm>
          <a:prstGeom prst="roundRect">
            <a:avLst>
              <a:gd name="adj" fmla="val 10526"/>
            </a:avLst>
          </a:prstGeom>
          <a:solidFill>
            <a:srgbClr val="0F1E33"/>
          </a:solidFill>
          <a:ln w="12700">
            <a:solidFill>
              <a:srgbClr val="24405F"/>
            </a:solidFill>
            <a:prstDash val="solid"/>
          </a:ln>
        </p:spPr>
      </p:sp>
      <p:sp>
        <p:nvSpPr>
          <p:cNvPr id="17" name="Shape 13"/>
          <p:cNvSpPr/>
          <p:nvPr/>
        </p:nvSpPr>
        <p:spPr>
          <a:xfrm>
            <a:off x="6108192" y="2290572"/>
            <a:ext cx="457200" cy="457200"/>
          </a:xfrm>
          <a:prstGeom prst="ellipse">
            <a:avLst/>
          </a:prstGeom>
          <a:solidFill>
            <a:srgbClr val="1B324F"/>
          </a:solidFill>
          <a:ln/>
        </p:spPr>
      </p:sp>
      <p:pic>
        <p:nvPicPr>
          <p:cNvPr id="18" name="Image 2" descr="preencoded.png">    </p:cNvPr>
          <p:cNvPicPr>
            <a:picLocks noChangeAspect="1"/>
          </p:cNvPicPr>
          <p:nvPr/>
        </p:nvPicPr>
        <p:blipFill>
          <a:blip r:embed="rId3"/>
          <a:stretch>
            <a:fillRect/>
          </a:stretch>
        </p:blipFill>
        <p:spPr>
          <a:xfrm>
            <a:off x="6167628" y="2350008"/>
            <a:ext cx="338328" cy="338328"/>
          </a:xfrm>
          <a:prstGeom prst="rect">
            <a:avLst/>
          </a:prstGeom>
        </p:spPr>
      </p:pic>
      <p:sp>
        <p:nvSpPr>
          <p:cNvPr id="19" name="Text 14"/>
          <p:cNvSpPr/>
          <p:nvPr/>
        </p:nvSpPr>
        <p:spPr>
          <a:xfrm>
            <a:off x="6675120" y="2084832"/>
            <a:ext cx="1737360" cy="868680"/>
          </a:xfrm>
          <a:prstGeom prst="rect">
            <a:avLst/>
          </a:prstGeom>
          <a:noFill/>
          <a:ln/>
        </p:spPr>
        <p:txBody>
          <a:bodyPr wrap="square" lIns="0" tIns="0" rIns="0" bIns="0" rtlCol="0" anchor="ctr"/>
          <a:lstStyle/>
          <a:p>
            <a:pPr indent="0" marL="0">
              <a:lnSpc>
                <a:spcPct val="100000"/>
              </a:lnSpc>
              <a:buNone/>
            </a:pPr>
            <a:r>
              <a:rPr lang="en-US" sz="1200" b="1" dirty="0">
                <a:solidFill>
                  <a:srgbClr val="F2F6FA"/>
                </a:solidFill>
                <a:latin typeface="Calibri" pitchFamily="34" charset="0"/>
                <a:ea typeface="Calibri" pitchFamily="34" charset="-122"/>
                <a:cs typeface="Calibri" pitchFamily="34" charset="-120"/>
              </a:rPr>
              <a:t>Air Power</a:t>
            </a:r>
            <a:endParaRPr lang="en-US" sz="1200" dirty="0"/>
          </a:p>
        </p:txBody>
      </p:sp>
      <p:sp>
        <p:nvSpPr>
          <p:cNvPr id="20" name="Shape 15"/>
          <p:cNvSpPr/>
          <p:nvPr/>
        </p:nvSpPr>
        <p:spPr>
          <a:xfrm>
            <a:off x="8686800" y="2084832"/>
            <a:ext cx="2606040" cy="868680"/>
          </a:xfrm>
          <a:prstGeom prst="roundRect">
            <a:avLst>
              <a:gd name="adj" fmla="val 10526"/>
            </a:avLst>
          </a:prstGeom>
          <a:solidFill>
            <a:srgbClr val="0F1E33"/>
          </a:solidFill>
          <a:ln w="12700">
            <a:solidFill>
              <a:srgbClr val="24405F"/>
            </a:solidFill>
            <a:prstDash val="solid"/>
          </a:ln>
        </p:spPr>
      </p:sp>
      <p:sp>
        <p:nvSpPr>
          <p:cNvPr id="21" name="Shape 16"/>
          <p:cNvSpPr/>
          <p:nvPr/>
        </p:nvSpPr>
        <p:spPr>
          <a:xfrm>
            <a:off x="8851392" y="2290572"/>
            <a:ext cx="457200" cy="457200"/>
          </a:xfrm>
          <a:prstGeom prst="ellipse">
            <a:avLst/>
          </a:prstGeom>
          <a:solidFill>
            <a:srgbClr val="1B324F"/>
          </a:solidFill>
          <a:ln/>
        </p:spPr>
      </p:sp>
      <p:pic>
        <p:nvPicPr>
          <p:cNvPr id="22" name="Image 3" descr="preencoded.png">    </p:cNvPr>
          <p:cNvPicPr>
            <a:picLocks noChangeAspect="1"/>
          </p:cNvPicPr>
          <p:nvPr/>
        </p:nvPicPr>
        <p:blipFill>
          <a:blip r:embed="rId4"/>
          <a:stretch>
            <a:fillRect/>
          </a:stretch>
        </p:blipFill>
        <p:spPr>
          <a:xfrm>
            <a:off x="8910828" y="2350008"/>
            <a:ext cx="338328" cy="338328"/>
          </a:xfrm>
          <a:prstGeom prst="rect">
            <a:avLst/>
          </a:prstGeom>
        </p:spPr>
      </p:pic>
      <p:sp>
        <p:nvSpPr>
          <p:cNvPr id="23" name="Text 17"/>
          <p:cNvSpPr/>
          <p:nvPr/>
        </p:nvSpPr>
        <p:spPr>
          <a:xfrm>
            <a:off x="9418320" y="2084832"/>
            <a:ext cx="1737360" cy="868680"/>
          </a:xfrm>
          <a:prstGeom prst="rect">
            <a:avLst/>
          </a:prstGeom>
          <a:noFill/>
          <a:ln/>
        </p:spPr>
        <p:txBody>
          <a:bodyPr wrap="square" lIns="0" tIns="0" rIns="0" bIns="0" rtlCol="0" anchor="ctr"/>
          <a:lstStyle/>
          <a:p>
            <a:pPr indent="0" marL="0">
              <a:lnSpc>
                <a:spcPct val="100000"/>
              </a:lnSpc>
              <a:buNone/>
            </a:pPr>
            <a:r>
              <a:rPr lang="en-US" sz="1200" b="1" dirty="0">
                <a:solidFill>
                  <a:srgbClr val="F2F6FA"/>
                </a:solidFill>
                <a:latin typeface="Calibri" pitchFamily="34" charset="0"/>
                <a:ea typeface="Calibri" pitchFamily="34" charset="-122"/>
                <a:cs typeface="Calibri" pitchFamily="34" charset="-120"/>
              </a:rPr>
              <a:t>Land Forces</a:t>
            </a:r>
            <a:endParaRPr lang="en-US" sz="1200" dirty="0"/>
          </a:p>
        </p:txBody>
      </p:sp>
      <p:sp>
        <p:nvSpPr>
          <p:cNvPr id="24" name="Shape 18"/>
          <p:cNvSpPr/>
          <p:nvPr/>
        </p:nvSpPr>
        <p:spPr>
          <a:xfrm>
            <a:off x="457200" y="3118104"/>
            <a:ext cx="2606040" cy="868680"/>
          </a:xfrm>
          <a:prstGeom prst="roundRect">
            <a:avLst>
              <a:gd name="adj" fmla="val 10526"/>
            </a:avLst>
          </a:prstGeom>
          <a:solidFill>
            <a:srgbClr val="0F1E33"/>
          </a:solidFill>
          <a:ln w="12700">
            <a:solidFill>
              <a:srgbClr val="24405F"/>
            </a:solidFill>
            <a:prstDash val="solid"/>
          </a:ln>
        </p:spPr>
      </p:sp>
      <p:sp>
        <p:nvSpPr>
          <p:cNvPr id="25" name="Shape 19"/>
          <p:cNvSpPr/>
          <p:nvPr/>
        </p:nvSpPr>
        <p:spPr>
          <a:xfrm>
            <a:off x="621792" y="3323844"/>
            <a:ext cx="457200" cy="457200"/>
          </a:xfrm>
          <a:prstGeom prst="ellipse">
            <a:avLst/>
          </a:prstGeom>
          <a:solidFill>
            <a:srgbClr val="1B324F"/>
          </a:solidFill>
          <a:ln/>
        </p:spPr>
      </p:sp>
      <p:pic>
        <p:nvPicPr>
          <p:cNvPr id="26" name="Image 4" descr="preencoded.png">    </p:cNvPr>
          <p:cNvPicPr>
            <a:picLocks noChangeAspect="1"/>
          </p:cNvPicPr>
          <p:nvPr/>
        </p:nvPicPr>
        <p:blipFill>
          <a:blip r:embed="rId5"/>
          <a:stretch>
            <a:fillRect/>
          </a:stretch>
        </p:blipFill>
        <p:spPr>
          <a:xfrm>
            <a:off x="681228" y="3383280"/>
            <a:ext cx="338328" cy="338328"/>
          </a:xfrm>
          <a:prstGeom prst="rect">
            <a:avLst/>
          </a:prstGeom>
        </p:spPr>
      </p:pic>
      <p:sp>
        <p:nvSpPr>
          <p:cNvPr id="27" name="Text 20"/>
          <p:cNvSpPr/>
          <p:nvPr/>
        </p:nvSpPr>
        <p:spPr>
          <a:xfrm>
            <a:off x="1188720" y="3118104"/>
            <a:ext cx="1737360" cy="868680"/>
          </a:xfrm>
          <a:prstGeom prst="rect">
            <a:avLst/>
          </a:prstGeom>
          <a:noFill/>
          <a:ln/>
        </p:spPr>
        <p:txBody>
          <a:bodyPr wrap="square" lIns="0" tIns="0" rIns="0" bIns="0" rtlCol="0" anchor="ctr"/>
          <a:lstStyle/>
          <a:p>
            <a:pPr indent="0" marL="0">
              <a:lnSpc>
                <a:spcPct val="100000"/>
              </a:lnSpc>
              <a:buNone/>
            </a:pPr>
            <a:r>
              <a:rPr lang="en-US" sz="1200" b="1" dirty="0">
                <a:solidFill>
                  <a:srgbClr val="F2F6FA"/>
                </a:solidFill>
                <a:latin typeface="Calibri" pitchFamily="34" charset="0"/>
                <a:ea typeface="Calibri" pitchFamily="34" charset="-122"/>
                <a:cs typeface="Calibri" pitchFamily="34" charset="-120"/>
              </a:rPr>
              <a:t>Naval Forces</a:t>
            </a:r>
            <a:endParaRPr lang="en-US" sz="1200" dirty="0"/>
          </a:p>
        </p:txBody>
      </p:sp>
      <p:sp>
        <p:nvSpPr>
          <p:cNvPr id="28" name="Shape 21"/>
          <p:cNvSpPr/>
          <p:nvPr/>
        </p:nvSpPr>
        <p:spPr>
          <a:xfrm>
            <a:off x="3200400" y="3118104"/>
            <a:ext cx="2606040" cy="868680"/>
          </a:xfrm>
          <a:prstGeom prst="roundRect">
            <a:avLst>
              <a:gd name="adj" fmla="val 10526"/>
            </a:avLst>
          </a:prstGeom>
          <a:solidFill>
            <a:srgbClr val="0F1E33"/>
          </a:solidFill>
          <a:ln w="12700">
            <a:solidFill>
              <a:srgbClr val="24405F"/>
            </a:solidFill>
            <a:prstDash val="solid"/>
          </a:ln>
        </p:spPr>
      </p:sp>
      <p:sp>
        <p:nvSpPr>
          <p:cNvPr id="29" name="Shape 22"/>
          <p:cNvSpPr/>
          <p:nvPr/>
        </p:nvSpPr>
        <p:spPr>
          <a:xfrm>
            <a:off x="3364992" y="3323844"/>
            <a:ext cx="457200" cy="457200"/>
          </a:xfrm>
          <a:prstGeom prst="ellipse">
            <a:avLst/>
          </a:prstGeom>
          <a:solidFill>
            <a:srgbClr val="1B324F"/>
          </a:solidFill>
          <a:ln/>
        </p:spPr>
      </p:sp>
      <p:pic>
        <p:nvPicPr>
          <p:cNvPr id="30" name="Image 5" descr="preencoded.png">    </p:cNvPr>
          <p:cNvPicPr>
            <a:picLocks noChangeAspect="1"/>
          </p:cNvPicPr>
          <p:nvPr/>
        </p:nvPicPr>
        <p:blipFill>
          <a:blip r:embed="rId6"/>
          <a:stretch>
            <a:fillRect/>
          </a:stretch>
        </p:blipFill>
        <p:spPr>
          <a:xfrm>
            <a:off x="3424428" y="3383280"/>
            <a:ext cx="338328" cy="338328"/>
          </a:xfrm>
          <a:prstGeom prst="rect">
            <a:avLst/>
          </a:prstGeom>
        </p:spPr>
      </p:pic>
      <p:sp>
        <p:nvSpPr>
          <p:cNvPr id="31" name="Text 23"/>
          <p:cNvSpPr/>
          <p:nvPr/>
        </p:nvSpPr>
        <p:spPr>
          <a:xfrm>
            <a:off x="3931920" y="3118104"/>
            <a:ext cx="1737360" cy="868680"/>
          </a:xfrm>
          <a:prstGeom prst="rect">
            <a:avLst/>
          </a:prstGeom>
          <a:noFill/>
          <a:ln/>
        </p:spPr>
        <p:txBody>
          <a:bodyPr wrap="square" lIns="0" tIns="0" rIns="0" bIns="0" rtlCol="0" anchor="ctr"/>
          <a:lstStyle/>
          <a:p>
            <a:pPr indent="0" marL="0">
              <a:lnSpc>
                <a:spcPct val="100000"/>
              </a:lnSpc>
              <a:buNone/>
            </a:pPr>
            <a:r>
              <a:rPr lang="en-US" sz="1200" b="1" dirty="0">
                <a:solidFill>
                  <a:srgbClr val="F2F6FA"/>
                </a:solidFill>
                <a:latin typeface="Calibri" pitchFamily="34" charset="0"/>
                <a:ea typeface="Calibri" pitchFamily="34" charset="-122"/>
                <a:cs typeface="Calibri" pitchFamily="34" charset="-120"/>
              </a:rPr>
              <a:t>Defense Spending</a:t>
            </a:r>
            <a:endParaRPr lang="en-US" sz="1200" dirty="0"/>
          </a:p>
        </p:txBody>
      </p:sp>
      <p:sp>
        <p:nvSpPr>
          <p:cNvPr id="32" name="Shape 24"/>
          <p:cNvSpPr/>
          <p:nvPr/>
        </p:nvSpPr>
        <p:spPr>
          <a:xfrm>
            <a:off x="5943600" y="3118104"/>
            <a:ext cx="2606040" cy="868680"/>
          </a:xfrm>
          <a:prstGeom prst="roundRect">
            <a:avLst>
              <a:gd name="adj" fmla="val 10526"/>
            </a:avLst>
          </a:prstGeom>
          <a:solidFill>
            <a:srgbClr val="0F1E33"/>
          </a:solidFill>
          <a:ln w="12700">
            <a:solidFill>
              <a:srgbClr val="24405F"/>
            </a:solidFill>
            <a:prstDash val="solid"/>
          </a:ln>
        </p:spPr>
      </p:sp>
      <p:sp>
        <p:nvSpPr>
          <p:cNvPr id="33" name="Shape 25"/>
          <p:cNvSpPr/>
          <p:nvPr/>
        </p:nvSpPr>
        <p:spPr>
          <a:xfrm>
            <a:off x="6108192" y="3323844"/>
            <a:ext cx="457200" cy="457200"/>
          </a:xfrm>
          <a:prstGeom prst="ellipse">
            <a:avLst/>
          </a:prstGeom>
          <a:solidFill>
            <a:srgbClr val="1B324F"/>
          </a:solidFill>
          <a:ln/>
        </p:spPr>
      </p:sp>
      <p:pic>
        <p:nvPicPr>
          <p:cNvPr id="34" name="Image 6" descr="preencoded.png">    </p:cNvPr>
          <p:cNvPicPr>
            <a:picLocks noChangeAspect="1"/>
          </p:cNvPicPr>
          <p:nvPr/>
        </p:nvPicPr>
        <p:blipFill>
          <a:blip r:embed="rId7"/>
          <a:stretch>
            <a:fillRect/>
          </a:stretch>
        </p:blipFill>
        <p:spPr>
          <a:xfrm>
            <a:off x="6167628" y="3383280"/>
            <a:ext cx="338328" cy="338328"/>
          </a:xfrm>
          <a:prstGeom prst="rect">
            <a:avLst/>
          </a:prstGeom>
        </p:spPr>
      </p:pic>
      <p:sp>
        <p:nvSpPr>
          <p:cNvPr id="35" name="Text 26"/>
          <p:cNvSpPr/>
          <p:nvPr/>
        </p:nvSpPr>
        <p:spPr>
          <a:xfrm>
            <a:off x="6675120" y="3118104"/>
            <a:ext cx="1737360" cy="868680"/>
          </a:xfrm>
          <a:prstGeom prst="rect">
            <a:avLst/>
          </a:prstGeom>
          <a:noFill/>
          <a:ln/>
        </p:spPr>
        <p:txBody>
          <a:bodyPr wrap="square" lIns="0" tIns="0" rIns="0" bIns="0" rtlCol="0" anchor="ctr"/>
          <a:lstStyle/>
          <a:p>
            <a:pPr indent="0" marL="0">
              <a:lnSpc>
                <a:spcPct val="100000"/>
              </a:lnSpc>
              <a:buNone/>
            </a:pPr>
            <a:r>
              <a:rPr lang="en-US" sz="1200" b="1" dirty="0">
                <a:solidFill>
                  <a:srgbClr val="F2F6FA"/>
                </a:solidFill>
                <a:latin typeface="Calibri" pitchFamily="34" charset="0"/>
                <a:ea typeface="Calibri" pitchFamily="34" charset="-122"/>
                <a:cs typeface="Calibri" pitchFamily="34" charset="-120"/>
              </a:rPr>
              <a:t>Geography</a:t>
            </a:r>
            <a:endParaRPr lang="en-US" sz="1200" dirty="0"/>
          </a:p>
        </p:txBody>
      </p:sp>
      <p:sp>
        <p:nvSpPr>
          <p:cNvPr id="36" name="Shape 27"/>
          <p:cNvSpPr/>
          <p:nvPr/>
        </p:nvSpPr>
        <p:spPr>
          <a:xfrm>
            <a:off x="8686800" y="3118104"/>
            <a:ext cx="2606040" cy="868680"/>
          </a:xfrm>
          <a:prstGeom prst="roundRect">
            <a:avLst>
              <a:gd name="adj" fmla="val 10526"/>
            </a:avLst>
          </a:prstGeom>
          <a:solidFill>
            <a:srgbClr val="0F1E33"/>
          </a:solidFill>
          <a:ln w="12700">
            <a:solidFill>
              <a:srgbClr val="24405F"/>
            </a:solidFill>
            <a:prstDash val="solid"/>
          </a:ln>
        </p:spPr>
      </p:sp>
      <p:sp>
        <p:nvSpPr>
          <p:cNvPr id="37" name="Shape 28"/>
          <p:cNvSpPr/>
          <p:nvPr/>
        </p:nvSpPr>
        <p:spPr>
          <a:xfrm>
            <a:off x="8851392" y="3323844"/>
            <a:ext cx="457200" cy="457200"/>
          </a:xfrm>
          <a:prstGeom prst="ellipse">
            <a:avLst/>
          </a:prstGeom>
          <a:solidFill>
            <a:srgbClr val="1B324F"/>
          </a:solidFill>
          <a:ln/>
        </p:spPr>
      </p:sp>
      <p:pic>
        <p:nvPicPr>
          <p:cNvPr id="38" name="Image 7" descr="preencoded.png">    </p:cNvPr>
          <p:cNvPicPr>
            <a:picLocks noChangeAspect="1"/>
          </p:cNvPicPr>
          <p:nvPr/>
        </p:nvPicPr>
        <p:blipFill>
          <a:blip r:embed="rId8"/>
          <a:stretch>
            <a:fillRect/>
          </a:stretch>
        </p:blipFill>
        <p:spPr>
          <a:xfrm>
            <a:off x="8910828" y="3383280"/>
            <a:ext cx="338328" cy="338328"/>
          </a:xfrm>
          <a:prstGeom prst="rect">
            <a:avLst/>
          </a:prstGeom>
        </p:spPr>
      </p:pic>
      <p:sp>
        <p:nvSpPr>
          <p:cNvPr id="39" name="Text 29"/>
          <p:cNvSpPr/>
          <p:nvPr/>
        </p:nvSpPr>
        <p:spPr>
          <a:xfrm>
            <a:off x="9418320" y="3118104"/>
            <a:ext cx="1737360" cy="868680"/>
          </a:xfrm>
          <a:prstGeom prst="rect">
            <a:avLst/>
          </a:prstGeom>
          <a:noFill/>
          <a:ln/>
        </p:spPr>
        <p:txBody>
          <a:bodyPr wrap="square" lIns="0" tIns="0" rIns="0" bIns="0" rtlCol="0" anchor="ctr"/>
          <a:lstStyle/>
          <a:p>
            <a:pPr indent="0" marL="0">
              <a:lnSpc>
                <a:spcPct val="100000"/>
              </a:lnSpc>
              <a:buNone/>
            </a:pPr>
            <a:r>
              <a:rPr lang="en-US" sz="1200" b="1" dirty="0">
                <a:solidFill>
                  <a:srgbClr val="F2F6FA"/>
                </a:solidFill>
                <a:latin typeface="Calibri" pitchFamily="34" charset="0"/>
                <a:ea typeface="Calibri" pitchFamily="34" charset="-122"/>
                <a:cs typeface="Calibri" pitchFamily="34" charset="-120"/>
              </a:rPr>
              <a:t>Global Ranking</a:t>
            </a:r>
            <a:endParaRPr lang="en-US" sz="1200" dirty="0"/>
          </a:p>
        </p:txBody>
      </p:sp>
      <p:sp>
        <p:nvSpPr>
          <p:cNvPr id="40" name="Text 30"/>
          <p:cNvSpPr/>
          <p:nvPr/>
        </p:nvSpPr>
        <p:spPr>
          <a:xfrm>
            <a:off x="457200" y="4160520"/>
            <a:ext cx="4572000" cy="274320"/>
          </a:xfrm>
          <a:prstGeom prst="rect">
            <a:avLst/>
          </a:prstGeom>
          <a:noFill/>
          <a:ln/>
        </p:spPr>
        <p:txBody>
          <a:bodyPr wrap="square" lIns="0" tIns="0" rIns="0" bIns="0" rtlCol="0" anchor="ctr"/>
          <a:lstStyle/>
          <a:p>
            <a:pPr indent="0" marL="0">
              <a:buNone/>
            </a:pPr>
            <a:r>
              <a:rPr lang="en-US" sz="1100" b="1" spc="100" kern="0" dirty="0">
                <a:solidFill>
                  <a:srgbClr val="5C7291"/>
                </a:solidFill>
                <a:latin typeface="Calibri" pitchFamily="34" charset="0"/>
                <a:ea typeface="Calibri" pitchFamily="34" charset="-122"/>
                <a:cs typeface="Calibri" pitchFamily="34" charset="-120"/>
              </a:rPr>
              <a:t>Data Collection Pipeline</a:t>
            </a:r>
            <a:endParaRPr lang="en-US" sz="1100" dirty="0"/>
          </a:p>
        </p:txBody>
      </p:sp>
      <p:sp>
        <p:nvSpPr>
          <p:cNvPr id="41" name="Shape 31"/>
          <p:cNvSpPr/>
          <p:nvPr/>
        </p:nvSpPr>
        <p:spPr>
          <a:xfrm>
            <a:off x="457200" y="4526280"/>
            <a:ext cx="2331720" cy="1051560"/>
          </a:xfrm>
          <a:prstGeom prst="roundRect">
            <a:avLst>
              <a:gd name="adj" fmla="val 8696"/>
            </a:avLst>
          </a:prstGeom>
          <a:solidFill>
            <a:srgbClr val="13253F"/>
          </a:solidFill>
          <a:ln w="12700">
            <a:solidFill>
              <a:srgbClr val="24405F"/>
            </a:solidFill>
            <a:prstDash val="solid"/>
          </a:ln>
        </p:spPr>
      </p:sp>
      <p:sp>
        <p:nvSpPr>
          <p:cNvPr id="42" name="Shape 32"/>
          <p:cNvSpPr/>
          <p:nvPr/>
        </p:nvSpPr>
        <p:spPr>
          <a:xfrm>
            <a:off x="1371600" y="4654296"/>
            <a:ext cx="502920" cy="502920"/>
          </a:xfrm>
          <a:prstGeom prst="ellipse">
            <a:avLst/>
          </a:prstGeom>
          <a:solidFill>
            <a:srgbClr val="1B324F"/>
          </a:solidFill>
          <a:ln/>
        </p:spPr>
      </p:sp>
      <p:pic>
        <p:nvPicPr>
          <p:cNvPr id="43" name="Image 8" descr="preencoded.png">    </p:cNvPr>
          <p:cNvPicPr>
            <a:picLocks noChangeAspect="1"/>
          </p:cNvPicPr>
          <p:nvPr/>
        </p:nvPicPr>
        <p:blipFill>
          <a:blip r:embed="rId9"/>
          <a:stretch>
            <a:fillRect/>
          </a:stretch>
        </p:blipFill>
        <p:spPr>
          <a:xfrm>
            <a:off x="1436980" y="4719676"/>
            <a:ext cx="372161" cy="372161"/>
          </a:xfrm>
          <a:prstGeom prst="rect">
            <a:avLst/>
          </a:prstGeom>
        </p:spPr>
      </p:pic>
      <p:sp>
        <p:nvSpPr>
          <p:cNvPr id="44" name="Text 33"/>
          <p:cNvSpPr/>
          <p:nvPr/>
        </p:nvSpPr>
        <p:spPr>
          <a:xfrm>
            <a:off x="457200" y="5184648"/>
            <a:ext cx="2331720" cy="365760"/>
          </a:xfrm>
          <a:prstGeom prst="rect">
            <a:avLst/>
          </a:prstGeom>
          <a:noFill/>
          <a:ln/>
        </p:spPr>
        <p:txBody>
          <a:bodyPr wrap="square" lIns="0" tIns="0" rIns="0" bIns="0" rtlCol="0" anchor="ctr"/>
          <a:lstStyle/>
          <a:p>
            <a:pPr algn="ctr" indent="0" marL="0">
              <a:lnSpc>
                <a:spcPct val="100000"/>
              </a:lnSpc>
              <a:buNone/>
            </a:pPr>
            <a:r>
              <a:rPr lang="en-US" sz="1050" b="1" dirty="0">
                <a:solidFill>
                  <a:srgbClr val="F2F6FA"/>
                </a:solidFill>
                <a:latin typeface="Calibri" pitchFamily="34" charset="0"/>
                <a:ea typeface="Calibri" pitchFamily="34" charset="-122"/>
                <a:cs typeface="Calibri" pitchFamily="34" charset="-120"/>
              </a:rPr>
              <a:t>Source Data</a:t>
            </a:r>
            <a:endParaRPr lang="en-US" sz="1050" dirty="0"/>
          </a:p>
        </p:txBody>
      </p:sp>
      <p:sp>
        <p:nvSpPr>
          <p:cNvPr id="45" name="Text 34"/>
          <p:cNvSpPr/>
          <p:nvPr/>
        </p:nvSpPr>
        <p:spPr>
          <a:xfrm>
            <a:off x="2843784" y="4860036"/>
            <a:ext cx="475488" cy="521208"/>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a:t>
            </a:r>
            <a:endParaRPr lang="en-US" sz="2000" dirty="0"/>
          </a:p>
        </p:txBody>
      </p:sp>
      <p:sp>
        <p:nvSpPr>
          <p:cNvPr id="46" name="Shape 35"/>
          <p:cNvSpPr/>
          <p:nvPr/>
        </p:nvSpPr>
        <p:spPr>
          <a:xfrm>
            <a:off x="3291840" y="4526280"/>
            <a:ext cx="2331720" cy="1051560"/>
          </a:xfrm>
          <a:prstGeom prst="roundRect">
            <a:avLst>
              <a:gd name="adj" fmla="val 8696"/>
            </a:avLst>
          </a:prstGeom>
          <a:solidFill>
            <a:srgbClr val="13253F"/>
          </a:solidFill>
          <a:ln w="12700">
            <a:solidFill>
              <a:srgbClr val="24405F"/>
            </a:solidFill>
            <a:prstDash val="solid"/>
          </a:ln>
        </p:spPr>
      </p:sp>
      <p:sp>
        <p:nvSpPr>
          <p:cNvPr id="47" name="Shape 36"/>
          <p:cNvSpPr/>
          <p:nvPr/>
        </p:nvSpPr>
        <p:spPr>
          <a:xfrm>
            <a:off x="4206240" y="4654296"/>
            <a:ext cx="502920" cy="502920"/>
          </a:xfrm>
          <a:prstGeom prst="ellipse">
            <a:avLst/>
          </a:prstGeom>
          <a:solidFill>
            <a:srgbClr val="1B324F"/>
          </a:solidFill>
          <a:ln/>
        </p:spPr>
      </p:sp>
      <p:pic>
        <p:nvPicPr>
          <p:cNvPr id="48" name="Image 9" descr="preencoded.png">    </p:cNvPr>
          <p:cNvPicPr>
            <a:picLocks noChangeAspect="1"/>
          </p:cNvPicPr>
          <p:nvPr/>
        </p:nvPicPr>
        <p:blipFill>
          <a:blip r:embed="rId10"/>
          <a:stretch>
            <a:fillRect/>
          </a:stretch>
        </p:blipFill>
        <p:spPr>
          <a:xfrm>
            <a:off x="4271620" y="4719676"/>
            <a:ext cx="372161" cy="372161"/>
          </a:xfrm>
          <a:prstGeom prst="rect">
            <a:avLst/>
          </a:prstGeom>
        </p:spPr>
      </p:pic>
      <p:sp>
        <p:nvSpPr>
          <p:cNvPr id="49" name="Text 37"/>
          <p:cNvSpPr/>
          <p:nvPr/>
        </p:nvSpPr>
        <p:spPr>
          <a:xfrm>
            <a:off x="3291840" y="5184648"/>
            <a:ext cx="2331720" cy="365760"/>
          </a:xfrm>
          <a:prstGeom prst="rect">
            <a:avLst/>
          </a:prstGeom>
          <a:noFill/>
          <a:ln/>
        </p:spPr>
        <p:txBody>
          <a:bodyPr wrap="square" lIns="0" tIns="0" rIns="0" bIns="0" rtlCol="0" anchor="ctr"/>
          <a:lstStyle/>
          <a:p>
            <a:pPr algn="ctr" indent="0" marL="0">
              <a:lnSpc>
                <a:spcPct val="100000"/>
              </a:lnSpc>
              <a:buNone/>
            </a:pPr>
            <a:r>
              <a:rPr lang="en-US" sz="1050" b="1" dirty="0">
                <a:solidFill>
                  <a:srgbClr val="F2F6FA"/>
                </a:solidFill>
                <a:latin typeface="Calibri" pitchFamily="34" charset="0"/>
                <a:ea typeface="Calibri" pitchFamily="34" charset="-122"/>
                <a:cs typeface="Calibri" pitchFamily="34" charset="-120"/>
              </a:rPr>
              <a:t>Data Extraction</a:t>
            </a:r>
            <a:endParaRPr lang="en-US" sz="1050" dirty="0"/>
          </a:p>
          <a:p>
            <a:pPr algn="ctr" indent="0" marL="0">
              <a:lnSpc>
                <a:spcPct val="100000"/>
              </a:lnSpc>
              <a:buNone/>
            </a:pPr>
            <a:r>
              <a:rPr lang="en-US" sz="1050" b="1" dirty="0">
                <a:solidFill>
                  <a:srgbClr val="F2F6FA"/>
                </a:solidFill>
                <a:latin typeface="Calibri" pitchFamily="34" charset="0"/>
                <a:ea typeface="Calibri" pitchFamily="34" charset="-122"/>
                <a:cs typeface="Calibri" pitchFamily="34" charset="-120"/>
              </a:rPr>
              <a:t>(Web Scraping)</a:t>
            </a:r>
            <a:endParaRPr lang="en-US" sz="1050" dirty="0"/>
          </a:p>
        </p:txBody>
      </p:sp>
      <p:sp>
        <p:nvSpPr>
          <p:cNvPr id="50" name="Text 38"/>
          <p:cNvSpPr/>
          <p:nvPr/>
        </p:nvSpPr>
        <p:spPr>
          <a:xfrm>
            <a:off x="5678424" y="4860036"/>
            <a:ext cx="475488" cy="521208"/>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a:t>
            </a:r>
            <a:endParaRPr lang="en-US" sz="2000" dirty="0"/>
          </a:p>
        </p:txBody>
      </p:sp>
      <p:sp>
        <p:nvSpPr>
          <p:cNvPr id="51" name="Shape 39"/>
          <p:cNvSpPr/>
          <p:nvPr/>
        </p:nvSpPr>
        <p:spPr>
          <a:xfrm>
            <a:off x="6126480" y="4526280"/>
            <a:ext cx="2331720" cy="1051560"/>
          </a:xfrm>
          <a:prstGeom prst="roundRect">
            <a:avLst>
              <a:gd name="adj" fmla="val 8696"/>
            </a:avLst>
          </a:prstGeom>
          <a:solidFill>
            <a:srgbClr val="13253F"/>
          </a:solidFill>
          <a:ln w="12700">
            <a:solidFill>
              <a:srgbClr val="24405F"/>
            </a:solidFill>
            <a:prstDash val="solid"/>
          </a:ln>
        </p:spPr>
      </p:sp>
      <p:sp>
        <p:nvSpPr>
          <p:cNvPr id="52" name="Shape 40"/>
          <p:cNvSpPr/>
          <p:nvPr/>
        </p:nvSpPr>
        <p:spPr>
          <a:xfrm>
            <a:off x="7040880" y="4654296"/>
            <a:ext cx="502920" cy="502920"/>
          </a:xfrm>
          <a:prstGeom prst="ellipse">
            <a:avLst/>
          </a:prstGeom>
          <a:solidFill>
            <a:srgbClr val="1B324F"/>
          </a:solidFill>
          <a:ln/>
        </p:spPr>
      </p:sp>
      <p:pic>
        <p:nvPicPr>
          <p:cNvPr id="53" name="Image 10" descr="preencoded.png">    </p:cNvPr>
          <p:cNvPicPr>
            <a:picLocks noChangeAspect="1"/>
          </p:cNvPicPr>
          <p:nvPr/>
        </p:nvPicPr>
        <p:blipFill>
          <a:blip r:embed="rId11"/>
          <a:stretch>
            <a:fillRect/>
          </a:stretch>
        </p:blipFill>
        <p:spPr>
          <a:xfrm>
            <a:off x="7106260" y="4719676"/>
            <a:ext cx="372161" cy="372161"/>
          </a:xfrm>
          <a:prstGeom prst="rect">
            <a:avLst/>
          </a:prstGeom>
        </p:spPr>
      </p:pic>
      <p:sp>
        <p:nvSpPr>
          <p:cNvPr id="54" name="Text 41"/>
          <p:cNvSpPr/>
          <p:nvPr/>
        </p:nvSpPr>
        <p:spPr>
          <a:xfrm>
            <a:off x="6126480" y="5184648"/>
            <a:ext cx="2331720" cy="365760"/>
          </a:xfrm>
          <a:prstGeom prst="rect">
            <a:avLst/>
          </a:prstGeom>
          <a:noFill/>
          <a:ln/>
        </p:spPr>
        <p:txBody>
          <a:bodyPr wrap="square" lIns="0" tIns="0" rIns="0" bIns="0" rtlCol="0" anchor="ctr"/>
          <a:lstStyle/>
          <a:p>
            <a:pPr algn="ctr" indent="0" marL="0">
              <a:lnSpc>
                <a:spcPct val="100000"/>
              </a:lnSpc>
              <a:buNone/>
            </a:pPr>
            <a:r>
              <a:rPr lang="en-US" sz="1050" b="1" dirty="0">
                <a:solidFill>
                  <a:srgbClr val="F2F6FA"/>
                </a:solidFill>
                <a:latin typeface="Calibri" pitchFamily="34" charset="0"/>
                <a:ea typeface="Calibri" pitchFamily="34" charset="-122"/>
                <a:cs typeface="Calibri" pitchFamily="34" charset="-120"/>
              </a:rPr>
              <a:t>Structured</a:t>
            </a:r>
            <a:endParaRPr lang="en-US" sz="1050" dirty="0"/>
          </a:p>
          <a:p>
            <a:pPr algn="ctr" indent="0" marL="0">
              <a:lnSpc>
                <a:spcPct val="100000"/>
              </a:lnSpc>
              <a:buNone/>
            </a:pPr>
            <a:r>
              <a:rPr lang="en-US" sz="1050" b="1" dirty="0">
                <a:solidFill>
                  <a:srgbClr val="F2F6FA"/>
                </a:solidFill>
                <a:latin typeface="Calibri" pitchFamily="34" charset="0"/>
                <a:ea typeface="Calibri" pitchFamily="34" charset="-122"/>
                <a:cs typeface="Calibri" pitchFamily="34" charset="-120"/>
              </a:rPr>
              <a:t>Dataset</a:t>
            </a:r>
            <a:endParaRPr lang="en-US" sz="1050" dirty="0"/>
          </a:p>
        </p:txBody>
      </p:sp>
      <p:sp>
        <p:nvSpPr>
          <p:cNvPr id="55" name="Text 42"/>
          <p:cNvSpPr/>
          <p:nvPr/>
        </p:nvSpPr>
        <p:spPr>
          <a:xfrm>
            <a:off x="8513064" y="4860036"/>
            <a:ext cx="475488" cy="521208"/>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a:t>
            </a:r>
            <a:endParaRPr lang="en-US" sz="2000" dirty="0"/>
          </a:p>
        </p:txBody>
      </p:sp>
      <p:sp>
        <p:nvSpPr>
          <p:cNvPr id="56" name="Shape 43"/>
          <p:cNvSpPr/>
          <p:nvPr/>
        </p:nvSpPr>
        <p:spPr>
          <a:xfrm>
            <a:off x="8961120" y="4526280"/>
            <a:ext cx="2331720" cy="1051560"/>
          </a:xfrm>
          <a:prstGeom prst="roundRect">
            <a:avLst>
              <a:gd name="adj" fmla="val 8696"/>
            </a:avLst>
          </a:prstGeom>
          <a:solidFill>
            <a:srgbClr val="13253F"/>
          </a:solidFill>
          <a:ln w="12700">
            <a:solidFill>
              <a:srgbClr val="24405F"/>
            </a:solidFill>
            <a:prstDash val="solid"/>
          </a:ln>
        </p:spPr>
      </p:sp>
      <p:sp>
        <p:nvSpPr>
          <p:cNvPr id="57" name="Shape 44"/>
          <p:cNvSpPr/>
          <p:nvPr/>
        </p:nvSpPr>
        <p:spPr>
          <a:xfrm>
            <a:off x="9875520" y="4654296"/>
            <a:ext cx="502920" cy="502920"/>
          </a:xfrm>
          <a:prstGeom prst="ellipse">
            <a:avLst/>
          </a:prstGeom>
          <a:solidFill>
            <a:srgbClr val="1B324F"/>
          </a:solidFill>
          <a:ln/>
        </p:spPr>
      </p:sp>
      <p:pic>
        <p:nvPicPr>
          <p:cNvPr id="58" name="Image 11" descr="preencoded.png">    </p:cNvPr>
          <p:cNvPicPr>
            <a:picLocks noChangeAspect="1"/>
          </p:cNvPicPr>
          <p:nvPr/>
        </p:nvPicPr>
        <p:blipFill>
          <a:blip r:embed="rId12"/>
          <a:stretch>
            <a:fillRect/>
          </a:stretch>
        </p:blipFill>
        <p:spPr>
          <a:xfrm>
            <a:off x="9940900" y="4719676"/>
            <a:ext cx="372161" cy="372161"/>
          </a:xfrm>
          <a:prstGeom prst="rect">
            <a:avLst/>
          </a:prstGeom>
        </p:spPr>
      </p:pic>
      <p:sp>
        <p:nvSpPr>
          <p:cNvPr id="59" name="Text 45"/>
          <p:cNvSpPr/>
          <p:nvPr/>
        </p:nvSpPr>
        <p:spPr>
          <a:xfrm>
            <a:off x="8961120" y="5184648"/>
            <a:ext cx="2331720" cy="365760"/>
          </a:xfrm>
          <a:prstGeom prst="rect">
            <a:avLst/>
          </a:prstGeom>
          <a:noFill/>
          <a:ln/>
        </p:spPr>
        <p:txBody>
          <a:bodyPr wrap="square" lIns="0" tIns="0" rIns="0" bIns="0" rtlCol="0" anchor="ctr"/>
          <a:lstStyle/>
          <a:p>
            <a:pPr algn="ctr" indent="0" marL="0">
              <a:lnSpc>
                <a:spcPct val="100000"/>
              </a:lnSpc>
              <a:buNone/>
            </a:pPr>
            <a:r>
              <a:rPr lang="en-US" sz="1050" b="1" dirty="0">
                <a:solidFill>
                  <a:srgbClr val="F2F6FA"/>
                </a:solidFill>
                <a:latin typeface="Calibri" pitchFamily="34" charset="0"/>
                <a:ea typeface="Calibri" pitchFamily="34" charset="-122"/>
                <a:cs typeface="Calibri" pitchFamily="34" charset="-120"/>
              </a:rPr>
              <a:t>Power BI</a:t>
            </a:r>
            <a:endParaRPr lang="en-US" sz="1050" dirty="0"/>
          </a:p>
        </p:txBody>
      </p:sp>
      <p:sp>
        <p:nvSpPr>
          <p:cNvPr id="60" name="Shape 46"/>
          <p:cNvSpPr/>
          <p:nvPr/>
        </p:nvSpPr>
        <p:spPr>
          <a:xfrm>
            <a:off x="457200" y="5806440"/>
            <a:ext cx="11274552" cy="566928"/>
          </a:xfrm>
          <a:prstGeom prst="roundRect">
            <a:avLst>
              <a:gd name="adj" fmla="val 16129"/>
            </a:avLst>
          </a:prstGeom>
          <a:solidFill>
            <a:srgbClr val="081220"/>
          </a:solidFill>
          <a:ln w="12700">
            <a:solidFill>
              <a:srgbClr val="24405F"/>
            </a:solidFill>
            <a:prstDash val="solid"/>
          </a:ln>
        </p:spPr>
      </p:sp>
      <p:sp>
        <p:nvSpPr>
          <p:cNvPr id="61" name="Text 47"/>
          <p:cNvSpPr/>
          <p:nvPr/>
        </p:nvSpPr>
        <p:spPr>
          <a:xfrm>
            <a:off x="685800" y="5806440"/>
            <a:ext cx="10881360" cy="566928"/>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Representative fields:  </a:t>
            </a:r>
            <a:pPr indent="0" marL="0">
              <a:buNone/>
            </a:pPr>
            <a:r>
              <a:rPr lang="en-US" sz="1050" dirty="0">
                <a:solidFill>
                  <a:srgbClr val="9BB0CC"/>
                </a:solidFill>
                <a:latin typeface="Calibri" pitchFamily="34" charset="0"/>
                <a:ea typeface="Calibri" pitchFamily="34" charset="-122"/>
                <a:cs typeface="Calibri" pitchFamily="34" charset="-120"/>
              </a:rPr>
              <a:t>Country   ·   Global Rank   ·   Power Index   ·   Personnel   ·   Aircraft   ·   Naval Fleet   ·   Defense Budget   ·   Land Area</a:t>
            </a:r>
            <a:endParaRPr lang="en-US" sz="1050" dirty="0"/>
          </a:p>
        </p:txBody>
      </p:sp>
      <p:sp>
        <p:nvSpPr>
          <p:cNvPr id="62" name="Text 48"/>
          <p:cNvSpPr/>
          <p:nvPr/>
        </p:nvSpPr>
        <p:spPr>
          <a:xfrm>
            <a:off x="457200" y="6528816"/>
            <a:ext cx="7315200" cy="256032"/>
          </a:xfrm>
          <a:prstGeom prst="rect">
            <a:avLst/>
          </a:prstGeom>
          <a:noFill/>
          <a:ln/>
        </p:spPr>
        <p:txBody>
          <a:bodyPr wrap="square" lIns="0" tIns="0" rIns="0" bIns="0" rtlCol="0" anchor="ctr"/>
          <a:lstStyle/>
          <a:p>
            <a:pPr indent="0" marL="0">
              <a:buNone/>
            </a:pPr>
            <a:r>
              <a:rPr lang="en-US" sz="800" spc="100" kern="0" dirty="0">
                <a:solidFill>
                  <a:srgbClr val="5C7291"/>
                </a:solidFill>
                <a:latin typeface="Calibri" pitchFamily="34" charset="0"/>
                <a:ea typeface="Calibri" pitchFamily="34" charset="-122"/>
                <a:cs typeface="Calibri" pitchFamily="34" charset="-120"/>
              </a:rPr>
              <a:t>UNIFIED MILITARY ANALYTICS &amp; COMPARISON DASHBOARD</a:t>
            </a:r>
            <a:endParaRPr lang="en-US" sz="800" dirty="0"/>
          </a:p>
        </p:txBody>
      </p:sp>
      <p:sp>
        <p:nvSpPr>
          <p:cNvPr id="63" name="Text 49"/>
          <p:cNvSpPr/>
          <p:nvPr/>
        </p:nvSpPr>
        <p:spPr>
          <a:xfrm>
            <a:off x="8991295" y="6528816"/>
            <a:ext cx="2743200" cy="256032"/>
          </a:xfrm>
          <a:prstGeom prst="rect">
            <a:avLst/>
          </a:prstGeom>
          <a:noFill/>
          <a:ln/>
        </p:spPr>
        <p:txBody>
          <a:bodyPr wrap="square" lIns="0" tIns="0" rIns="0" bIns="0" rtlCol="0" anchor="ctr"/>
          <a:lstStyle/>
          <a:p>
            <a:pPr algn="r" indent="0" marL="0">
              <a:buNone/>
            </a:pPr>
            <a:r>
              <a:rPr lang="en-US" sz="800" dirty="0">
                <a:solidFill>
                  <a:srgbClr val="5C7291"/>
                </a:solidFill>
                <a:latin typeface="Calibri" pitchFamily="34" charset="0"/>
                <a:ea typeface="Calibri" pitchFamily="34" charset="-122"/>
                <a:cs typeface="Calibri" pitchFamily="34" charset="-120"/>
              </a:rPr>
              <a:t>Dasari.Charishma Indhu   |   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457200" y="384048"/>
            <a:ext cx="2258568" cy="310896"/>
          </a:xfrm>
          <a:prstGeom prst="roundRect">
            <a:avLst>
              <a:gd name="adj" fmla="val 50000"/>
            </a:avLst>
          </a:prstGeom>
          <a:solidFill>
            <a:srgbClr val="13253F"/>
          </a:solidFill>
          <a:ln w="9525">
            <a:solidFill>
              <a:srgbClr val="24405F"/>
            </a:solidFill>
            <a:prstDash val="solid"/>
          </a:ln>
        </p:spPr>
      </p:sp>
      <p:sp>
        <p:nvSpPr>
          <p:cNvPr id="5" name="Text 3"/>
          <p:cNvSpPr/>
          <p:nvPr/>
        </p:nvSpPr>
        <p:spPr>
          <a:xfrm>
            <a:off x="457200" y="384048"/>
            <a:ext cx="2258568"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DATA ENGINEERING</a:t>
            </a:r>
            <a:endParaRPr lang="en-US" sz="1050" dirty="0"/>
          </a:p>
        </p:txBody>
      </p:sp>
      <p:sp>
        <p:nvSpPr>
          <p:cNvPr id="6" name="Text 4"/>
          <p:cNvSpPr/>
          <p:nvPr/>
        </p:nvSpPr>
        <p:spPr>
          <a:xfrm>
            <a:off x="457200" y="786384"/>
            <a:ext cx="10607040" cy="685800"/>
          </a:xfrm>
          <a:prstGeom prst="rect">
            <a:avLst/>
          </a:prstGeom>
          <a:noFill/>
          <a:ln/>
        </p:spPr>
        <p:txBody>
          <a:bodyPr wrap="square" lIns="0" tIns="0" rIns="0" bIns="0" rtlCol="0" anchor="ctr"/>
          <a:lstStyle/>
          <a:p>
            <a:pPr indent="0" marL="0">
              <a:buNone/>
            </a:pPr>
            <a:r>
              <a:rPr lang="en-US" sz="3000" b="1" dirty="0">
                <a:solidFill>
                  <a:srgbClr val="F2F6FA"/>
                </a:solidFill>
                <a:latin typeface="Cambria" pitchFamily="34" charset="0"/>
                <a:ea typeface="Cambria" pitchFamily="34" charset="-122"/>
                <a:cs typeface="Cambria" pitchFamily="34" charset="-120"/>
              </a:rPr>
              <a:t>Data Cleaning &amp; Transformation</a:t>
            </a:r>
            <a:endParaRPr lang="en-US" sz="3000" dirty="0"/>
          </a:p>
        </p:txBody>
      </p:sp>
      <p:sp>
        <p:nvSpPr>
          <p:cNvPr id="7" name="Shape 5"/>
          <p:cNvSpPr/>
          <p:nvPr/>
        </p:nvSpPr>
        <p:spPr>
          <a:xfrm>
            <a:off x="457200" y="1508760"/>
            <a:ext cx="5577840" cy="4846320"/>
          </a:xfrm>
          <a:prstGeom prst="roundRect">
            <a:avLst>
              <a:gd name="adj" fmla="val 1887"/>
            </a:avLst>
          </a:prstGeom>
          <a:solidFill>
            <a:srgbClr val="0F1E33"/>
          </a:solidFill>
          <a:ln w="12700">
            <a:solidFill>
              <a:srgbClr val="24405F"/>
            </a:solidFill>
            <a:prstDash val="solid"/>
          </a:ln>
        </p:spPr>
      </p:sp>
      <p:sp>
        <p:nvSpPr>
          <p:cNvPr id="8" name="Text 6"/>
          <p:cNvSpPr/>
          <p:nvPr/>
        </p:nvSpPr>
        <p:spPr>
          <a:xfrm>
            <a:off x="731520" y="1719072"/>
            <a:ext cx="5029200" cy="365760"/>
          </a:xfrm>
          <a:prstGeom prst="rect">
            <a:avLst/>
          </a:prstGeom>
          <a:noFill/>
          <a:ln/>
        </p:spPr>
        <p:txBody>
          <a:bodyPr wrap="square" lIns="0" tIns="0" rIns="0" bIns="0" rtlCol="0" anchor="ctr"/>
          <a:lstStyle/>
          <a:p>
            <a:pPr indent="0" marL="0">
              <a:buNone/>
            </a:pPr>
            <a:r>
              <a:rPr lang="en-US" sz="1600" b="1" dirty="0">
                <a:solidFill>
                  <a:srgbClr val="F2F6FA"/>
                </a:solidFill>
                <a:latin typeface="Cambria" pitchFamily="34" charset="0"/>
                <a:ea typeface="Cambria" pitchFamily="34" charset="-122"/>
                <a:cs typeface="Cambria" pitchFamily="34" charset="-120"/>
              </a:rPr>
              <a:t>Preprocessing Steps</a:t>
            </a:r>
            <a:endParaRPr lang="en-US" sz="1600" dirty="0"/>
          </a:p>
        </p:txBody>
      </p:sp>
      <p:sp>
        <p:nvSpPr>
          <p:cNvPr id="9" name="Shape 7"/>
          <p:cNvSpPr/>
          <p:nvPr/>
        </p:nvSpPr>
        <p:spPr>
          <a:xfrm>
            <a:off x="731520" y="2286000"/>
            <a:ext cx="274320" cy="274320"/>
          </a:xfrm>
          <a:prstGeom prst="ellipse">
            <a:avLst/>
          </a:prstGeom>
          <a:solidFill>
            <a:srgbClr val="1B324F"/>
          </a:solidFill>
          <a:ln/>
        </p:spPr>
      </p:sp>
      <p:pic>
        <p:nvPicPr>
          <p:cNvPr id="10" name="Image 0" descr="preencoded.png">    </p:cNvPr>
          <p:cNvPicPr>
            <a:picLocks noChangeAspect="1"/>
          </p:cNvPicPr>
          <p:nvPr/>
        </p:nvPicPr>
        <p:blipFill>
          <a:blip r:embed="rId1"/>
          <a:stretch>
            <a:fillRect/>
          </a:stretch>
        </p:blipFill>
        <p:spPr>
          <a:xfrm>
            <a:off x="767182" y="2321662"/>
            <a:ext cx="202997" cy="202997"/>
          </a:xfrm>
          <a:prstGeom prst="rect">
            <a:avLst/>
          </a:prstGeom>
        </p:spPr>
      </p:pic>
      <p:sp>
        <p:nvSpPr>
          <p:cNvPr id="11" name="Text 8"/>
          <p:cNvSpPr/>
          <p:nvPr/>
        </p:nvSpPr>
        <p:spPr>
          <a:xfrm>
            <a:off x="1152144" y="2240280"/>
            <a:ext cx="460857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Handling missing and null values</a:t>
            </a:r>
            <a:endParaRPr lang="en-US" sz="1200" dirty="0"/>
          </a:p>
        </p:txBody>
      </p:sp>
      <p:sp>
        <p:nvSpPr>
          <p:cNvPr id="12" name="Shape 9"/>
          <p:cNvSpPr/>
          <p:nvPr/>
        </p:nvSpPr>
        <p:spPr>
          <a:xfrm>
            <a:off x="731520" y="2848356"/>
            <a:ext cx="274320" cy="274320"/>
          </a:xfrm>
          <a:prstGeom prst="ellipse">
            <a:avLst/>
          </a:prstGeom>
          <a:solidFill>
            <a:srgbClr val="1B324F"/>
          </a:solidFill>
          <a:ln/>
        </p:spPr>
      </p:sp>
      <p:pic>
        <p:nvPicPr>
          <p:cNvPr id="13" name="Image 1" descr="preencoded.png">    </p:cNvPr>
          <p:cNvPicPr>
            <a:picLocks noChangeAspect="1"/>
          </p:cNvPicPr>
          <p:nvPr/>
        </p:nvPicPr>
        <p:blipFill>
          <a:blip r:embed="rId2"/>
          <a:stretch>
            <a:fillRect/>
          </a:stretch>
        </p:blipFill>
        <p:spPr>
          <a:xfrm>
            <a:off x="767182" y="2884018"/>
            <a:ext cx="202997" cy="202997"/>
          </a:xfrm>
          <a:prstGeom prst="rect">
            <a:avLst/>
          </a:prstGeom>
        </p:spPr>
      </p:pic>
      <p:sp>
        <p:nvSpPr>
          <p:cNvPr id="14" name="Text 10"/>
          <p:cNvSpPr/>
          <p:nvPr/>
        </p:nvSpPr>
        <p:spPr>
          <a:xfrm>
            <a:off x="1152144" y="2802636"/>
            <a:ext cx="460857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Standardizing inconsistent column names</a:t>
            </a:r>
            <a:endParaRPr lang="en-US" sz="1200" dirty="0"/>
          </a:p>
        </p:txBody>
      </p:sp>
      <p:sp>
        <p:nvSpPr>
          <p:cNvPr id="15" name="Shape 11"/>
          <p:cNvSpPr/>
          <p:nvPr/>
        </p:nvSpPr>
        <p:spPr>
          <a:xfrm>
            <a:off x="731520" y="3410712"/>
            <a:ext cx="274320" cy="274320"/>
          </a:xfrm>
          <a:prstGeom prst="ellipse">
            <a:avLst/>
          </a:prstGeom>
          <a:solidFill>
            <a:srgbClr val="1B324F"/>
          </a:solidFill>
          <a:ln/>
        </p:spPr>
      </p:sp>
      <p:pic>
        <p:nvPicPr>
          <p:cNvPr id="16" name="Image 2" descr="preencoded.png">    </p:cNvPr>
          <p:cNvPicPr>
            <a:picLocks noChangeAspect="1"/>
          </p:cNvPicPr>
          <p:nvPr/>
        </p:nvPicPr>
        <p:blipFill>
          <a:blip r:embed="rId3"/>
          <a:stretch>
            <a:fillRect/>
          </a:stretch>
        </p:blipFill>
        <p:spPr>
          <a:xfrm>
            <a:off x="767182" y="3446374"/>
            <a:ext cx="202997" cy="202997"/>
          </a:xfrm>
          <a:prstGeom prst="rect">
            <a:avLst/>
          </a:prstGeom>
        </p:spPr>
      </p:pic>
      <p:sp>
        <p:nvSpPr>
          <p:cNvPr id="17" name="Text 12"/>
          <p:cNvSpPr/>
          <p:nvPr/>
        </p:nvSpPr>
        <p:spPr>
          <a:xfrm>
            <a:off x="1152144" y="3364992"/>
            <a:ext cx="460857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Converting fields to correct data types</a:t>
            </a:r>
            <a:endParaRPr lang="en-US" sz="1200" dirty="0"/>
          </a:p>
        </p:txBody>
      </p:sp>
      <p:sp>
        <p:nvSpPr>
          <p:cNvPr id="18" name="Shape 13"/>
          <p:cNvSpPr/>
          <p:nvPr/>
        </p:nvSpPr>
        <p:spPr>
          <a:xfrm>
            <a:off x="731520" y="3973068"/>
            <a:ext cx="274320" cy="274320"/>
          </a:xfrm>
          <a:prstGeom prst="ellipse">
            <a:avLst/>
          </a:prstGeom>
          <a:solidFill>
            <a:srgbClr val="1B324F"/>
          </a:solidFill>
          <a:ln/>
        </p:spPr>
      </p:sp>
      <p:pic>
        <p:nvPicPr>
          <p:cNvPr id="19" name="Image 3" descr="preencoded.png">    </p:cNvPr>
          <p:cNvPicPr>
            <a:picLocks noChangeAspect="1"/>
          </p:cNvPicPr>
          <p:nvPr/>
        </p:nvPicPr>
        <p:blipFill>
          <a:blip r:embed="rId4"/>
          <a:stretch>
            <a:fillRect/>
          </a:stretch>
        </p:blipFill>
        <p:spPr>
          <a:xfrm>
            <a:off x="767182" y="4008730"/>
            <a:ext cx="202997" cy="202997"/>
          </a:xfrm>
          <a:prstGeom prst="rect">
            <a:avLst/>
          </a:prstGeom>
        </p:spPr>
      </p:pic>
      <p:sp>
        <p:nvSpPr>
          <p:cNvPr id="20" name="Text 14"/>
          <p:cNvSpPr/>
          <p:nvPr/>
        </p:nvSpPr>
        <p:spPr>
          <a:xfrm>
            <a:off x="1152144" y="3927348"/>
            <a:ext cx="460857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Cleaning numerical fields of stray text/units</a:t>
            </a:r>
            <a:endParaRPr lang="en-US" sz="1200" dirty="0"/>
          </a:p>
        </p:txBody>
      </p:sp>
      <p:sp>
        <p:nvSpPr>
          <p:cNvPr id="21" name="Shape 15"/>
          <p:cNvSpPr/>
          <p:nvPr/>
        </p:nvSpPr>
        <p:spPr>
          <a:xfrm>
            <a:off x="731520" y="4535424"/>
            <a:ext cx="274320" cy="274320"/>
          </a:xfrm>
          <a:prstGeom prst="ellipse">
            <a:avLst/>
          </a:prstGeom>
          <a:solidFill>
            <a:srgbClr val="1B324F"/>
          </a:solidFill>
          <a:ln/>
        </p:spPr>
      </p:sp>
      <p:pic>
        <p:nvPicPr>
          <p:cNvPr id="22" name="Image 4" descr="preencoded.png">    </p:cNvPr>
          <p:cNvPicPr>
            <a:picLocks noChangeAspect="1"/>
          </p:cNvPicPr>
          <p:nvPr/>
        </p:nvPicPr>
        <p:blipFill>
          <a:blip r:embed="rId5"/>
          <a:stretch>
            <a:fillRect/>
          </a:stretch>
        </p:blipFill>
        <p:spPr>
          <a:xfrm>
            <a:off x="767182" y="4571086"/>
            <a:ext cx="202997" cy="202997"/>
          </a:xfrm>
          <a:prstGeom prst="rect">
            <a:avLst/>
          </a:prstGeom>
        </p:spPr>
      </p:pic>
      <p:sp>
        <p:nvSpPr>
          <p:cNvPr id="23" name="Text 16"/>
          <p:cNvSpPr/>
          <p:nvPr/>
        </p:nvSpPr>
        <p:spPr>
          <a:xfrm>
            <a:off x="1152144" y="4489704"/>
            <a:ext cx="460857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Normalizing land area &amp; equipment counts to numeric form</a:t>
            </a:r>
            <a:endParaRPr lang="en-US" sz="1200" dirty="0"/>
          </a:p>
        </p:txBody>
      </p:sp>
      <p:sp>
        <p:nvSpPr>
          <p:cNvPr id="24" name="Shape 17"/>
          <p:cNvSpPr/>
          <p:nvPr/>
        </p:nvSpPr>
        <p:spPr>
          <a:xfrm>
            <a:off x="731520" y="5097780"/>
            <a:ext cx="274320" cy="274320"/>
          </a:xfrm>
          <a:prstGeom prst="ellipse">
            <a:avLst/>
          </a:prstGeom>
          <a:solidFill>
            <a:srgbClr val="1B324F"/>
          </a:solidFill>
          <a:ln/>
        </p:spPr>
      </p:sp>
      <p:pic>
        <p:nvPicPr>
          <p:cNvPr id="25" name="Image 5" descr="preencoded.png">    </p:cNvPr>
          <p:cNvPicPr>
            <a:picLocks noChangeAspect="1"/>
          </p:cNvPicPr>
          <p:nvPr/>
        </p:nvPicPr>
        <p:blipFill>
          <a:blip r:embed="rId6"/>
          <a:stretch>
            <a:fillRect/>
          </a:stretch>
        </p:blipFill>
        <p:spPr>
          <a:xfrm>
            <a:off x="767182" y="5133442"/>
            <a:ext cx="202997" cy="202997"/>
          </a:xfrm>
          <a:prstGeom prst="rect">
            <a:avLst/>
          </a:prstGeom>
        </p:spPr>
      </p:pic>
      <p:sp>
        <p:nvSpPr>
          <p:cNvPr id="26" name="Text 18"/>
          <p:cNvSpPr/>
          <p:nvPr/>
        </p:nvSpPr>
        <p:spPr>
          <a:xfrm>
            <a:off x="1152144" y="5052060"/>
            <a:ext cx="460857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Creating calculated measures for Power BI</a:t>
            </a:r>
            <a:endParaRPr lang="en-US" sz="1200" dirty="0"/>
          </a:p>
        </p:txBody>
      </p:sp>
      <p:sp>
        <p:nvSpPr>
          <p:cNvPr id="27" name="Shape 19"/>
          <p:cNvSpPr/>
          <p:nvPr/>
        </p:nvSpPr>
        <p:spPr>
          <a:xfrm>
            <a:off x="731520" y="5660136"/>
            <a:ext cx="274320" cy="274320"/>
          </a:xfrm>
          <a:prstGeom prst="ellipse">
            <a:avLst/>
          </a:prstGeom>
          <a:solidFill>
            <a:srgbClr val="1B324F"/>
          </a:solidFill>
          <a:ln/>
        </p:spPr>
      </p:sp>
      <p:pic>
        <p:nvPicPr>
          <p:cNvPr id="28" name="Image 6" descr="preencoded.png">    </p:cNvPr>
          <p:cNvPicPr>
            <a:picLocks noChangeAspect="1"/>
          </p:cNvPicPr>
          <p:nvPr/>
        </p:nvPicPr>
        <p:blipFill>
          <a:blip r:embed="rId7"/>
          <a:stretch>
            <a:fillRect/>
          </a:stretch>
        </p:blipFill>
        <p:spPr>
          <a:xfrm>
            <a:off x="767182" y="5695798"/>
            <a:ext cx="202997" cy="202997"/>
          </a:xfrm>
          <a:prstGeom prst="rect">
            <a:avLst/>
          </a:prstGeom>
        </p:spPr>
      </p:pic>
      <p:sp>
        <p:nvSpPr>
          <p:cNvPr id="29" name="Text 20"/>
          <p:cNvSpPr/>
          <p:nvPr/>
        </p:nvSpPr>
        <p:spPr>
          <a:xfrm>
            <a:off x="1152144" y="5614416"/>
            <a:ext cx="460857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Ensuring consistency across every country record</a:t>
            </a:r>
            <a:endParaRPr lang="en-US" sz="1200" dirty="0"/>
          </a:p>
        </p:txBody>
      </p:sp>
      <p:sp>
        <p:nvSpPr>
          <p:cNvPr id="30" name="Text 21"/>
          <p:cNvSpPr/>
          <p:nvPr/>
        </p:nvSpPr>
        <p:spPr>
          <a:xfrm>
            <a:off x="6355080" y="1719072"/>
            <a:ext cx="5376672" cy="365760"/>
          </a:xfrm>
          <a:prstGeom prst="rect">
            <a:avLst/>
          </a:prstGeom>
          <a:noFill/>
          <a:ln/>
        </p:spPr>
        <p:txBody>
          <a:bodyPr wrap="square" lIns="0" tIns="0" rIns="0" bIns="0" rtlCol="0" anchor="ctr"/>
          <a:lstStyle/>
          <a:p>
            <a:pPr indent="0" marL="0">
              <a:buNone/>
            </a:pPr>
            <a:r>
              <a:rPr lang="en-US" sz="1600" b="1" dirty="0">
                <a:solidFill>
                  <a:srgbClr val="F2F6FA"/>
                </a:solidFill>
                <a:latin typeface="Cambria" pitchFamily="34" charset="0"/>
                <a:ea typeface="Cambria" pitchFamily="34" charset="-122"/>
                <a:cs typeface="Cambria" pitchFamily="34" charset="-120"/>
              </a:rPr>
              <a:t>From Raw Data to Power BI</a:t>
            </a:r>
            <a:endParaRPr lang="en-US" sz="1600" dirty="0"/>
          </a:p>
        </p:txBody>
      </p:sp>
      <p:sp>
        <p:nvSpPr>
          <p:cNvPr id="31" name="Shape 22"/>
          <p:cNvSpPr/>
          <p:nvPr/>
        </p:nvSpPr>
        <p:spPr>
          <a:xfrm>
            <a:off x="6355080" y="2212848"/>
            <a:ext cx="5376672" cy="566928"/>
          </a:xfrm>
          <a:prstGeom prst="roundRect">
            <a:avLst>
              <a:gd name="adj" fmla="val 16129"/>
            </a:avLst>
          </a:prstGeom>
          <a:solidFill>
            <a:srgbClr val="13253F"/>
          </a:solidFill>
          <a:ln w="12700">
            <a:solidFill>
              <a:srgbClr val="24405F"/>
            </a:solidFill>
            <a:prstDash val="solid"/>
          </a:ln>
        </p:spPr>
      </p:sp>
      <p:sp>
        <p:nvSpPr>
          <p:cNvPr id="32" name="Shape 23"/>
          <p:cNvSpPr/>
          <p:nvPr/>
        </p:nvSpPr>
        <p:spPr>
          <a:xfrm>
            <a:off x="6446520" y="2286000"/>
            <a:ext cx="420624" cy="420624"/>
          </a:xfrm>
          <a:prstGeom prst="ellipse">
            <a:avLst/>
          </a:prstGeom>
          <a:solidFill>
            <a:srgbClr val="1B324F"/>
          </a:solidFill>
          <a:ln/>
        </p:spPr>
      </p:sp>
      <p:pic>
        <p:nvPicPr>
          <p:cNvPr id="33" name="Image 7" descr="preencoded.png">    </p:cNvPr>
          <p:cNvPicPr>
            <a:picLocks noChangeAspect="1"/>
          </p:cNvPicPr>
          <p:nvPr/>
        </p:nvPicPr>
        <p:blipFill>
          <a:blip r:embed="rId8"/>
          <a:stretch>
            <a:fillRect/>
          </a:stretch>
        </p:blipFill>
        <p:spPr>
          <a:xfrm>
            <a:off x="6501201" y="2340681"/>
            <a:ext cx="311262" cy="311262"/>
          </a:xfrm>
          <a:prstGeom prst="rect">
            <a:avLst/>
          </a:prstGeom>
        </p:spPr>
      </p:pic>
      <p:sp>
        <p:nvSpPr>
          <p:cNvPr id="34" name="Text 24"/>
          <p:cNvSpPr/>
          <p:nvPr/>
        </p:nvSpPr>
        <p:spPr>
          <a:xfrm>
            <a:off x="6976872" y="2212848"/>
            <a:ext cx="4645152" cy="566928"/>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Raw Data</a:t>
            </a:r>
            <a:endParaRPr lang="en-US" sz="1300" dirty="0"/>
          </a:p>
        </p:txBody>
      </p:sp>
      <p:sp>
        <p:nvSpPr>
          <p:cNvPr id="35" name="Text 25"/>
          <p:cNvSpPr/>
          <p:nvPr/>
        </p:nvSpPr>
        <p:spPr>
          <a:xfrm>
            <a:off x="6373368" y="2724912"/>
            <a:ext cx="457200" cy="256032"/>
          </a:xfrm>
          <a:prstGeom prst="rect">
            <a:avLst/>
          </a:prstGeom>
          <a:noFill/>
          <a:ln/>
        </p:spPr>
        <p:txBody>
          <a:bodyPr wrap="square" lIns="0" tIns="0" rIns="0" bIns="0"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a:t>
            </a:r>
            <a:endParaRPr lang="en-US" sz="1600" dirty="0"/>
          </a:p>
        </p:txBody>
      </p:sp>
      <p:sp>
        <p:nvSpPr>
          <p:cNvPr id="36" name="Shape 26"/>
          <p:cNvSpPr/>
          <p:nvPr/>
        </p:nvSpPr>
        <p:spPr>
          <a:xfrm>
            <a:off x="6355080" y="3035808"/>
            <a:ext cx="5376672" cy="566928"/>
          </a:xfrm>
          <a:prstGeom prst="roundRect">
            <a:avLst>
              <a:gd name="adj" fmla="val 16129"/>
            </a:avLst>
          </a:prstGeom>
          <a:solidFill>
            <a:srgbClr val="13253F"/>
          </a:solidFill>
          <a:ln w="12700">
            <a:solidFill>
              <a:srgbClr val="24405F"/>
            </a:solidFill>
            <a:prstDash val="solid"/>
          </a:ln>
        </p:spPr>
      </p:sp>
      <p:sp>
        <p:nvSpPr>
          <p:cNvPr id="37" name="Shape 27"/>
          <p:cNvSpPr/>
          <p:nvPr/>
        </p:nvSpPr>
        <p:spPr>
          <a:xfrm>
            <a:off x="6446520" y="3108960"/>
            <a:ext cx="420624" cy="420624"/>
          </a:xfrm>
          <a:prstGeom prst="ellipse">
            <a:avLst/>
          </a:prstGeom>
          <a:solidFill>
            <a:srgbClr val="1B324F"/>
          </a:solidFill>
          <a:ln/>
        </p:spPr>
      </p:sp>
      <p:pic>
        <p:nvPicPr>
          <p:cNvPr id="38" name="Image 8" descr="preencoded.png">    </p:cNvPr>
          <p:cNvPicPr>
            <a:picLocks noChangeAspect="1"/>
          </p:cNvPicPr>
          <p:nvPr/>
        </p:nvPicPr>
        <p:blipFill>
          <a:blip r:embed="rId9"/>
          <a:stretch>
            <a:fillRect/>
          </a:stretch>
        </p:blipFill>
        <p:spPr>
          <a:xfrm>
            <a:off x="6501201" y="3163641"/>
            <a:ext cx="311262" cy="311262"/>
          </a:xfrm>
          <a:prstGeom prst="rect">
            <a:avLst/>
          </a:prstGeom>
        </p:spPr>
      </p:pic>
      <p:sp>
        <p:nvSpPr>
          <p:cNvPr id="39" name="Text 28"/>
          <p:cNvSpPr/>
          <p:nvPr/>
        </p:nvSpPr>
        <p:spPr>
          <a:xfrm>
            <a:off x="6976872" y="3035808"/>
            <a:ext cx="4645152" cy="566928"/>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Cleaning</a:t>
            </a:r>
            <a:endParaRPr lang="en-US" sz="1300" dirty="0"/>
          </a:p>
        </p:txBody>
      </p:sp>
      <p:sp>
        <p:nvSpPr>
          <p:cNvPr id="40" name="Text 29"/>
          <p:cNvSpPr/>
          <p:nvPr/>
        </p:nvSpPr>
        <p:spPr>
          <a:xfrm>
            <a:off x="6373368" y="3547872"/>
            <a:ext cx="457200" cy="256032"/>
          </a:xfrm>
          <a:prstGeom prst="rect">
            <a:avLst/>
          </a:prstGeom>
          <a:noFill/>
          <a:ln/>
        </p:spPr>
        <p:txBody>
          <a:bodyPr wrap="square" lIns="0" tIns="0" rIns="0" bIns="0"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a:t>
            </a:r>
            <a:endParaRPr lang="en-US" sz="1600" dirty="0"/>
          </a:p>
        </p:txBody>
      </p:sp>
      <p:sp>
        <p:nvSpPr>
          <p:cNvPr id="41" name="Shape 30"/>
          <p:cNvSpPr/>
          <p:nvPr/>
        </p:nvSpPr>
        <p:spPr>
          <a:xfrm>
            <a:off x="6355080" y="3858768"/>
            <a:ext cx="5376672" cy="566928"/>
          </a:xfrm>
          <a:prstGeom prst="roundRect">
            <a:avLst>
              <a:gd name="adj" fmla="val 16129"/>
            </a:avLst>
          </a:prstGeom>
          <a:solidFill>
            <a:srgbClr val="13253F"/>
          </a:solidFill>
          <a:ln w="12700">
            <a:solidFill>
              <a:srgbClr val="24405F"/>
            </a:solidFill>
            <a:prstDash val="solid"/>
          </a:ln>
        </p:spPr>
      </p:sp>
      <p:sp>
        <p:nvSpPr>
          <p:cNvPr id="42" name="Shape 31"/>
          <p:cNvSpPr/>
          <p:nvPr/>
        </p:nvSpPr>
        <p:spPr>
          <a:xfrm>
            <a:off x="6446520" y="3931920"/>
            <a:ext cx="420624" cy="420624"/>
          </a:xfrm>
          <a:prstGeom prst="ellipse">
            <a:avLst/>
          </a:prstGeom>
          <a:solidFill>
            <a:srgbClr val="1B324F"/>
          </a:solidFill>
          <a:ln/>
        </p:spPr>
      </p:sp>
      <p:pic>
        <p:nvPicPr>
          <p:cNvPr id="43" name="Image 9" descr="preencoded.png">    </p:cNvPr>
          <p:cNvPicPr>
            <a:picLocks noChangeAspect="1"/>
          </p:cNvPicPr>
          <p:nvPr/>
        </p:nvPicPr>
        <p:blipFill>
          <a:blip r:embed="rId10"/>
          <a:stretch>
            <a:fillRect/>
          </a:stretch>
        </p:blipFill>
        <p:spPr>
          <a:xfrm>
            <a:off x="6501201" y="3986601"/>
            <a:ext cx="311262" cy="311262"/>
          </a:xfrm>
          <a:prstGeom prst="rect">
            <a:avLst/>
          </a:prstGeom>
        </p:spPr>
      </p:pic>
      <p:sp>
        <p:nvSpPr>
          <p:cNvPr id="44" name="Text 32"/>
          <p:cNvSpPr/>
          <p:nvPr/>
        </p:nvSpPr>
        <p:spPr>
          <a:xfrm>
            <a:off x="6976872" y="3858768"/>
            <a:ext cx="4645152" cy="566928"/>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Transformation</a:t>
            </a:r>
            <a:endParaRPr lang="en-US" sz="1300" dirty="0"/>
          </a:p>
        </p:txBody>
      </p:sp>
      <p:sp>
        <p:nvSpPr>
          <p:cNvPr id="45" name="Text 33"/>
          <p:cNvSpPr/>
          <p:nvPr/>
        </p:nvSpPr>
        <p:spPr>
          <a:xfrm>
            <a:off x="6373368" y="4370832"/>
            <a:ext cx="457200" cy="256032"/>
          </a:xfrm>
          <a:prstGeom prst="rect">
            <a:avLst/>
          </a:prstGeom>
          <a:noFill/>
          <a:ln/>
        </p:spPr>
        <p:txBody>
          <a:bodyPr wrap="square" lIns="0" tIns="0" rIns="0" bIns="0"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a:t>
            </a:r>
            <a:endParaRPr lang="en-US" sz="1600" dirty="0"/>
          </a:p>
        </p:txBody>
      </p:sp>
      <p:sp>
        <p:nvSpPr>
          <p:cNvPr id="46" name="Shape 34"/>
          <p:cNvSpPr/>
          <p:nvPr/>
        </p:nvSpPr>
        <p:spPr>
          <a:xfrm>
            <a:off x="6355080" y="4681728"/>
            <a:ext cx="5376672" cy="566928"/>
          </a:xfrm>
          <a:prstGeom prst="roundRect">
            <a:avLst>
              <a:gd name="adj" fmla="val 16129"/>
            </a:avLst>
          </a:prstGeom>
          <a:solidFill>
            <a:srgbClr val="13253F"/>
          </a:solidFill>
          <a:ln w="12700">
            <a:solidFill>
              <a:srgbClr val="24405F"/>
            </a:solidFill>
            <a:prstDash val="solid"/>
          </a:ln>
        </p:spPr>
      </p:sp>
      <p:sp>
        <p:nvSpPr>
          <p:cNvPr id="47" name="Shape 35"/>
          <p:cNvSpPr/>
          <p:nvPr/>
        </p:nvSpPr>
        <p:spPr>
          <a:xfrm>
            <a:off x="6446520" y="4754880"/>
            <a:ext cx="420624" cy="420624"/>
          </a:xfrm>
          <a:prstGeom prst="ellipse">
            <a:avLst/>
          </a:prstGeom>
          <a:solidFill>
            <a:srgbClr val="1B324F"/>
          </a:solidFill>
          <a:ln/>
        </p:spPr>
      </p:sp>
      <p:pic>
        <p:nvPicPr>
          <p:cNvPr id="48" name="Image 10" descr="preencoded.png">    </p:cNvPr>
          <p:cNvPicPr>
            <a:picLocks noChangeAspect="1"/>
          </p:cNvPicPr>
          <p:nvPr/>
        </p:nvPicPr>
        <p:blipFill>
          <a:blip r:embed="rId11"/>
          <a:stretch>
            <a:fillRect/>
          </a:stretch>
        </p:blipFill>
        <p:spPr>
          <a:xfrm>
            <a:off x="6501201" y="4809561"/>
            <a:ext cx="311262" cy="311262"/>
          </a:xfrm>
          <a:prstGeom prst="rect">
            <a:avLst/>
          </a:prstGeom>
        </p:spPr>
      </p:pic>
      <p:sp>
        <p:nvSpPr>
          <p:cNvPr id="49" name="Text 36"/>
          <p:cNvSpPr/>
          <p:nvPr/>
        </p:nvSpPr>
        <p:spPr>
          <a:xfrm>
            <a:off x="6976872" y="4681728"/>
            <a:ext cx="4645152" cy="566928"/>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Power BI-Ready Dataset</a:t>
            </a:r>
            <a:endParaRPr lang="en-US" sz="1300" dirty="0"/>
          </a:p>
        </p:txBody>
      </p:sp>
      <p:sp>
        <p:nvSpPr>
          <p:cNvPr id="50" name="Shape 37"/>
          <p:cNvSpPr/>
          <p:nvPr/>
        </p:nvSpPr>
        <p:spPr>
          <a:xfrm>
            <a:off x="6355080" y="5385816"/>
            <a:ext cx="5376672" cy="1051560"/>
          </a:xfrm>
          <a:prstGeom prst="roundRect">
            <a:avLst>
              <a:gd name="adj" fmla="val 8696"/>
            </a:avLst>
          </a:prstGeom>
          <a:solidFill>
            <a:srgbClr val="0F1E33"/>
          </a:solidFill>
          <a:ln w="12700">
            <a:solidFill>
              <a:srgbClr val="24405F"/>
            </a:solidFill>
            <a:prstDash val="solid"/>
          </a:ln>
        </p:spPr>
      </p:sp>
      <p:sp>
        <p:nvSpPr>
          <p:cNvPr id="51" name="Text 38"/>
          <p:cNvSpPr/>
          <p:nvPr/>
        </p:nvSpPr>
        <p:spPr>
          <a:xfrm>
            <a:off x="6583680" y="5477256"/>
            <a:ext cx="4919472" cy="274320"/>
          </a:xfrm>
          <a:prstGeom prst="rect">
            <a:avLst/>
          </a:prstGeom>
          <a:noFill/>
          <a:ln/>
        </p:spPr>
        <p:txBody>
          <a:bodyPr wrap="square" lIns="0" tIns="0" rIns="0" bIns="0" rtlCol="0" anchor="ctr"/>
          <a:lstStyle/>
          <a:p>
            <a:pPr indent="0" marL="0">
              <a:buNone/>
            </a:pPr>
            <a:r>
              <a:rPr lang="en-US" sz="1000" b="1" spc="50" kern="0" dirty="0">
                <a:solidFill>
                  <a:srgbClr val="5C7291"/>
                </a:solidFill>
                <a:latin typeface="Calibri" pitchFamily="34" charset="0"/>
                <a:ea typeface="Calibri" pitchFamily="34" charset="-122"/>
                <a:cs typeface="Calibri" pitchFamily="34" charset="-120"/>
              </a:rPr>
              <a:t>Example format conversion</a:t>
            </a:r>
            <a:endParaRPr lang="en-US" sz="1000" dirty="0"/>
          </a:p>
        </p:txBody>
      </p:sp>
      <p:sp>
        <p:nvSpPr>
          <p:cNvPr id="52" name="Text 39"/>
          <p:cNvSpPr/>
          <p:nvPr/>
        </p:nvSpPr>
        <p:spPr>
          <a:xfrm>
            <a:off x="6583680" y="5769864"/>
            <a:ext cx="4919472" cy="274320"/>
          </a:xfrm>
          <a:prstGeom prst="rect">
            <a:avLst/>
          </a:prstGeom>
          <a:noFill/>
          <a:ln/>
        </p:spPr>
        <p:txBody>
          <a:bodyPr wrap="square" lIns="0" tIns="0" rIns="0" bIns="0" rtlCol="0" anchor="ctr"/>
          <a:lstStyle/>
          <a:p>
            <a:pPr indent="0" marL="0">
              <a:buNone/>
            </a:pPr>
            <a:r>
              <a:rPr lang="en-US" sz="1150" b="1" dirty="0">
                <a:solidFill>
                  <a:srgbClr val="5C7291"/>
                </a:solidFill>
                <a:latin typeface="Consolas" pitchFamily="34" charset="0"/>
                <a:ea typeface="Consolas" pitchFamily="34" charset="-122"/>
                <a:cs typeface="Consolas" pitchFamily="34" charset="-120"/>
              </a:rPr>
              <a:t>Raw:  </a:t>
            </a:r>
            <a:pPr indent="0" marL="0">
              <a:buNone/>
            </a:pPr>
            <a:r>
              <a:rPr lang="en-US" sz="1150" dirty="0">
                <a:solidFill>
                  <a:srgbClr val="FFA94D"/>
                </a:solidFill>
                <a:latin typeface="Consolas" pitchFamily="34" charset="0"/>
                <a:ea typeface="Consolas" pitchFamily="34" charset="-122"/>
                <a:cs typeface="Consolas" pitchFamily="34" charset="-120"/>
              </a:rPr>
              <a:t>"1,234 km² (approx.)"</a:t>
            </a:r>
            <a:endParaRPr lang="en-US" sz="1150" dirty="0"/>
          </a:p>
        </p:txBody>
      </p:sp>
      <p:sp>
        <p:nvSpPr>
          <p:cNvPr id="53" name="Text 40"/>
          <p:cNvSpPr/>
          <p:nvPr/>
        </p:nvSpPr>
        <p:spPr>
          <a:xfrm>
            <a:off x="6583680" y="6062472"/>
            <a:ext cx="4919472" cy="274320"/>
          </a:xfrm>
          <a:prstGeom prst="rect">
            <a:avLst/>
          </a:prstGeom>
          <a:noFill/>
          <a:ln/>
        </p:spPr>
        <p:txBody>
          <a:bodyPr wrap="square" lIns="0" tIns="0" rIns="0" bIns="0" rtlCol="0" anchor="ctr"/>
          <a:lstStyle/>
          <a:p>
            <a:pPr indent="0" marL="0">
              <a:buNone/>
            </a:pPr>
            <a:r>
              <a:rPr lang="en-US" sz="1150" b="1" dirty="0">
                <a:solidFill>
                  <a:srgbClr val="5C7291"/>
                </a:solidFill>
                <a:latin typeface="Consolas" pitchFamily="34" charset="0"/>
                <a:ea typeface="Consolas" pitchFamily="34" charset="-122"/>
                <a:cs typeface="Consolas" pitchFamily="34" charset="-120"/>
              </a:rPr>
              <a:t>Clean:  </a:t>
            </a:r>
            <a:pPr indent="0" marL="0">
              <a:buNone/>
            </a:pPr>
            <a:r>
              <a:rPr lang="en-US" sz="1150" dirty="0">
                <a:solidFill>
                  <a:srgbClr val="00D4FF"/>
                </a:solidFill>
                <a:latin typeface="Consolas" pitchFamily="34" charset="0"/>
                <a:ea typeface="Consolas" pitchFamily="34" charset="-122"/>
                <a:cs typeface="Consolas" pitchFamily="34" charset="-120"/>
              </a:rPr>
              <a:t>1234.0  (numeric, sq. km)</a:t>
            </a:r>
            <a:endParaRPr lang="en-US" sz="1150" dirty="0"/>
          </a:p>
        </p:txBody>
      </p:sp>
      <p:sp>
        <p:nvSpPr>
          <p:cNvPr id="54" name="Text 41"/>
          <p:cNvSpPr/>
          <p:nvPr/>
        </p:nvSpPr>
        <p:spPr>
          <a:xfrm>
            <a:off x="457200" y="6528816"/>
            <a:ext cx="7315200" cy="256032"/>
          </a:xfrm>
          <a:prstGeom prst="rect">
            <a:avLst/>
          </a:prstGeom>
          <a:noFill/>
          <a:ln/>
        </p:spPr>
        <p:txBody>
          <a:bodyPr wrap="square" lIns="0" tIns="0" rIns="0" bIns="0" rtlCol="0" anchor="ctr"/>
          <a:lstStyle/>
          <a:p>
            <a:pPr indent="0" marL="0">
              <a:buNone/>
            </a:pPr>
            <a:r>
              <a:rPr lang="en-US" sz="800" spc="100" kern="0" dirty="0">
                <a:solidFill>
                  <a:srgbClr val="5C7291"/>
                </a:solidFill>
                <a:latin typeface="Calibri" pitchFamily="34" charset="0"/>
                <a:ea typeface="Calibri" pitchFamily="34" charset="-122"/>
                <a:cs typeface="Calibri" pitchFamily="34" charset="-120"/>
              </a:rPr>
              <a:t>UNIFIED MILITARY ANALYTICS &amp; COMPARISON DASHBOARD</a:t>
            </a:r>
            <a:endParaRPr lang="en-US" sz="800" dirty="0"/>
          </a:p>
        </p:txBody>
      </p:sp>
      <p:sp>
        <p:nvSpPr>
          <p:cNvPr id="55" name="Text 42"/>
          <p:cNvSpPr/>
          <p:nvPr/>
        </p:nvSpPr>
        <p:spPr>
          <a:xfrm>
            <a:off x="8991295" y="6528816"/>
            <a:ext cx="2743200" cy="256032"/>
          </a:xfrm>
          <a:prstGeom prst="rect">
            <a:avLst/>
          </a:prstGeom>
          <a:noFill/>
          <a:ln/>
        </p:spPr>
        <p:txBody>
          <a:bodyPr wrap="square" lIns="0" tIns="0" rIns="0" bIns="0" rtlCol="0" anchor="ctr"/>
          <a:lstStyle/>
          <a:p>
            <a:pPr algn="r" indent="0" marL="0">
              <a:buNone/>
            </a:pPr>
            <a:r>
              <a:rPr lang="en-US" sz="800" dirty="0">
                <a:solidFill>
                  <a:srgbClr val="5C7291"/>
                </a:solidFill>
                <a:latin typeface="Calibri" pitchFamily="34" charset="0"/>
                <a:ea typeface="Calibri" pitchFamily="34" charset="-122"/>
                <a:cs typeface="Calibri" pitchFamily="34" charset="-120"/>
              </a:rPr>
              <a:t>Soniya K   |   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457200" y="384048"/>
            <a:ext cx="2807208" cy="310896"/>
          </a:xfrm>
          <a:prstGeom prst="roundRect">
            <a:avLst>
              <a:gd name="adj" fmla="val 50000"/>
            </a:avLst>
          </a:prstGeom>
          <a:solidFill>
            <a:srgbClr val="13253F"/>
          </a:solidFill>
          <a:ln w="9525">
            <a:solidFill>
              <a:srgbClr val="24405F"/>
            </a:solidFill>
            <a:prstDash val="solid"/>
          </a:ln>
        </p:spPr>
      </p:sp>
      <p:sp>
        <p:nvSpPr>
          <p:cNvPr id="5" name="Text 3"/>
          <p:cNvSpPr/>
          <p:nvPr/>
        </p:nvSpPr>
        <p:spPr>
          <a:xfrm>
            <a:off x="457200" y="384048"/>
            <a:ext cx="2807208"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QUICK STATS DASHBOARD</a:t>
            </a:r>
            <a:endParaRPr lang="en-US" sz="1050" dirty="0"/>
          </a:p>
        </p:txBody>
      </p:sp>
      <p:sp>
        <p:nvSpPr>
          <p:cNvPr id="6" name="Text 4"/>
          <p:cNvSpPr/>
          <p:nvPr/>
        </p:nvSpPr>
        <p:spPr>
          <a:xfrm>
            <a:off x="457200" y="786384"/>
            <a:ext cx="10607040" cy="685800"/>
          </a:xfrm>
          <a:prstGeom prst="rect">
            <a:avLst/>
          </a:prstGeom>
          <a:noFill/>
          <a:ln/>
        </p:spPr>
        <p:txBody>
          <a:bodyPr wrap="square" lIns="0" tIns="0" rIns="0" bIns="0" rtlCol="0" anchor="ctr"/>
          <a:lstStyle/>
          <a:p>
            <a:pPr indent="0" marL="0">
              <a:buNone/>
            </a:pPr>
            <a:r>
              <a:rPr lang="en-US" sz="3000" b="1" dirty="0">
                <a:solidFill>
                  <a:srgbClr val="F2F6FA"/>
                </a:solidFill>
                <a:latin typeface="Cambria" pitchFamily="34" charset="0"/>
                <a:ea typeface="Cambria" pitchFamily="34" charset="-122"/>
                <a:cs typeface="Cambria" pitchFamily="34" charset="-120"/>
              </a:rPr>
              <a:t>KPIs &amp; Quick Stats</a:t>
            </a:r>
            <a:endParaRPr lang="en-US" sz="3000" dirty="0"/>
          </a:p>
        </p:txBody>
      </p:sp>
      <p:sp>
        <p:nvSpPr>
          <p:cNvPr id="7" name="Text 5"/>
          <p:cNvSpPr/>
          <p:nvPr/>
        </p:nvSpPr>
        <p:spPr>
          <a:xfrm>
            <a:off x="457200" y="1481328"/>
            <a:ext cx="10607040" cy="457200"/>
          </a:xfrm>
          <a:prstGeom prst="rect">
            <a:avLst/>
          </a:prstGeom>
          <a:noFill/>
          <a:ln/>
        </p:spPr>
        <p:txBody>
          <a:bodyPr wrap="square" lIns="0" tIns="0" rIns="0" bIns="0" rtlCol="0" anchor="ctr"/>
          <a:lstStyle/>
          <a:p>
            <a:pPr indent="0" marL="0">
              <a:buNone/>
            </a:pPr>
            <a:r>
              <a:rPr lang="en-US" sz="1250" dirty="0">
                <a:solidFill>
                  <a:srgbClr val="9BB0CC"/>
                </a:solidFill>
                <a:latin typeface="Calibri" pitchFamily="34" charset="0"/>
                <a:ea typeface="Calibri" pitchFamily="34" charset="-122"/>
                <a:cs typeface="Calibri" pitchFamily="34" charset="-120"/>
              </a:rPr>
              <a:t>A high-level summary page giving users an at-a-glance read of global military capability — no manual digging required.</a:t>
            </a:r>
            <a:endParaRPr lang="en-US" sz="1250" dirty="0"/>
          </a:p>
        </p:txBody>
      </p:sp>
      <p:sp>
        <p:nvSpPr>
          <p:cNvPr id="8" name="Shape 6"/>
          <p:cNvSpPr/>
          <p:nvPr/>
        </p:nvSpPr>
        <p:spPr>
          <a:xfrm>
            <a:off x="457200" y="2148840"/>
            <a:ext cx="1810512" cy="1691640"/>
          </a:xfrm>
          <a:prstGeom prst="roundRect">
            <a:avLst>
              <a:gd name="adj" fmla="val 5405"/>
            </a:avLst>
          </a:prstGeom>
          <a:solidFill>
            <a:srgbClr val="0F1E33"/>
          </a:solidFill>
          <a:ln w="12700">
            <a:solidFill>
              <a:srgbClr val="24405F"/>
            </a:solidFill>
            <a:prstDash val="solid"/>
          </a:ln>
        </p:spPr>
      </p:sp>
      <p:sp>
        <p:nvSpPr>
          <p:cNvPr id="9" name="Shape 7"/>
          <p:cNvSpPr/>
          <p:nvPr/>
        </p:nvSpPr>
        <p:spPr>
          <a:xfrm>
            <a:off x="1078992" y="2350008"/>
            <a:ext cx="566928" cy="566928"/>
          </a:xfrm>
          <a:prstGeom prst="ellipse">
            <a:avLst/>
          </a:prstGeom>
          <a:solidFill>
            <a:srgbClr val="1B324F"/>
          </a:solidFill>
          <a:ln/>
        </p:spPr>
      </p:sp>
      <p:pic>
        <p:nvPicPr>
          <p:cNvPr id="10" name="Image 0" descr="preencoded.png">    </p:cNvPr>
          <p:cNvPicPr>
            <a:picLocks noChangeAspect="1"/>
          </p:cNvPicPr>
          <p:nvPr/>
        </p:nvPicPr>
        <p:blipFill>
          <a:blip r:embed="rId1"/>
          <a:stretch>
            <a:fillRect/>
          </a:stretch>
        </p:blipFill>
        <p:spPr>
          <a:xfrm>
            <a:off x="1152693" y="2423709"/>
            <a:ext cx="419527" cy="419527"/>
          </a:xfrm>
          <a:prstGeom prst="rect">
            <a:avLst/>
          </a:prstGeom>
        </p:spPr>
      </p:pic>
      <p:sp>
        <p:nvSpPr>
          <p:cNvPr id="11" name="Text 8"/>
          <p:cNvSpPr/>
          <p:nvPr/>
        </p:nvSpPr>
        <p:spPr>
          <a:xfrm>
            <a:off x="530352" y="3044952"/>
            <a:ext cx="1664208" cy="685800"/>
          </a:xfrm>
          <a:prstGeom prst="rect">
            <a:avLst/>
          </a:prstGeom>
          <a:noFill/>
          <a:ln/>
        </p:spPr>
        <p:txBody>
          <a:bodyPr wrap="square" lIns="0" tIns="0" rIns="0" bIns="0" rtlCol="0" anchor="ctr"/>
          <a:lstStyle/>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Countries</a:t>
            </a:r>
            <a:endParaRPr lang="en-US" sz="1150" dirty="0"/>
          </a:p>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Analyzed</a:t>
            </a:r>
            <a:endParaRPr lang="en-US" sz="1150" dirty="0"/>
          </a:p>
        </p:txBody>
      </p:sp>
      <p:sp>
        <p:nvSpPr>
          <p:cNvPr id="12" name="Shape 9"/>
          <p:cNvSpPr/>
          <p:nvPr/>
        </p:nvSpPr>
        <p:spPr>
          <a:xfrm>
            <a:off x="2322576" y="2148840"/>
            <a:ext cx="1810512" cy="1691640"/>
          </a:xfrm>
          <a:prstGeom prst="roundRect">
            <a:avLst>
              <a:gd name="adj" fmla="val 5405"/>
            </a:avLst>
          </a:prstGeom>
          <a:solidFill>
            <a:srgbClr val="0F1E33"/>
          </a:solidFill>
          <a:ln w="12700">
            <a:solidFill>
              <a:srgbClr val="24405F"/>
            </a:solidFill>
            <a:prstDash val="solid"/>
          </a:ln>
        </p:spPr>
      </p:sp>
      <p:sp>
        <p:nvSpPr>
          <p:cNvPr id="13" name="Shape 10"/>
          <p:cNvSpPr/>
          <p:nvPr/>
        </p:nvSpPr>
        <p:spPr>
          <a:xfrm>
            <a:off x="2944368" y="2350008"/>
            <a:ext cx="566928" cy="566928"/>
          </a:xfrm>
          <a:prstGeom prst="ellipse">
            <a:avLst/>
          </a:prstGeom>
          <a:solidFill>
            <a:srgbClr val="1B324F"/>
          </a:solidFill>
          <a:ln/>
        </p:spPr>
      </p:sp>
      <p:pic>
        <p:nvPicPr>
          <p:cNvPr id="14" name="Image 1" descr="preencoded.png">    </p:cNvPr>
          <p:cNvPicPr>
            <a:picLocks noChangeAspect="1"/>
          </p:cNvPicPr>
          <p:nvPr/>
        </p:nvPicPr>
        <p:blipFill>
          <a:blip r:embed="rId2"/>
          <a:stretch>
            <a:fillRect/>
          </a:stretch>
        </p:blipFill>
        <p:spPr>
          <a:xfrm>
            <a:off x="3018069" y="2423709"/>
            <a:ext cx="419527" cy="419527"/>
          </a:xfrm>
          <a:prstGeom prst="rect">
            <a:avLst/>
          </a:prstGeom>
        </p:spPr>
      </p:pic>
      <p:sp>
        <p:nvSpPr>
          <p:cNvPr id="15" name="Text 11"/>
          <p:cNvSpPr/>
          <p:nvPr/>
        </p:nvSpPr>
        <p:spPr>
          <a:xfrm>
            <a:off x="2395728" y="3044952"/>
            <a:ext cx="1664208" cy="685800"/>
          </a:xfrm>
          <a:prstGeom prst="rect">
            <a:avLst/>
          </a:prstGeom>
          <a:noFill/>
          <a:ln/>
        </p:spPr>
        <p:txBody>
          <a:bodyPr wrap="square" lIns="0" tIns="0" rIns="0" bIns="0" rtlCol="0" anchor="ctr"/>
          <a:lstStyle/>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Global Military</a:t>
            </a:r>
            <a:endParaRPr lang="en-US" sz="1150" dirty="0"/>
          </a:p>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Ranking</a:t>
            </a:r>
            <a:endParaRPr lang="en-US" sz="1150" dirty="0"/>
          </a:p>
        </p:txBody>
      </p:sp>
      <p:sp>
        <p:nvSpPr>
          <p:cNvPr id="16" name="Shape 12"/>
          <p:cNvSpPr/>
          <p:nvPr/>
        </p:nvSpPr>
        <p:spPr>
          <a:xfrm>
            <a:off x="4187952" y="2148840"/>
            <a:ext cx="1810512" cy="1691640"/>
          </a:xfrm>
          <a:prstGeom prst="roundRect">
            <a:avLst>
              <a:gd name="adj" fmla="val 5405"/>
            </a:avLst>
          </a:prstGeom>
          <a:solidFill>
            <a:srgbClr val="0F1E33"/>
          </a:solidFill>
          <a:ln w="12700">
            <a:solidFill>
              <a:srgbClr val="24405F"/>
            </a:solidFill>
            <a:prstDash val="solid"/>
          </a:ln>
        </p:spPr>
      </p:sp>
      <p:sp>
        <p:nvSpPr>
          <p:cNvPr id="17" name="Shape 13"/>
          <p:cNvSpPr/>
          <p:nvPr/>
        </p:nvSpPr>
        <p:spPr>
          <a:xfrm>
            <a:off x="4809744" y="2350008"/>
            <a:ext cx="566928" cy="566928"/>
          </a:xfrm>
          <a:prstGeom prst="ellipse">
            <a:avLst/>
          </a:prstGeom>
          <a:solidFill>
            <a:srgbClr val="1B324F"/>
          </a:solidFill>
          <a:ln/>
        </p:spPr>
      </p:sp>
      <p:pic>
        <p:nvPicPr>
          <p:cNvPr id="18" name="Image 2" descr="preencoded.png">    </p:cNvPr>
          <p:cNvPicPr>
            <a:picLocks noChangeAspect="1"/>
          </p:cNvPicPr>
          <p:nvPr/>
        </p:nvPicPr>
        <p:blipFill>
          <a:blip r:embed="rId3"/>
          <a:stretch>
            <a:fillRect/>
          </a:stretch>
        </p:blipFill>
        <p:spPr>
          <a:xfrm>
            <a:off x="4883445" y="2423709"/>
            <a:ext cx="419527" cy="419527"/>
          </a:xfrm>
          <a:prstGeom prst="rect">
            <a:avLst/>
          </a:prstGeom>
        </p:spPr>
      </p:pic>
      <p:sp>
        <p:nvSpPr>
          <p:cNvPr id="19" name="Text 14"/>
          <p:cNvSpPr/>
          <p:nvPr/>
        </p:nvSpPr>
        <p:spPr>
          <a:xfrm>
            <a:off x="4261104" y="3044952"/>
            <a:ext cx="1664208" cy="685800"/>
          </a:xfrm>
          <a:prstGeom prst="rect">
            <a:avLst/>
          </a:prstGeom>
          <a:noFill/>
          <a:ln/>
        </p:spPr>
        <p:txBody>
          <a:bodyPr wrap="square" lIns="0" tIns="0" rIns="0" bIns="0" rtlCol="0" anchor="ctr"/>
          <a:lstStyle/>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Power</a:t>
            </a:r>
            <a:endParaRPr lang="en-US" sz="1150" dirty="0"/>
          </a:p>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Index</a:t>
            </a:r>
            <a:endParaRPr lang="en-US" sz="1150" dirty="0"/>
          </a:p>
        </p:txBody>
      </p:sp>
      <p:sp>
        <p:nvSpPr>
          <p:cNvPr id="20" name="Shape 15"/>
          <p:cNvSpPr/>
          <p:nvPr/>
        </p:nvSpPr>
        <p:spPr>
          <a:xfrm>
            <a:off x="6053328" y="2148840"/>
            <a:ext cx="1810512" cy="1691640"/>
          </a:xfrm>
          <a:prstGeom prst="roundRect">
            <a:avLst>
              <a:gd name="adj" fmla="val 5405"/>
            </a:avLst>
          </a:prstGeom>
          <a:solidFill>
            <a:srgbClr val="0F1E33"/>
          </a:solidFill>
          <a:ln w="12700">
            <a:solidFill>
              <a:srgbClr val="24405F"/>
            </a:solidFill>
            <a:prstDash val="solid"/>
          </a:ln>
        </p:spPr>
      </p:sp>
      <p:sp>
        <p:nvSpPr>
          <p:cNvPr id="21" name="Shape 16"/>
          <p:cNvSpPr/>
          <p:nvPr/>
        </p:nvSpPr>
        <p:spPr>
          <a:xfrm>
            <a:off x="6675120" y="2350008"/>
            <a:ext cx="566928" cy="566928"/>
          </a:xfrm>
          <a:prstGeom prst="ellipse">
            <a:avLst/>
          </a:prstGeom>
          <a:solidFill>
            <a:srgbClr val="1B324F"/>
          </a:solidFill>
          <a:ln/>
        </p:spPr>
      </p:sp>
      <p:pic>
        <p:nvPicPr>
          <p:cNvPr id="22" name="Image 3" descr="preencoded.png">    </p:cNvPr>
          <p:cNvPicPr>
            <a:picLocks noChangeAspect="1"/>
          </p:cNvPicPr>
          <p:nvPr/>
        </p:nvPicPr>
        <p:blipFill>
          <a:blip r:embed="rId4"/>
          <a:stretch>
            <a:fillRect/>
          </a:stretch>
        </p:blipFill>
        <p:spPr>
          <a:xfrm>
            <a:off x="6748821" y="2423709"/>
            <a:ext cx="419527" cy="419527"/>
          </a:xfrm>
          <a:prstGeom prst="rect">
            <a:avLst/>
          </a:prstGeom>
        </p:spPr>
      </p:pic>
      <p:sp>
        <p:nvSpPr>
          <p:cNvPr id="23" name="Text 17"/>
          <p:cNvSpPr/>
          <p:nvPr/>
        </p:nvSpPr>
        <p:spPr>
          <a:xfrm>
            <a:off x="6126480" y="3044952"/>
            <a:ext cx="1664208" cy="685800"/>
          </a:xfrm>
          <a:prstGeom prst="rect">
            <a:avLst/>
          </a:prstGeom>
          <a:noFill/>
          <a:ln/>
        </p:spPr>
        <p:txBody>
          <a:bodyPr wrap="square" lIns="0" tIns="0" rIns="0" bIns="0" rtlCol="0" anchor="ctr"/>
          <a:lstStyle/>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Total Military</a:t>
            </a:r>
            <a:endParaRPr lang="en-US" sz="1150" dirty="0"/>
          </a:p>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Personnel</a:t>
            </a:r>
            <a:endParaRPr lang="en-US" sz="1150" dirty="0"/>
          </a:p>
        </p:txBody>
      </p:sp>
      <p:sp>
        <p:nvSpPr>
          <p:cNvPr id="24" name="Shape 18"/>
          <p:cNvSpPr/>
          <p:nvPr/>
        </p:nvSpPr>
        <p:spPr>
          <a:xfrm>
            <a:off x="7918704" y="2148840"/>
            <a:ext cx="1810512" cy="1691640"/>
          </a:xfrm>
          <a:prstGeom prst="roundRect">
            <a:avLst>
              <a:gd name="adj" fmla="val 5405"/>
            </a:avLst>
          </a:prstGeom>
          <a:solidFill>
            <a:srgbClr val="0F1E33"/>
          </a:solidFill>
          <a:ln w="12700">
            <a:solidFill>
              <a:srgbClr val="24405F"/>
            </a:solidFill>
            <a:prstDash val="solid"/>
          </a:ln>
        </p:spPr>
      </p:sp>
      <p:sp>
        <p:nvSpPr>
          <p:cNvPr id="25" name="Shape 19"/>
          <p:cNvSpPr/>
          <p:nvPr/>
        </p:nvSpPr>
        <p:spPr>
          <a:xfrm>
            <a:off x="8540496" y="2350008"/>
            <a:ext cx="566928" cy="566928"/>
          </a:xfrm>
          <a:prstGeom prst="ellipse">
            <a:avLst/>
          </a:prstGeom>
          <a:solidFill>
            <a:srgbClr val="1B324F"/>
          </a:solidFill>
          <a:ln/>
        </p:spPr>
      </p:sp>
      <p:pic>
        <p:nvPicPr>
          <p:cNvPr id="26" name="Image 4" descr="preencoded.png">    </p:cNvPr>
          <p:cNvPicPr>
            <a:picLocks noChangeAspect="1"/>
          </p:cNvPicPr>
          <p:nvPr/>
        </p:nvPicPr>
        <p:blipFill>
          <a:blip r:embed="rId5"/>
          <a:stretch>
            <a:fillRect/>
          </a:stretch>
        </p:blipFill>
        <p:spPr>
          <a:xfrm>
            <a:off x="8614197" y="2423709"/>
            <a:ext cx="419527" cy="419527"/>
          </a:xfrm>
          <a:prstGeom prst="rect">
            <a:avLst/>
          </a:prstGeom>
        </p:spPr>
      </p:pic>
      <p:sp>
        <p:nvSpPr>
          <p:cNvPr id="27" name="Text 20"/>
          <p:cNvSpPr/>
          <p:nvPr/>
        </p:nvSpPr>
        <p:spPr>
          <a:xfrm>
            <a:off x="7991856" y="3044952"/>
            <a:ext cx="1664208" cy="685800"/>
          </a:xfrm>
          <a:prstGeom prst="rect">
            <a:avLst/>
          </a:prstGeom>
          <a:noFill/>
          <a:ln/>
        </p:spPr>
        <p:txBody>
          <a:bodyPr wrap="square" lIns="0" tIns="0" rIns="0" bIns="0" rtlCol="0" anchor="ctr"/>
          <a:lstStyle/>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Aircraft</a:t>
            </a:r>
            <a:endParaRPr lang="en-US" sz="1150" dirty="0"/>
          </a:p>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Fleet</a:t>
            </a:r>
            <a:endParaRPr lang="en-US" sz="1150" dirty="0"/>
          </a:p>
        </p:txBody>
      </p:sp>
      <p:sp>
        <p:nvSpPr>
          <p:cNvPr id="28" name="Shape 21"/>
          <p:cNvSpPr/>
          <p:nvPr/>
        </p:nvSpPr>
        <p:spPr>
          <a:xfrm>
            <a:off x="9784080" y="2148840"/>
            <a:ext cx="1810512" cy="1691640"/>
          </a:xfrm>
          <a:prstGeom prst="roundRect">
            <a:avLst>
              <a:gd name="adj" fmla="val 5405"/>
            </a:avLst>
          </a:prstGeom>
          <a:solidFill>
            <a:srgbClr val="0F1E33"/>
          </a:solidFill>
          <a:ln w="12700">
            <a:solidFill>
              <a:srgbClr val="24405F"/>
            </a:solidFill>
            <a:prstDash val="solid"/>
          </a:ln>
        </p:spPr>
      </p:sp>
      <p:sp>
        <p:nvSpPr>
          <p:cNvPr id="29" name="Shape 22"/>
          <p:cNvSpPr/>
          <p:nvPr/>
        </p:nvSpPr>
        <p:spPr>
          <a:xfrm>
            <a:off x="10405872" y="2350008"/>
            <a:ext cx="566928" cy="566928"/>
          </a:xfrm>
          <a:prstGeom prst="ellipse">
            <a:avLst/>
          </a:prstGeom>
          <a:solidFill>
            <a:srgbClr val="1B324F"/>
          </a:solidFill>
          <a:ln/>
        </p:spPr>
      </p:sp>
      <p:pic>
        <p:nvPicPr>
          <p:cNvPr id="30" name="Image 5" descr="preencoded.png">    </p:cNvPr>
          <p:cNvPicPr>
            <a:picLocks noChangeAspect="1"/>
          </p:cNvPicPr>
          <p:nvPr/>
        </p:nvPicPr>
        <p:blipFill>
          <a:blip r:embed="rId6"/>
          <a:stretch>
            <a:fillRect/>
          </a:stretch>
        </p:blipFill>
        <p:spPr>
          <a:xfrm>
            <a:off x="10479573" y="2423709"/>
            <a:ext cx="419527" cy="419527"/>
          </a:xfrm>
          <a:prstGeom prst="rect">
            <a:avLst/>
          </a:prstGeom>
        </p:spPr>
      </p:pic>
      <p:sp>
        <p:nvSpPr>
          <p:cNvPr id="31" name="Text 23"/>
          <p:cNvSpPr/>
          <p:nvPr/>
        </p:nvSpPr>
        <p:spPr>
          <a:xfrm>
            <a:off x="9857232" y="3044952"/>
            <a:ext cx="1664208" cy="685800"/>
          </a:xfrm>
          <a:prstGeom prst="rect">
            <a:avLst/>
          </a:prstGeom>
          <a:noFill/>
          <a:ln/>
        </p:spPr>
        <p:txBody>
          <a:bodyPr wrap="square" lIns="0" tIns="0" rIns="0" bIns="0" rtlCol="0" anchor="ctr"/>
          <a:lstStyle/>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Defense</a:t>
            </a:r>
            <a:endParaRPr lang="en-US" sz="1150" dirty="0"/>
          </a:p>
          <a:p>
            <a:pPr algn="ctr" indent="0" marL="0">
              <a:lnSpc>
                <a:spcPct val="105000"/>
              </a:lnSpc>
              <a:buNone/>
            </a:pPr>
            <a:r>
              <a:rPr lang="en-US" sz="1150" b="1" dirty="0">
                <a:solidFill>
                  <a:srgbClr val="F2F6FA"/>
                </a:solidFill>
                <a:latin typeface="Calibri" pitchFamily="34" charset="0"/>
                <a:ea typeface="Calibri" pitchFamily="34" charset="-122"/>
                <a:cs typeface="Calibri" pitchFamily="34" charset="-120"/>
              </a:rPr>
              <a:t>Budget</a:t>
            </a:r>
            <a:endParaRPr lang="en-US" sz="1150" dirty="0"/>
          </a:p>
        </p:txBody>
      </p:sp>
      <p:sp>
        <p:nvSpPr>
          <p:cNvPr id="32" name="Shape 24"/>
          <p:cNvSpPr/>
          <p:nvPr/>
        </p:nvSpPr>
        <p:spPr>
          <a:xfrm>
            <a:off x="457200" y="4069080"/>
            <a:ext cx="6537960" cy="2148840"/>
          </a:xfrm>
          <a:prstGeom prst="roundRect">
            <a:avLst>
              <a:gd name="adj" fmla="val 4255"/>
            </a:avLst>
          </a:prstGeom>
          <a:solidFill>
            <a:srgbClr val="0F1E33"/>
          </a:solidFill>
          <a:ln w="12700">
            <a:solidFill>
              <a:srgbClr val="24405F"/>
            </a:solidFill>
            <a:prstDash val="solid"/>
          </a:ln>
        </p:spPr>
      </p:sp>
      <p:sp>
        <p:nvSpPr>
          <p:cNvPr id="33" name="Text 25"/>
          <p:cNvSpPr/>
          <p:nvPr/>
        </p:nvSpPr>
        <p:spPr>
          <a:xfrm>
            <a:off x="685800" y="4206240"/>
            <a:ext cx="6035040" cy="274320"/>
          </a:xfrm>
          <a:prstGeom prst="rect">
            <a:avLst/>
          </a:prstGeom>
          <a:noFill/>
          <a:ln/>
        </p:spPr>
        <p:txBody>
          <a:bodyPr wrap="square" lIns="0" tIns="0" rIns="0" bIns="0" rtlCol="0" anchor="ctr"/>
          <a:lstStyle/>
          <a:p>
            <a:pPr indent="0" marL="0">
              <a:buNone/>
            </a:pPr>
            <a:r>
              <a:rPr lang="en-US" sz="1050" b="1" dirty="0">
                <a:solidFill>
                  <a:srgbClr val="5C7291"/>
                </a:solidFill>
                <a:latin typeface="Calibri" pitchFamily="34" charset="0"/>
                <a:ea typeface="Calibri" pitchFamily="34" charset="-122"/>
                <a:cs typeface="Calibri" pitchFamily="34" charset="-120"/>
              </a:rPr>
              <a:t>Military Personnel by Region  —  illustrative view</a:t>
            </a:r>
            <a:endParaRPr lang="en-US" sz="1050" dirty="0"/>
          </a:p>
        </p:txBody>
      </p:sp>
      <p:sp>
        <p:nvSpPr>
          <p:cNvPr id="34" name="Shape 26"/>
          <p:cNvSpPr/>
          <p:nvPr/>
        </p:nvSpPr>
        <p:spPr>
          <a:xfrm>
            <a:off x="868680" y="5486400"/>
            <a:ext cx="566928" cy="502920"/>
          </a:xfrm>
          <a:prstGeom prst="roundRect">
            <a:avLst>
              <a:gd name="adj" fmla="val 7273"/>
            </a:avLst>
          </a:prstGeom>
          <a:solidFill>
            <a:srgbClr val="2E9BF5">
              <a:alpha val="65000"/>
            </a:srgbClr>
          </a:solidFill>
          <a:ln/>
        </p:spPr>
      </p:sp>
      <p:sp>
        <p:nvSpPr>
          <p:cNvPr id="35" name="Shape 27"/>
          <p:cNvSpPr/>
          <p:nvPr/>
        </p:nvSpPr>
        <p:spPr>
          <a:xfrm>
            <a:off x="1755648" y="5074920"/>
            <a:ext cx="566928" cy="914400"/>
          </a:xfrm>
          <a:prstGeom prst="roundRect">
            <a:avLst>
              <a:gd name="adj" fmla="val 6452"/>
            </a:avLst>
          </a:prstGeom>
          <a:solidFill>
            <a:srgbClr val="2E9BF5">
              <a:alpha val="65000"/>
            </a:srgbClr>
          </a:solidFill>
          <a:ln/>
        </p:spPr>
      </p:sp>
      <p:sp>
        <p:nvSpPr>
          <p:cNvPr id="36" name="Shape 28"/>
          <p:cNvSpPr/>
          <p:nvPr/>
        </p:nvSpPr>
        <p:spPr>
          <a:xfrm>
            <a:off x="2642616" y="5303520"/>
            <a:ext cx="566928" cy="685800"/>
          </a:xfrm>
          <a:prstGeom prst="roundRect">
            <a:avLst>
              <a:gd name="adj" fmla="val 6452"/>
            </a:avLst>
          </a:prstGeom>
          <a:solidFill>
            <a:srgbClr val="2E9BF5">
              <a:alpha val="65000"/>
            </a:srgbClr>
          </a:solidFill>
          <a:ln/>
        </p:spPr>
      </p:sp>
      <p:sp>
        <p:nvSpPr>
          <p:cNvPr id="37" name="Shape 29"/>
          <p:cNvSpPr/>
          <p:nvPr/>
        </p:nvSpPr>
        <p:spPr>
          <a:xfrm>
            <a:off x="3529584" y="4800600"/>
            <a:ext cx="566928" cy="1188720"/>
          </a:xfrm>
          <a:prstGeom prst="roundRect">
            <a:avLst>
              <a:gd name="adj" fmla="val 6452"/>
            </a:avLst>
          </a:prstGeom>
          <a:solidFill>
            <a:srgbClr val="00D4FF"/>
          </a:solidFill>
          <a:ln/>
        </p:spPr>
      </p:sp>
      <p:sp>
        <p:nvSpPr>
          <p:cNvPr id="38" name="Shape 30"/>
          <p:cNvSpPr/>
          <p:nvPr/>
        </p:nvSpPr>
        <p:spPr>
          <a:xfrm>
            <a:off x="4416552" y="5166360"/>
            <a:ext cx="566928" cy="822960"/>
          </a:xfrm>
          <a:prstGeom prst="roundRect">
            <a:avLst>
              <a:gd name="adj" fmla="val 6452"/>
            </a:avLst>
          </a:prstGeom>
          <a:solidFill>
            <a:srgbClr val="2E9BF5">
              <a:alpha val="65000"/>
            </a:srgbClr>
          </a:solidFill>
          <a:ln/>
        </p:spPr>
      </p:sp>
      <p:sp>
        <p:nvSpPr>
          <p:cNvPr id="39" name="Shape 31"/>
          <p:cNvSpPr/>
          <p:nvPr/>
        </p:nvSpPr>
        <p:spPr>
          <a:xfrm>
            <a:off x="5303520" y="5394960"/>
            <a:ext cx="566928" cy="594360"/>
          </a:xfrm>
          <a:prstGeom prst="roundRect">
            <a:avLst>
              <a:gd name="adj" fmla="val 6452"/>
            </a:avLst>
          </a:prstGeom>
          <a:solidFill>
            <a:srgbClr val="2E9BF5">
              <a:alpha val="65000"/>
            </a:srgbClr>
          </a:solidFill>
          <a:ln/>
        </p:spPr>
      </p:sp>
      <p:sp>
        <p:nvSpPr>
          <p:cNvPr id="40" name="Shape 32"/>
          <p:cNvSpPr/>
          <p:nvPr/>
        </p:nvSpPr>
        <p:spPr>
          <a:xfrm>
            <a:off x="7196328" y="4069080"/>
            <a:ext cx="4535424" cy="2148840"/>
          </a:xfrm>
          <a:prstGeom prst="roundRect">
            <a:avLst>
              <a:gd name="adj" fmla="val 4255"/>
            </a:avLst>
          </a:prstGeom>
          <a:solidFill>
            <a:srgbClr val="0F1E33"/>
          </a:solidFill>
          <a:ln w="12700">
            <a:solidFill>
              <a:srgbClr val="24405F"/>
            </a:solidFill>
            <a:prstDash val="solid"/>
          </a:ln>
        </p:spPr>
      </p:sp>
      <p:sp>
        <p:nvSpPr>
          <p:cNvPr id="41" name="Shape 33"/>
          <p:cNvSpPr/>
          <p:nvPr/>
        </p:nvSpPr>
        <p:spPr>
          <a:xfrm>
            <a:off x="7434072" y="4297680"/>
            <a:ext cx="457200" cy="457200"/>
          </a:xfrm>
          <a:prstGeom prst="ellipse">
            <a:avLst/>
          </a:prstGeom>
          <a:solidFill>
            <a:srgbClr val="1B324F"/>
          </a:solidFill>
          <a:ln/>
        </p:spPr>
      </p:sp>
      <p:pic>
        <p:nvPicPr>
          <p:cNvPr id="42" name="Image 6" descr="preencoded.png">    </p:cNvPr>
          <p:cNvPicPr>
            <a:picLocks noChangeAspect="1"/>
          </p:cNvPicPr>
          <p:nvPr/>
        </p:nvPicPr>
        <p:blipFill>
          <a:blip r:embed="rId7"/>
          <a:stretch>
            <a:fillRect/>
          </a:stretch>
        </p:blipFill>
        <p:spPr>
          <a:xfrm>
            <a:off x="7493508" y="4357116"/>
            <a:ext cx="338328" cy="338328"/>
          </a:xfrm>
          <a:prstGeom prst="rect">
            <a:avLst/>
          </a:prstGeom>
        </p:spPr>
      </p:pic>
      <p:sp>
        <p:nvSpPr>
          <p:cNvPr id="43" name="Text 34"/>
          <p:cNvSpPr/>
          <p:nvPr/>
        </p:nvSpPr>
        <p:spPr>
          <a:xfrm>
            <a:off x="7434072" y="4846320"/>
            <a:ext cx="4023360" cy="1234440"/>
          </a:xfrm>
          <a:prstGeom prst="rect">
            <a:avLst/>
          </a:prstGeom>
          <a:noFill/>
          <a:ln/>
        </p:spPr>
        <p:txBody>
          <a:bodyPr wrap="square" lIns="0" tIns="0" rIns="0" bIns="0" rtlCol="0" anchor="ctr"/>
          <a:lstStyle/>
          <a:p>
            <a:pPr indent="0" marL="0">
              <a:lnSpc>
                <a:spcPct val="115000"/>
              </a:lnSpc>
              <a:buNone/>
            </a:pPr>
            <a:r>
              <a:rPr lang="en-US" sz="1300" i="1" dirty="0">
                <a:solidFill>
                  <a:srgbClr val="F2F6FA"/>
                </a:solidFill>
                <a:latin typeface="Calibri" pitchFamily="34" charset="0"/>
                <a:ea typeface="Calibri" pitchFamily="34" charset="-122"/>
                <a:cs typeface="Calibri" pitchFamily="34" charset="-120"/>
              </a:rPr>
              <a:t>Quick Stats = fast, high-level understanding of global military capability.</a:t>
            </a:r>
            <a:endParaRPr lang="en-US" sz="1300" dirty="0"/>
          </a:p>
        </p:txBody>
      </p:sp>
      <p:sp>
        <p:nvSpPr>
          <p:cNvPr id="44" name="Text 35"/>
          <p:cNvSpPr/>
          <p:nvPr/>
        </p:nvSpPr>
        <p:spPr>
          <a:xfrm>
            <a:off x="457200" y="6528816"/>
            <a:ext cx="7315200" cy="256032"/>
          </a:xfrm>
          <a:prstGeom prst="rect">
            <a:avLst/>
          </a:prstGeom>
          <a:noFill/>
          <a:ln/>
        </p:spPr>
        <p:txBody>
          <a:bodyPr wrap="square" lIns="0" tIns="0" rIns="0" bIns="0" rtlCol="0" anchor="ctr"/>
          <a:lstStyle/>
          <a:p>
            <a:pPr indent="0" marL="0">
              <a:buNone/>
            </a:pPr>
            <a:r>
              <a:rPr lang="en-US" sz="800" spc="100" kern="0" dirty="0">
                <a:solidFill>
                  <a:srgbClr val="5C7291"/>
                </a:solidFill>
                <a:latin typeface="Calibri" pitchFamily="34" charset="0"/>
                <a:ea typeface="Calibri" pitchFamily="34" charset="-122"/>
                <a:cs typeface="Calibri" pitchFamily="34" charset="-120"/>
              </a:rPr>
              <a:t>UNIFIED MILITARY ANALYTICS &amp; COMPARISON DASHBOARD</a:t>
            </a:r>
            <a:endParaRPr lang="en-US" sz="800" dirty="0"/>
          </a:p>
        </p:txBody>
      </p:sp>
      <p:sp>
        <p:nvSpPr>
          <p:cNvPr id="45" name="Text 36"/>
          <p:cNvSpPr/>
          <p:nvPr/>
        </p:nvSpPr>
        <p:spPr>
          <a:xfrm>
            <a:off x="8991295" y="6528816"/>
            <a:ext cx="2743200" cy="256032"/>
          </a:xfrm>
          <a:prstGeom prst="rect">
            <a:avLst/>
          </a:prstGeom>
          <a:noFill/>
          <a:ln/>
        </p:spPr>
        <p:txBody>
          <a:bodyPr wrap="square" lIns="0" tIns="0" rIns="0" bIns="0" rtlCol="0" anchor="ctr"/>
          <a:lstStyle/>
          <a:p>
            <a:pPr algn="r" indent="0" marL="0">
              <a:buNone/>
            </a:pPr>
            <a:r>
              <a:rPr lang="en-US" sz="800" dirty="0">
                <a:solidFill>
                  <a:srgbClr val="5C7291"/>
                </a:solidFill>
                <a:latin typeface="Calibri" pitchFamily="34" charset="0"/>
                <a:ea typeface="Calibri" pitchFamily="34" charset="-122"/>
                <a:cs typeface="Calibri" pitchFamily="34" charset="-120"/>
              </a:rPr>
              <a:t>Indu Burujula   |   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457200" y="384048"/>
            <a:ext cx="2478024" cy="310896"/>
          </a:xfrm>
          <a:prstGeom prst="roundRect">
            <a:avLst>
              <a:gd name="adj" fmla="val 50000"/>
            </a:avLst>
          </a:prstGeom>
          <a:solidFill>
            <a:srgbClr val="13253F"/>
          </a:solidFill>
          <a:ln w="9525">
            <a:solidFill>
              <a:srgbClr val="24405F"/>
            </a:solidFill>
            <a:prstDash val="solid"/>
          </a:ln>
        </p:spPr>
      </p:sp>
      <p:sp>
        <p:nvSpPr>
          <p:cNvPr id="5" name="Text 3"/>
          <p:cNvSpPr/>
          <p:nvPr/>
        </p:nvSpPr>
        <p:spPr>
          <a:xfrm>
            <a:off x="457200" y="384048"/>
            <a:ext cx="2478024"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COUNTRY-LEVEL VIEW</a:t>
            </a:r>
            <a:endParaRPr lang="en-US" sz="1050" dirty="0"/>
          </a:p>
        </p:txBody>
      </p:sp>
      <p:sp>
        <p:nvSpPr>
          <p:cNvPr id="6" name="Text 4"/>
          <p:cNvSpPr/>
          <p:nvPr/>
        </p:nvSpPr>
        <p:spPr>
          <a:xfrm>
            <a:off x="457200" y="786384"/>
            <a:ext cx="10607040" cy="685800"/>
          </a:xfrm>
          <a:prstGeom prst="rect">
            <a:avLst/>
          </a:prstGeom>
          <a:noFill/>
          <a:ln/>
        </p:spPr>
        <p:txBody>
          <a:bodyPr wrap="square" lIns="0" tIns="0" rIns="0" bIns="0" rtlCol="0" anchor="ctr"/>
          <a:lstStyle/>
          <a:p>
            <a:pPr indent="0" marL="0">
              <a:buNone/>
            </a:pPr>
            <a:r>
              <a:rPr lang="en-US" sz="3000" b="1" dirty="0">
                <a:solidFill>
                  <a:srgbClr val="F2F6FA"/>
                </a:solidFill>
                <a:latin typeface="Cambria" pitchFamily="34" charset="0"/>
                <a:ea typeface="Cambria" pitchFamily="34" charset="-122"/>
                <a:cs typeface="Cambria" pitchFamily="34" charset="-120"/>
              </a:rPr>
              <a:t>Nation Overview</a:t>
            </a:r>
            <a:endParaRPr lang="en-US" sz="3000" dirty="0"/>
          </a:p>
        </p:txBody>
      </p:sp>
      <p:sp>
        <p:nvSpPr>
          <p:cNvPr id="7" name="Shape 5"/>
          <p:cNvSpPr/>
          <p:nvPr/>
        </p:nvSpPr>
        <p:spPr>
          <a:xfrm>
            <a:off x="457200" y="1508760"/>
            <a:ext cx="3246120" cy="4846320"/>
          </a:xfrm>
          <a:prstGeom prst="roundRect">
            <a:avLst>
              <a:gd name="adj" fmla="val 2817"/>
            </a:avLst>
          </a:prstGeom>
          <a:solidFill>
            <a:srgbClr val="0F1E33"/>
          </a:solidFill>
          <a:ln w="12700">
            <a:solidFill>
              <a:srgbClr val="24405F"/>
            </a:solidFill>
            <a:prstDash val="solid"/>
          </a:ln>
        </p:spPr>
      </p:sp>
      <p:sp>
        <p:nvSpPr>
          <p:cNvPr id="8" name="Text 6"/>
          <p:cNvSpPr/>
          <p:nvPr/>
        </p:nvSpPr>
        <p:spPr>
          <a:xfrm>
            <a:off x="713232" y="1737360"/>
            <a:ext cx="2743200" cy="274320"/>
          </a:xfrm>
          <a:prstGeom prst="rect">
            <a:avLst/>
          </a:prstGeom>
          <a:noFill/>
          <a:ln/>
        </p:spPr>
        <p:txBody>
          <a:bodyPr wrap="square" lIns="0" tIns="0" rIns="0" bIns="0" rtlCol="0" anchor="ctr"/>
          <a:lstStyle/>
          <a:p>
            <a:pPr indent="0" marL="0">
              <a:buNone/>
            </a:pPr>
            <a:r>
              <a:rPr lang="en-US" sz="1050" b="1" spc="50" kern="0" dirty="0">
                <a:solidFill>
                  <a:srgbClr val="5C7291"/>
                </a:solidFill>
                <a:latin typeface="Calibri" pitchFamily="34" charset="0"/>
                <a:ea typeface="Calibri" pitchFamily="34" charset="-122"/>
                <a:cs typeface="Calibri" pitchFamily="34" charset="-120"/>
              </a:rPr>
              <a:t>Select Country</a:t>
            </a:r>
            <a:endParaRPr lang="en-US" sz="1050" dirty="0"/>
          </a:p>
        </p:txBody>
      </p:sp>
      <p:sp>
        <p:nvSpPr>
          <p:cNvPr id="9" name="Shape 7"/>
          <p:cNvSpPr/>
          <p:nvPr/>
        </p:nvSpPr>
        <p:spPr>
          <a:xfrm>
            <a:off x="713232" y="2057400"/>
            <a:ext cx="2743200" cy="502920"/>
          </a:xfrm>
          <a:prstGeom prst="roundRect">
            <a:avLst>
              <a:gd name="adj" fmla="val 18182"/>
            </a:avLst>
          </a:prstGeom>
          <a:solidFill>
            <a:srgbClr val="13253F"/>
          </a:solidFill>
          <a:ln w="12700">
            <a:solidFill>
              <a:srgbClr val="24405F"/>
            </a:solidFill>
            <a:prstDash val="solid"/>
          </a:ln>
        </p:spPr>
      </p:sp>
      <p:sp>
        <p:nvSpPr>
          <p:cNvPr id="10" name="Shape 8"/>
          <p:cNvSpPr/>
          <p:nvPr/>
        </p:nvSpPr>
        <p:spPr>
          <a:xfrm>
            <a:off x="859536" y="2130552"/>
            <a:ext cx="347472" cy="347472"/>
          </a:xfrm>
          <a:prstGeom prst="ellipse">
            <a:avLst/>
          </a:prstGeom>
          <a:solidFill>
            <a:srgbClr val="13253F"/>
          </a:solidFill>
          <a:ln w="9525">
            <a:solidFill>
              <a:srgbClr val="24405F"/>
            </a:solidFill>
            <a:prstDash val="solid"/>
          </a:ln>
        </p:spPr>
      </p:sp>
      <p:pic>
        <p:nvPicPr>
          <p:cNvPr id="11" name="Image 0" descr="preencoded.png">    </p:cNvPr>
          <p:cNvPicPr>
            <a:picLocks noChangeAspect="1"/>
          </p:cNvPicPr>
          <p:nvPr/>
        </p:nvPicPr>
        <p:blipFill>
          <a:blip r:embed="rId1"/>
          <a:stretch>
            <a:fillRect/>
          </a:stretch>
        </p:blipFill>
        <p:spPr>
          <a:xfrm>
            <a:off x="904707" y="2175723"/>
            <a:ext cx="257129" cy="257129"/>
          </a:xfrm>
          <a:prstGeom prst="rect">
            <a:avLst/>
          </a:prstGeom>
        </p:spPr>
      </p:pic>
      <p:sp>
        <p:nvSpPr>
          <p:cNvPr id="12" name="Text 9"/>
          <p:cNvSpPr/>
          <p:nvPr/>
        </p:nvSpPr>
        <p:spPr>
          <a:xfrm>
            <a:off x="1316736" y="2057400"/>
            <a:ext cx="2011680" cy="502920"/>
          </a:xfrm>
          <a:prstGeom prst="rect">
            <a:avLst/>
          </a:prstGeom>
          <a:noFill/>
          <a:ln/>
        </p:spPr>
        <p:txBody>
          <a:bodyPr wrap="square" lIns="0" tIns="0" rIns="0" bIns="0" rtlCol="0" anchor="ctr"/>
          <a:lstStyle/>
          <a:p>
            <a:pPr indent="0" marL="0">
              <a:buNone/>
            </a:pPr>
            <a:r>
              <a:rPr lang="en-US" sz="1200" dirty="0">
                <a:solidFill>
                  <a:srgbClr val="F2F6FA"/>
                </a:solidFill>
                <a:latin typeface="Calibri" pitchFamily="34" charset="0"/>
                <a:ea typeface="Calibri" pitchFamily="34" charset="-122"/>
                <a:cs typeface="Calibri" pitchFamily="34" charset="-120"/>
              </a:rPr>
              <a:t>Country Filter ▾</a:t>
            </a:r>
            <a:endParaRPr lang="en-US" sz="1200" dirty="0"/>
          </a:p>
        </p:txBody>
      </p:sp>
      <p:sp>
        <p:nvSpPr>
          <p:cNvPr id="13" name="Shape 10"/>
          <p:cNvSpPr/>
          <p:nvPr/>
        </p:nvSpPr>
        <p:spPr>
          <a:xfrm>
            <a:off x="914400" y="3063240"/>
            <a:ext cx="1920240" cy="1920240"/>
          </a:xfrm>
          <a:prstGeom prst="ellipse">
            <a:avLst/>
          </a:prstGeom>
          <a:solidFill>
            <a:srgbClr val="13253F"/>
          </a:solidFill>
          <a:ln/>
        </p:spPr>
      </p:sp>
      <p:pic>
        <p:nvPicPr>
          <p:cNvPr id="14" name="Image 1" descr="preencoded.png">    </p:cNvPr>
          <p:cNvPicPr>
            <a:picLocks noChangeAspect="1"/>
          </p:cNvPicPr>
          <p:nvPr/>
        </p:nvPicPr>
        <p:blipFill>
          <a:blip r:embed="rId2"/>
          <a:stretch>
            <a:fillRect/>
          </a:stretch>
        </p:blipFill>
        <p:spPr>
          <a:xfrm>
            <a:off x="1164031" y="3312871"/>
            <a:ext cx="1420978" cy="1420978"/>
          </a:xfrm>
          <a:prstGeom prst="rect">
            <a:avLst/>
          </a:prstGeom>
        </p:spPr>
      </p:pic>
      <p:sp>
        <p:nvSpPr>
          <p:cNvPr id="15" name="Text 11"/>
          <p:cNvSpPr/>
          <p:nvPr/>
        </p:nvSpPr>
        <p:spPr>
          <a:xfrm>
            <a:off x="713232" y="5257800"/>
            <a:ext cx="2743200" cy="822960"/>
          </a:xfrm>
          <a:prstGeom prst="rect">
            <a:avLst/>
          </a:prstGeom>
          <a:noFill/>
          <a:ln/>
        </p:spPr>
        <p:txBody>
          <a:bodyPr wrap="square" lIns="0" tIns="0" rIns="0" bIns="0" rtlCol="0" anchor="ctr"/>
          <a:lstStyle/>
          <a:p>
            <a:pPr indent="0" marL="0">
              <a:lnSpc>
                <a:spcPct val="110000"/>
              </a:lnSpc>
              <a:buNone/>
            </a:pPr>
            <a:r>
              <a:rPr lang="en-US" sz="1150" i="1" dirty="0">
                <a:solidFill>
                  <a:srgbClr val="9BB0CC"/>
                </a:solidFill>
                <a:latin typeface="Calibri" pitchFamily="34" charset="0"/>
                <a:ea typeface="Calibri" pitchFamily="34" charset="-122"/>
                <a:cs typeface="Calibri" pitchFamily="34" charset="-120"/>
              </a:rPr>
              <a:t>Global → single-nation drill-down</a:t>
            </a:r>
            <a:endParaRPr lang="en-US" sz="1150" dirty="0"/>
          </a:p>
        </p:txBody>
      </p:sp>
      <p:sp>
        <p:nvSpPr>
          <p:cNvPr id="16" name="Shape 12"/>
          <p:cNvSpPr/>
          <p:nvPr/>
        </p:nvSpPr>
        <p:spPr>
          <a:xfrm>
            <a:off x="3977640" y="1508760"/>
            <a:ext cx="2487168" cy="758952"/>
          </a:xfrm>
          <a:prstGeom prst="roundRect">
            <a:avLst>
              <a:gd name="adj" fmla="val 12048"/>
            </a:avLst>
          </a:prstGeom>
          <a:solidFill>
            <a:srgbClr val="0F1E33"/>
          </a:solidFill>
          <a:ln w="12700">
            <a:solidFill>
              <a:srgbClr val="24405F"/>
            </a:solidFill>
            <a:prstDash val="solid"/>
          </a:ln>
        </p:spPr>
      </p:sp>
      <p:sp>
        <p:nvSpPr>
          <p:cNvPr id="17" name="Shape 13"/>
          <p:cNvSpPr/>
          <p:nvPr/>
        </p:nvSpPr>
        <p:spPr>
          <a:xfrm>
            <a:off x="4105656" y="1696212"/>
            <a:ext cx="384048" cy="384048"/>
          </a:xfrm>
          <a:prstGeom prst="ellipse">
            <a:avLst/>
          </a:prstGeom>
          <a:solidFill>
            <a:srgbClr val="1B324F"/>
          </a:solidFill>
          <a:ln/>
        </p:spPr>
      </p:sp>
      <p:pic>
        <p:nvPicPr>
          <p:cNvPr id="18" name="Image 2" descr="preencoded.png">    </p:cNvPr>
          <p:cNvPicPr>
            <a:picLocks noChangeAspect="1"/>
          </p:cNvPicPr>
          <p:nvPr/>
        </p:nvPicPr>
        <p:blipFill>
          <a:blip r:embed="rId3"/>
          <a:stretch>
            <a:fillRect/>
          </a:stretch>
        </p:blipFill>
        <p:spPr>
          <a:xfrm>
            <a:off x="4155582" y="1746138"/>
            <a:ext cx="284196" cy="284196"/>
          </a:xfrm>
          <a:prstGeom prst="rect">
            <a:avLst/>
          </a:prstGeom>
        </p:spPr>
      </p:pic>
      <p:sp>
        <p:nvSpPr>
          <p:cNvPr id="19" name="Text 14"/>
          <p:cNvSpPr/>
          <p:nvPr/>
        </p:nvSpPr>
        <p:spPr>
          <a:xfrm>
            <a:off x="4572000" y="1508760"/>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Country Ranking</a:t>
            </a:r>
            <a:endParaRPr lang="en-US" sz="1050" dirty="0"/>
          </a:p>
        </p:txBody>
      </p:sp>
      <p:sp>
        <p:nvSpPr>
          <p:cNvPr id="20" name="Shape 15"/>
          <p:cNvSpPr/>
          <p:nvPr/>
        </p:nvSpPr>
        <p:spPr>
          <a:xfrm>
            <a:off x="6601968" y="1508760"/>
            <a:ext cx="2487168" cy="758952"/>
          </a:xfrm>
          <a:prstGeom prst="roundRect">
            <a:avLst>
              <a:gd name="adj" fmla="val 12048"/>
            </a:avLst>
          </a:prstGeom>
          <a:solidFill>
            <a:srgbClr val="0F1E33"/>
          </a:solidFill>
          <a:ln w="12700">
            <a:solidFill>
              <a:srgbClr val="24405F"/>
            </a:solidFill>
            <a:prstDash val="solid"/>
          </a:ln>
        </p:spPr>
      </p:sp>
      <p:sp>
        <p:nvSpPr>
          <p:cNvPr id="21" name="Shape 16"/>
          <p:cNvSpPr/>
          <p:nvPr/>
        </p:nvSpPr>
        <p:spPr>
          <a:xfrm>
            <a:off x="6729984" y="1696212"/>
            <a:ext cx="384048" cy="384048"/>
          </a:xfrm>
          <a:prstGeom prst="ellipse">
            <a:avLst/>
          </a:prstGeom>
          <a:solidFill>
            <a:srgbClr val="1B324F"/>
          </a:solidFill>
          <a:ln/>
        </p:spPr>
      </p:sp>
      <p:pic>
        <p:nvPicPr>
          <p:cNvPr id="22" name="Image 3" descr="preencoded.png">    </p:cNvPr>
          <p:cNvPicPr>
            <a:picLocks noChangeAspect="1"/>
          </p:cNvPicPr>
          <p:nvPr/>
        </p:nvPicPr>
        <p:blipFill>
          <a:blip r:embed="rId4"/>
          <a:stretch>
            <a:fillRect/>
          </a:stretch>
        </p:blipFill>
        <p:spPr>
          <a:xfrm>
            <a:off x="6779910" y="1746138"/>
            <a:ext cx="284196" cy="284196"/>
          </a:xfrm>
          <a:prstGeom prst="rect">
            <a:avLst/>
          </a:prstGeom>
        </p:spPr>
      </p:pic>
      <p:sp>
        <p:nvSpPr>
          <p:cNvPr id="23" name="Text 17"/>
          <p:cNvSpPr/>
          <p:nvPr/>
        </p:nvSpPr>
        <p:spPr>
          <a:xfrm>
            <a:off x="7196328" y="1508760"/>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Power Index</a:t>
            </a:r>
            <a:endParaRPr lang="en-US" sz="1050" dirty="0"/>
          </a:p>
        </p:txBody>
      </p:sp>
      <p:sp>
        <p:nvSpPr>
          <p:cNvPr id="24" name="Shape 18"/>
          <p:cNvSpPr/>
          <p:nvPr/>
        </p:nvSpPr>
        <p:spPr>
          <a:xfrm>
            <a:off x="9226296" y="1508760"/>
            <a:ext cx="2487168" cy="758952"/>
          </a:xfrm>
          <a:prstGeom prst="roundRect">
            <a:avLst>
              <a:gd name="adj" fmla="val 12048"/>
            </a:avLst>
          </a:prstGeom>
          <a:solidFill>
            <a:srgbClr val="0F1E33"/>
          </a:solidFill>
          <a:ln w="12700">
            <a:solidFill>
              <a:srgbClr val="24405F"/>
            </a:solidFill>
            <a:prstDash val="solid"/>
          </a:ln>
        </p:spPr>
      </p:sp>
      <p:sp>
        <p:nvSpPr>
          <p:cNvPr id="25" name="Shape 19"/>
          <p:cNvSpPr/>
          <p:nvPr/>
        </p:nvSpPr>
        <p:spPr>
          <a:xfrm>
            <a:off x="9354312" y="1696212"/>
            <a:ext cx="384048" cy="384048"/>
          </a:xfrm>
          <a:prstGeom prst="ellipse">
            <a:avLst/>
          </a:prstGeom>
          <a:solidFill>
            <a:srgbClr val="1B324F"/>
          </a:solidFill>
          <a:ln/>
        </p:spPr>
      </p:sp>
      <p:pic>
        <p:nvPicPr>
          <p:cNvPr id="26" name="Image 4" descr="preencoded.png">    </p:cNvPr>
          <p:cNvPicPr>
            <a:picLocks noChangeAspect="1"/>
          </p:cNvPicPr>
          <p:nvPr/>
        </p:nvPicPr>
        <p:blipFill>
          <a:blip r:embed="rId5"/>
          <a:stretch>
            <a:fillRect/>
          </a:stretch>
        </p:blipFill>
        <p:spPr>
          <a:xfrm>
            <a:off x="9404238" y="1746138"/>
            <a:ext cx="284196" cy="284196"/>
          </a:xfrm>
          <a:prstGeom prst="rect">
            <a:avLst/>
          </a:prstGeom>
        </p:spPr>
      </p:pic>
      <p:sp>
        <p:nvSpPr>
          <p:cNvPr id="27" name="Text 20"/>
          <p:cNvSpPr/>
          <p:nvPr/>
        </p:nvSpPr>
        <p:spPr>
          <a:xfrm>
            <a:off x="9820656" y="1508760"/>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Population</a:t>
            </a:r>
            <a:endParaRPr lang="en-US" sz="1050" dirty="0"/>
          </a:p>
        </p:txBody>
      </p:sp>
      <p:sp>
        <p:nvSpPr>
          <p:cNvPr id="28" name="Shape 21"/>
          <p:cNvSpPr/>
          <p:nvPr/>
        </p:nvSpPr>
        <p:spPr>
          <a:xfrm>
            <a:off x="3977640" y="2404872"/>
            <a:ext cx="2487168" cy="758952"/>
          </a:xfrm>
          <a:prstGeom prst="roundRect">
            <a:avLst>
              <a:gd name="adj" fmla="val 12048"/>
            </a:avLst>
          </a:prstGeom>
          <a:solidFill>
            <a:srgbClr val="0F1E33"/>
          </a:solidFill>
          <a:ln w="12700">
            <a:solidFill>
              <a:srgbClr val="24405F"/>
            </a:solidFill>
            <a:prstDash val="solid"/>
          </a:ln>
        </p:spPr>
      </p:sp>
      <p:sp>
        <p:nvSpPr>
          <p:cNvPr id="29" name="Shape 22"/>
          <p:cNvSpPr/>
          <p:nvPr/>
        </p:nvSpPr>
        <p:spPr>
          <a:xfrm>
            <a:off x="4105656" y="2592324"/>
            <a:ext cx="384048" cy="384048"/>
          </a:xfrm>
          <a:prstGeom prst="ellipse">
            <a:avLst/>
          </a:prstGeom>
          <a:solidFill>
            <a:srgbClr val="1B324F"/>
          </a:solidFill>
          <a:ln/>
        </p:spPr>
      </p:sp>
      <p:pic>
        <p:nvPicPr>
          <p:cNvPr id="30" name="Image 5" descr="preencoded.png">    </p:cNvPr>
          <p:cNvPicPr>
            <a:picLocks noChangeAspect="1"/>
          </p:cNvPicPr>
          <p:nvPr/>
        </p:nvPicPr>
        <p:blipFill>
          <a:blip r:embed="rId6"/>
          <a:stretch>
            <a:fillRect/>
          </a:stretch>
        </p:blipFill>
        <p:spPr>
          <a:xfrm>
            <a:off x="4155582" y="2642250"/>
            <a:ext cx="284196" cy="284196"/>
          </a:xfrm>
          <a:prstGeom prst="rect">
            <a:avLst/>
          </a:prstGeom>
        </p:spPr>
      </p:pic>
      <p:sp>
        <p:nvSpPr>
          <p:cNvPr id="31" name="Text 23"/>
          <p:cNvSpPr/>
          <p:nvPr/>
        </p:nvSpPr>
        <p:spPr>
          <a:xfrm>
            <a:off x="4572000" y="2404872"/>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Active Personnel</a:t>
            </a:r>
            <a:endParaRPr lang="en-US" sz="1050" dirty="0"/>
          </a:p>
        </p:txBody>
      </p:sp>
      <p:sp>
        <p:nvSpPr>
          <p:cNvPr id="32" name="Shape 24"/>
          <p:cNvSpPr/>
          <p:nvPr/>
        </p:nvSpPr>
        <p:spPr>
          <a:xfrm>
            <a:off x="6601968" y="2404872"/>
            <a:ext cx="2487168" cy="758952"/>
          </a:xfrm>
          <a:prstGeom prst="roundRect">
            <a:avLst>
              <a:gd name="adj" fmla="val 12048"/>
            </a:avLst>
          </a:prstGeom>
          <a:solidFill>
            <a:srgbClr val="0F1E33"/>
          </a:solidFill>
          <a:ln w="12700">
            <a:solidFill>
              <a:srgbClr val="24405F"/>
            </a:solidFill>
            <a:prstDash val="solid"/>
          </a:ln>
        </p:spPr>
      </p:sp>
      <p:sp>
        <p:nvSpPr>
          <p:cNvPr id="33" name="Shape 25"/>
          <p:cNvSpPr/>
          <p:nvPr/>
        </p:nvSpPr>
        <p:spPr>
          <a:xfrm>
            <a:off x="6729984" y="2592324"/>
            <a:ext cx="384048" cy="384048"/>
          </a:xfrm>
          <a:prstGeom prst="ellipse">
            <a:avLst/>
          </a:prstGeom>
          <a:solidFill>
            <a:srgbClr val="1B324F"/>
          </a:solidFill>
          <a:ln/>
        </p:spPr>
      </p:sp>
      <p:pic>
        <p:nvPicPr>
          <p:cNvPr id="34" name="Image 6" descr="preencoded.png">    </p:cNvPr>
          <p:cNvPicPr>
            <a:picLocks noChangeAspect="1"/>
          </p:cNvPicPr>
          <p:nvPr/>
        </p:nvPicPr>
        <p:blipFill>
          <a:blip r:embed="rId7"/>
          <a:stretch>
            <a:fillRect/>
          </a:stretch>
        </p:blipFill>
        <p:spPr>
          <a:xfrm>
            <a:off x="6779910" y="2642250"/>
            <a:ext cx="284196" cy="284196"/>
          </a:xfrm>
          <a:prstGeom prst="rect">
            <a:avLst/>
          </a:prstGeom>
        </p:spPr>
      </p:pic>
      <p:sp>
        <p:nvSpPr>
          <p:cNvPr id="35" name="Text 26"/>
          <p:cNvSpPr/>
          <p:nvPr/>
        </p:nvSpPr>
        <p:spPr>
          <a:xfrm>
            <a:off x="7196328" y="2404872"/>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Reserve Personnel</a:t>
            </a:r>
            <a:endParaRPr lang="en-US" sz="1050" dirty="0"/>
          </a:p>
        </p:txBody>
      </p:sp>
      <p:sp>
        <p:nvSpPr>
          <p:cNvPr id="36" name="Shape 27"/>
          <p:cNvSpPr/>
          <p:nvPr/>
        </p:nvSpPr>
        <p:spPr>
          <a:xfrm>
            <a:off x="9226296" y="2404872"/>
            <a:ext cx="2487168" cy="758952"/>
          </a:xfrm>
          <a:prstGeom prst="roundRect">
            <a:avLst>
              <a:gd name="adj" fmla="val 12048"/>
            </a:avLst>
          </a:prstGeom>
          <a:solidFill>
            <a:srgbClr val="0F1E33"/>
          </a:solidFill>
          <a:ln w="12700">
            <a:solidFill>
              <a:srgbClr val="24405F"/>
            </a:solidFill>
            <a:prstDash val="solid"/>
          </a:ln>
        </p:spPr>
      </p:sp>
      <p:sp>
        <p:nvSpPr>
          <p:cNvPr id="37" name="Shape 28"/>
          <p:cNvSpPr/>
          <p:nvPr/>
        </p:nvSpPr>
        <p:spPr>
          <a:xfrm>
            <a:off x="9354312" y="2592324"/>
            <a:ext cx="384048" cy="384048"/>
          </a:xfrm>
          <a:prstGeom prst="ellipse">
            <a:avLst/>
          </a:prstGeom>
          <a:solidFill>
            <a:srgbClr val="1B324F"/>
          </a:solidFill>
          <a:ln/>
        </p:spPr>
      </p:sp>
      <p:pic>
        <p:nvPicPr>
          <p:cNvPr id="38" name="Image 7" descr="preencoded.png">    </p:cNvPr>
          <p:cNvPicPr>
            <a:picLocks noChangeAspect="1"/>
          </p:cNvPicPr>
          <p:nvPr/>
        </p:nvPicPr>
        <p:blipFill>
          <a:blip r:embed="rId8"/>
          <a:stretch>
            <a:fillRect/>
          </a:stretch>
        </p:blipFill>
        <p:spPr>
          <a:xfrm>
            <a:off x="9404238" y="2642250"/>
            <a:ext cx="284196" cy="284196"/>
          </a:xfrm>
          <a:prstGeom prst="rect">
            <a:avLst/>
          </a:prstGeom>
        </p:spPr>
      </p:pic>
      <p:sp>
        <p:nvSpPr>
          <p:cNvPr id="39" name="Text 29"/>
          <p:cNvSpPr/>
          <p:nvPr/>
        </p:nvSpPr>
        <p:spPr>
          <a:xfrm>
            <a:off x="9820656" y="2404872"/>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Aircraft</a:t>
            </a:r>
            <a:endParaRPr lang="en-US" sz="1050" dirty="0"/>
          </a:p>
        </p:txBody>
      </p:sp>
      <p:sp>
        <p:nvSpPr>
          <p:cNvPr id="40" name="Shape 30"/>
          <p:cNvSpPr/>
          <p:nvPr/>
        </p:nvSpPr>
        <p:spPr>
          <a:xfrm>
            <a:off x="3977640" y="3300984"/>
            <a:ext cx="2487168" cy="758952"/>
          </a:xfrm>
          <a:prstGeom prst="roundRect">
            <a:avLst>
              <a:gd name="adj" fmla="val 12048"/>
            </a:avLst>
          </a:prstGeom>
          <a:solidFill>
            <a:srgbClr val="0F1E33"/>
          </a:solidFill>
          <a:ln w="12700">
            <a:solidFill>
              <a:srgbClr val="24405F"/>
            </a:solidFill>
            <a:prstDash val="solid"/>
          </a:ln>
        </p:spPr>
      </p:sp>
      <p:sp>
        <p:nvSpPr>
          <p:cNvPr id="41" name="Shape 31"/>
          <p:cNvSpPr/>
          <p:nvPr/>
        </p:nvSpPr>
        <p:spPr>
          <a:xfrm>
            <a:off x="4105656" y="3488436"/>
            <a:ext cx="384048" cy="384048"/>
          </a:xfrm>
          <a:prstGeom prst="ellipse">
            <a:avLst/>
          </a:prstGeom>
          <a:solidFill>
            <a:srgbClr val="1B324F"/>
          </a:solidFill>
          <a:ln/>
        </p:spPr>
      </p:sp>
      <p:pic>
        <p:nvPicPr>
          <p:cNvPr id="42" name="Image 8" descr="preencoded.png">    </p:cNvPr>
          <p:cNvPicPr>
            <a:picLocks noChangeAspect="1"/>
          </p:cNvPicPr>
          <p:nvPr/>
        </p:nvPicPr>
        <p:blipFill>
          <a:blip r:embed="rId9"/>
          <a:stretch>
            <a:fillRect/>
          </a:stretch>
        </p:blipFill>
        <p:spPr>
          <a:xfrm>
            <a:off x="4155582" y="3538362"/>
            <a:ext cx="284196" cy="284196"/>
          </a:xfrm>
          <a:prstGeom prst="rect">
            <a:avLst/>
          </a:prstGeom>
        </p:spPr>
      </p:pic>
      <p:sp>
        <p:nvSpPr>
          <p:cNvPr id="43" name="Text 32"/>
          <p:cNvSpPr/>
          <p:nvPr/>
        </p:nvSpPr>
        <p:spPr>
          <a:xfrm>
            <a:off x="4572000" y="3300984"/>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Helicopters</a:t>
            </a:r>
            <a:endParaRPr lang="en-US" sz="1050" dirty="0"/>
          </a:p>
        </p:txBody>
      </p:sp>
      <p:sp>
        <p:nvSpPr>
          <p:cNvPr id="44" name="Shape 33"/>
          <p:cNvSpPr/>
          <p:nvPr/>
        </p:nvSpPr>
        <p:spPr>
          <a:xfrm>
            <a:off x="6601968" y="3300984"/>
            <a:ext cx="2487168" cy="758952"/>
          </a:xfrm>
          <a:prstGeom prst="roundRect">
            <a:avLst>
              <a:gd name="adj" fmla="val 12048"/>
            </a:avLst>
          </a:prstGeom>
          <a:solidFill>
            <a:srgbClr val="0F1E33"/>
          </a:solidFill>
          <a:ln w="12700">
            <a:solidFill>
              <a:srgbClr val="24405F"/>
            </a:solidFill>
            <a:prstDash val="solid"/>
          </a:ln>
        </p:spPr>
      </p:sp>
      <p:sp>
        <p:nvSpPr>
          <p:cNvPr id="45" name="Shape 34"/>
          <p:cNvSpPr/>
          <p:nvPr/>
        </p:nvSpPr>
        <p:spPr>
          <a:xfrm>
            <a:off x="6729984" y="3488436"/>
            <a:ext cx="384048" cy="384048"/>
          </a:xfrm>
          <a:prstGeom prst="ellipse">
            <a:avLst/>
          </a:prstGeom>
          <a:solidFill>
            <a:srgbClr val="1B324F"/>
          </a:solidFill>
          <a:ln/>
        </p:spPr>
      </p:sp>
      <p:pic>
        <p:nvPicPr>
          <p:cNvPr id="46" name="Image 9" descr="preencoded.png">    </p:cNvPr>
          <p:cNvPicPr>
            <a:picLocks noChangeAspect="1"/>
          </p:cNvPicPr>
          <p:nvPr/>
        </p:nvPicPr>
        <p:blipFill>
          <a:blip r:embed="rId10"/>
          <a:stretch>
            <a:fillRect/>
          </a:stretch>
        </p:blipFill>
        <p:spPr>
          <a:xfrm>
            <a:off x="6779910" y="3538362"/>
            <a:ext cx="284196" cy="284196"/>
          </a:xfrm>
          <a:prstGeom prst="rect">
            <a:avLst/>
          </a:prstGeom>
        </p:spPr>
      </p:pic>
      <p:sp>
        <p:nvSpPr>
          <p:cNvPr id="47" name="Text 35"/>
          <p:cNvSpPr/>
          <p:nvPr/>
        </p:nvSpPr>
        <p:spPr>
          <a:xfrm>
            <a:off x="7196328" y="3300984"/>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Tanks</a:t>
            </a:r>
            <a:endParaRPr lang="en-US" sz="1050" dirty="0"/>
          </a:p>
        </p:txBody>
      </p:sp>
      <p:sp>
        <p:nvSpPr>
          <p:cNvPr id="48" name="Shape 36"/>
          <p:cNvSpPr/>
          <p:nvPr/>
        </p:nvSpPr>
        <p:spPr>
          <a:xfrm>
            <a:off x="9226296" y="3300984"/>
            <a:ext cx="2487168" cy="758952"/>
          </a:xfrm>
          <a:prstGeom prst="roundRect">
            <a:avLst>
              <a:gd name="adj" fmla="val 12048"/>
            </a:avLst>
          </a:prstGeom>
          <a:solidFill>
            <a:srgbClr val="0F1E33"/>
          </a:solidFill>
          <a:ln w="12700">
            <a:solidFill>
              <a:srgbClr val="24405F"/>
            </a:solidFill>
            <a:prstDash val="solid"/>
          </a:ln>
        </p:spPr>
      </p:sp>
      <p:sp>
        <p:nvSpPr>
          <p:cNvPr id="49" name="Shape 37"/>
          <p:cNvSpPr/>
          <p:nvPr/>
        </p:nvSpPr>
        <p:spPr>
          <a:xfrm>
            <a:off x="9354312" y="3488436"/>
            <a:ext cx="384048" cy="384048"/>
          </a:xfrm>
          <a:prstGeom prst="ellipse">
            <a:avLst/>
          </a:prstGeom>
          <a:solidFill>
            <a:srgbClr val="1B324F"/>
          </a:solidFill>
          <a:ln/>
        </p:spPr>
      </p:sp>
      <p:pic>
        <p:nvPicPr>
          <p:cNvPr id="50" name="Image 10" descr="preencoded.png">    </p:cNvPr>
          <p:cNvPicPr>
            <a:picLocks noChangeAspect="1"/>
          </p:cNvPicPr>
          <p:nvPr/>
        </p:nvPicPr>
        <p:blipFill>
          <a:blip r:embed="rId11"/>
          <a:stretch>
            <a:fillRect/>
          </a:stretch>
        </p:blipFill>
        <p:spPr>
          <a:xfrm>
            <a:off x="9404238" y="3538362"/>
            <a:ext cx="284196" cy="284196"/>
          </a:xfrm>
          <a:prstGeom prst="rect">
            <a:avLst/>
          </a:prstGeom>
        </p:spPr>
      </p:pic>
      <p:sp>
        <p:nvSpPr>
          <p:cNvPr id="51" name="Text 38"/>
          <p:cNvSpPr/>
          <p:nvPr/>
        </p:nvSpPr>
        <p:spPr>
          <a:xfrm>
            <a:off x="9820656" y="3300984"/>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Armored Vehicles</a:t>
            </a:r>
            <a:endParaRPr lang="en-US" sz="1050" dirty="0"/>
          </a:p>
        </p:txBody>
      </p:sp>
      <p:sp>
        <p:nvSpPr>
          <p:cNvPr id="52" name="Shape 39"/>
          <p:cNvSpPr/>
          <p:nvPr/>
        </p:nvSpPr>
        <p:spPr>
          <a:xfrm>
            <a:off x="3977640" y="4197096"/>
            <a:ext cx="2487168" cy="758952"/>
          </a:xfrm>
          <a:prstGeom prst="roundRect">
            <a:avLst>
              <a:gd name="adj" fmla="val 12048"/>
            </a:avLst>
          </a:prstGeom>
          <a:solidFill>
            <a:srgbClr val="0F1E33"/>
          </a:solidFill>
          <a:ln w="12700">
            <a:solidFill>
              <a:srgbClr val="24405F"/>
            </a:solidFill>
            <a:prstDash val="solid"/>
          </a:ln>
        </p:spPr>
      </p:sp>
      <p:sp>
        <p:nvSpPr>
          <p:cNvPr id="53" name="Shape 40"/>
          <p:cNvSpPr/>
          <p:nvPr/>
        </p:nvSpPr>
        <p:spPr>
          <a:xfrm>
            <a:off x="4105656" y="4384548"/>
            <a:ext cx="384048" cy="384048"/>
          </a:xfrm>
          <a:prstGeom prst="ellipse">
            <a:avLst/>
          </a:prstGeom>
          <a:solidFill>
            <a:srgbClr val="1B324F"/>
          </a:solidFill>
          <a:ln/>
        </p:spPr>
      </p:sp>
      <p:pic>
        <p:nvPicPr>
          <p:cNvPr id="54" name="Image 11" descr="preencoded.png">    </p:cNvPr>
          <p:cNvPicPr>
            <a:picLocks noChangeAspect="1"/>
          </p:cNvPicPr>
          <p:nvPr/>
        </p:nvPicPr>
        <p:blipFill>
          <a:blip r:embed="rId12"/>
          <a:stretch>
            <a:fillRect/>
          </a:stretch>
        </p:blipFill>
        <p:spPr>
          <a:xfrm>
            <a:off x="4155582" y="4434474"/>
            <a:ext cx="284196" cy="284196"/>
          </a:xfrm>
          <a:prstGeom prst="rect">
            <a:avLst/>
          </a:prstGeom>
        </p:spPr>
      </p:pic>
      <p:sp>
        <p:nvSpPr>
          <p:cNvPr id="55" name="Text 41"/>
          <p:cNvSpPr/>
          <p:nvPr/>
        </p:nvSpPr>
        <p:spPr>
          <a:xfrm>
            <a:off x="4572000" y="4197096"/>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Naval Fleet</a:t>
            </a:r>
            <a:endParaRPr lang="en-US" sz="1050" dirty="0"/>
          </a:p>
        </p:txBody>
      </p:sp>
      <p:sp>
        <p:nvSpPr>
          <p:cNvPr id="56" name="Shape 42"/>
          <p:cNvSpPr/>
          <p:nvPr/>
        </p:nvSpPr>
        <p:spPr>
          <a:xfrm>
            <a:off x="6601968" y="4197096"/>
            <a:ext cx="2487168" cy="758952"/>
          </a:xfrm>
          <a:prstGeom prst="roundRect">
            <a:avLst>
              <a:gd name="adj" fmla="val 12048"/>
            </a:avLst>
          </a:prstGeom>
          <a:solidFill>
            <a:srgbClr val="0F1E33"/>
          </a:solidFill>
          <a:ln w="12700">
            <a:solidFill>
              <a:srgbClr val="24405F"/>
            </a:solidFill>
            <a:prstDash val="solid"/>
          </a:ln>
        </p:spPr>
      </p:sp>
      <p:sp>
        <p:nvSpPr>
          <p:cNvPr id="57" name="Shape 43"/>
          <p:cNvSpPr/>
          <p:nvPr/>
        </p:nvSpPr>
        <p:spPr>
          <a:xfrm>
            <a:off x="6729984" y="4384548"/>
            <a:ext cx="384048" cy="384048"/>
          </a:xfrm>
          <a:prstGeom prst="ellipse">
            <a:avLst/>
          </a:prstGeom>
          <a:solidFill>
            <a:srgbClr val="1B324F"/>
          </a:solidFill>
          <a:ln/>
        </p:spPr>
      </p:sp>
      <p:pic>
        <p:nvPicPr>
          <p:cNvPr id="58" name="Image 12" descr="preencoded.png">    </p:cNvPr>
          <p:cNvPicPr>
            <a:picLocks noChangeAspect="1"/>
          </p:cNvPicPr>
          <p:nvPr/>
        </p:nvPicPr>
        <p:blipFill>
          <a:blip r:embed="rId13"/>
          <a:stretch>
            <a:fillRect/>
          </a:stretch>
        </p:blipFill>
        <p:spPr>
          <a:xfrm>
            <a:off x="6779910" y="4434474"/>
            <a:ext cx="284196" cy="284196"/>
          </a:xfrm>
          <a:prstGeom prst="rect">
            <a:avLst/>
          </a:prstGeom>
        </p:spPr>
      </p:pic>
      <p:sp>
        <p:nvSpPr>
          <p:cNvPr id="59" name="Text 44"/>
          <p:cNvSpPr/>
          <p:nvPr/>
        </p:nvSpPr>
        <p:spPr>
          <a:xfrm>
            <a:off x="7196328" y="4197096"/>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Defense Budget</a:t>
            </a:r>
            <a:endParaRPr lang="en-US" sz="1050" dirty="0"/>
          </a:p>
        </p:txBody>
      </p:sp>
      <p:sp>
        <p:nvSpPr>
          <p:cNvPr id="60" name="Shape 45"/>
          <p:cNvSpPr/>
          <p:nvPr/>
        </p:nvSpPr>
        <p:spPr>
          <a:xfrm>
            <a:off x="9226296" y="4197096"/>
            <a:ext cx="2487168" cy="758952"/>
          </a:xfrm>
          <a:prstGeom prst="roundRect">
            <a:avLst>
              <a:gd name="adj" fmla="val 12048"/>
            </a:avLst>
          </a:prstGeom>
          <a:solidFill>
            <a:srgbClr val="0F1E33"/>
          </a:solidFill>
          <a:ln w="12700">
            <a:solidFill>
              <a:srgbClr val="24405F"/>
            </a:solidFill>
            <a:prstDash val="solid"/>
          </a:ln>
        </p:spPr>
      </p:sp>
      <p:sp>
        <p:nvSpPr>
          <p:cNvPr id="61" name="Shape 46"/>
          <p:cNvSpPr/>
          <p:nvPr/>
        </p:nvSpPr>
        <p:spPr>
          <a:xfrm>
            <a:off x="9354312" y="4384548"/>
            <a:ext cx="384048" cy="384048"/>
          </a:xfrm>
          <a:prstGeom prst="ellipse">
            <a:avLst/>
          </a:prstGeom>
          <a:solidFill>
            <a:srgbClr val="1B324F"/>
          </a:solidFill>
          <a:ln/>
        </p:spPr>
      </p:sp>
      <p:pic>
        <p:nvPicPr>
          <p:cNvPr id="62" name="Image 13" descr="preencoded.png">    </p:cNvPr>
          <p:cNvPicPr>
            <a:picLocks noChangeAspect="1"/>
          </p:cNvPicPr>
          <p:nvPr/>
        </p:nvPicPr>
        <p:blipFill>
          <a:blip r:embed="rId14"/>
          <a:stretch>
            <a:fillRect/>
          </a:stretch>
        </p:blipFill>
        <p:spPr>
          <a:xfrm>
            <a:off x="9404238" y="4434474"/>
            <a:ext cx="284196" cy="284196"/>
          </a:xfrm>
          <a:prstGeom prst="rect">
            <a:avLst/>
          </a:prstGeom>
        </p:spPr>
      </p:pic>
      <p:sp>
        <p:nvSpPr>
          <p:cNvPr id="63" name="Text 47"/>
          <p:cNvSpPr/>
          <p:nvPr/>
        </p:nvSpPr>
        <p:spPr>
          <a:xfrm>
            <a:off x="9820656" y="4197096"/>
            <a:ext cx="1801368" cy="758952"/>
          </a:xfrm>
          <a:prstGeom prst="rect">
            <a:avLst/>
          </a:prstGeom>
          <a:noFill/>
          <a:ln/>
        </p:spPr>
        <p:txBody>
          <a:bodyPr wrap="square" lIns="0" tIns="0" rIns="0" bIns="0" rtlCol="0" anchor="ctr"/>
          <a:lstStyle/>
          <a:p>
            <a:pPr indent="0" marL="0">
              <a:lnSpc>
                <a:spcPct val="100000"/>
              </a:lnSpc>
              <a:buNone/>
            </a:pPr>
            <a:r>
              <a:rPr lang="en-US" sz="1050" b="1" dirty="0">
                <a:solidFill>
                  <a:srgbClr val="F2F6FA"/>
                </a:solidFill>
                <a:latin typeface="Calibri" pitchFamily="34" charset="0"/>
                <a:ea typeface="Calibri" pitchFamily="34" charset="-122"/>
                <a:cs typeface="Calibri" pitchFamily="34" charset="-120"/>
              </a:rPr>
              <a:t>Geographic Info</a:t>
            </a:r>
            <a:endParaRPr lang="en-US" sz="1050" dirty="0"/>
          </a:p>
        </p:txBody>
      </p:sp>
      <p:sp>
        <p:nvSpPr>
          <p:cNvPr id="64" name="Text 48"/>
          <p:cNvSpPr/>
          <p:nvPr/>
        </p:nvSpPr>
        <p:spPr>
          <a:xfrm>
            <a:off x="457200" y="6528816"/>
            <a:ext cx="7315200" cy="256032"/>
          </a:xfrm>
          <a:prstGeom prst="rect">
            <a:avLst/>
          </a:prstGeom>
          <a:noFill/>
          <a:ln/>
        </p:spPr>
        <p:txBody>
          <a:bodyPr wrap="square" lIns="0" tIns="0" rIns="0" bIns="0" rtlCol="0" anchor="ctr"/>
          <a:lstStyle/>
          <a:p>
            <a:pPr indent="0" marL="0">
              <a:buNone/>
            </a:pPr>
            <a:r>
              <a:rPr lang="en-US" sz="800" spc="100" kern="0" dirty="0">
                <a:solidFill>
                  <a:srgbClr val="5C7291"/>
                </a:solidFill>
                <a:latin typeface="Calibri" pitchFamily="34" charset="0"/>
                <a:ea typeface="Calibri" pitchFamily="34" charset="-122"/>
                <a:cs typeface="Calibri" pitchFamily="34" charset="-120"/>
              </a:rPr>
              <a:t>UNIFIED MILITARY ANALYTICS &amp; COMPARISON DASHBOARD</a:t>
            </a:r>
            <a:endParaRPr lang="en-US" sz="800" dirty="0"/>
          </a:p>
        </p:txBody>
      </p:sp>
      <p:sp>
        <p:nvSpPr>
          <p:cNvPr id="65" name="Text 49"/>
          <p:cNvSpPr/>
          <p:nvPr/>
        </p:nvSpPr>
        <p:spPr>
          <a:xfrm>
            <a:off x="8991295" y="6528816"/>
            <a:ext cx="2743200" cy="256032"/>
          </a:xfrm>
          <a:prstGeom prst="rect">
            <a:avLst/>
          </a:prstGeom>
          <a:noFill/>
          <a:ln/>
        </p:spPr>
        <p:txBody>
          <a:bodyPr wrap="square" lIns="0" tIns="0" rIns="0" bIns="0" rtlCol="0" anchor="ctr"/>
          <a:lstStyle/>
          <a:p>
            <a:pPr algn="r" indent="0" marL="0">
              <a:buNone/>
            </a:pPr>
            <a:r>
              <a:rPr lang="en-US" sz="800" dirty="0">
                <a:solidFill>
                  <a:srgbClr val="5C7291"/>
                </a:solidFill>
                <a:latin typeface="Calibri" pitchFamily="34" charset="0"/>
                <a:ea typeface="Calibri" pitchFamily="34" charset="-122"/>
                <a:cs typeface="Calibri" pitchFamily="34" charset="-120"/>
              </a:rPr>
              <a:t>Sahana.N   |   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457200" y="384048"/>
            <a:ext cx="3026664" cy="310896"/>
          </a:xfrm>
          <a:prstGeom prst="roundRect">
            <a:avLst>
              <a:gd name="adj" fmla="val 50000"/>
            </a:avLst>
          </a:prstGeom>
          <a:solidFill>
            <a:srgbClr val="13253F"/>
          </a:solidFill>
          <a:ln w="9525">
            <a:solidFill>
              <a:srgbClr val="24405F"/>
            </a:solidFill>
            <a:prstDash val="solid"/>
          </a:ln>
        </p:spPr>
      </p:sp>
      <p:sp>
        <p:nvSpPr>
          <p:cNvPr id="5" name="Text 3"/>
          <p:cNvSpPr/>
          <p:nvPr/>
        </p:nvSpPr>
        <p:spPr>
          <a:xfrm>
            <a:off x="457200" y="384048"/>
            <a:ext cx="3026664"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SIDE-BY-SIDE COMPARISON</a:t>
            </a:r>
            <a:endParaRPr lang="en-US" sz="1050" dirty="0"/>
          </a:p>
        </p:txBody>
      </p:sp>
      <p:sp>
        <p:nvSpPr>
          <p:cNvPr id="6" name="Text 4"/>
          <p:cNvSpPr/>
          <p:nvPr/>
        </p:nvSpPr>
        <p:spPr>
          <a:xfrm>
            <a:off x="457200" y="786384"/>
            <a:ext cx="10607040" cy="685800"/>
          </a:xfrm>
          <a:prstGeom prst="rect">
            <a:avLst/>
          </a:prstGeom>
          <a:noFill/>
          <a:ln/>
        </p:spPr>
        <p:txBody>
          <a:bodyPr wrap="square" lIns="0" tIns="0" rIns="0" bIns="0" rtlCol="0" anchor="ctr"/>
          <a:lstStyle/>
          <a:p>
            <a:pPr indent="0" marL="0">
              <a:buNone/>
            </a:pPr>
            <a:r>
              <a:rPr lang="en-US" sz="3000" b="1" dirty="0">
                <a:solidFill>
                  <a:srgbClr val="F2F6FA"/>
                </a:solidFill>
                <a:latin typeface="Cambria" pitchFamily="34" charset="0"/>
                <a:ea typeface="Cambria" pitchFamily="34" charset="-122"/>
                <a:cs typeface="Cambria" pitchFamily="34" charset="-120"/>
              </a:rPr>
              <a:t>Compare Powers</a:t>
            </a:r>
            <a:endParaRPr lang="en-US" sz="3000" dirty="0"/>
          </a:p>
        </p:txBody>
      </p:sp>
      <p:sp>
        <p:nvSpPr>
          <p:cNvPr id="7" name="Shape 5"/>
          <p:cNvSpPr/>
          <p:nvPr/>
        </p:nvSpPr>
        <p:spPr>
          <a:xfrm>
            <a:off x="457200" y="1508760"/>
            <a:ext cx="4754880" cy="548640"/>
          </a:xfrm>
          <a:prstGeom prst="roundRect">
            <a:avLst>
              <a:gd name="adj" fmla="val 16667"/>
            </a:avLst>
          </a:prstGeom>
          <a:solidFill>
            <a:srgbClr val="0F1E33"/>
          </a:solidFill>
          <a:ln w="12700">
            <a:solidFill>
              <a:srgbClr val="24405F"/>
            </a:solidFill>
            <a:prstDash val="solid"/>
          </a:ln>
        </p:spPr>
      </p:sp>
      <p:sp>
        <p:nvSpPr>
          <p:cNvPr id="8" name="Text 6"/>
          <p:cNvSpPr/>
          <p:nvPr/>
        </p:nvSpPr>
        <p:spPr>
          <a:xfrm>
            <a:off x="457200" y="1508760"/>
            <a:ext cx="4754880" cy="548640"/>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COUNTRY A</a:t>
            </a:r>
            <a:endParaRPr lang="en-US" sz="1400" dirty="0"/>
          </a:p>
        </p:txBody>
      </p:sp>
      <p:sp>
        <p:nvSpPr>
          <p:cNvPr id="9" name="Shape 7"/>
          <p:cNvSpPr/>
          <p:nvPr/>
        </p:nvSpPr>
        <p:spPr>
          <a:xfrm>
            <a:off x="5458968" y="1463040"/>
            <a:ext cx="640080" cy="640080"/>
          </a:xfrm>
          <a:prstGeom prst="ellipse">
            <a:avLst/>
          </a:prstGeom>
          <a:solidFill>
            <a:srgbClr val="13253F"/>
          </a:solidFill>
          <a:ln/>
        </p:spPr>
      </p:sp>
      <p:pic>
        <p:nvPicPr>
          <p:cNvPr id="10" name="Image 0" descr="preencoded.png">    </p:cNvPr>
          <p:cNvPicPr>
            <a:picLocks noChangeAspect="1"/>
          </p:cNvPicPr>
          <p:nvPr/>
        </p:nvPicPr>
        <p:blipFill>
          <a:blip r:embed="rId1"/>
          <a:stretch>
            <a:fillRect/>
          </a:stretch>
        </p:blipFill>
        <p:spPr>
          <a:xfrm>
            <a:off x="5542178" y="1546250"/>
            <a:ext cx="473659" cy="473659"/>
          </a:xfrm>
          <a:prstGeom prst="rect">
            <a:avLst/>
          </a:prstGeom>
        </p:spPr>
      </p:pic>
      <p:sp>
        <p:nvSpPr>
          <p:cNvPr id="11" name="Shape 8"/>
          <p:cNvSpPr/>
          <p:nvPr/>
        </p:nvSpPr>
        <p:spPr>
          <a:xfrm>
            <a:off x="6976872" y="1508760"/>
            <a:ext cx="4754880" cy="548640"/>
          </a:xfrm>
          <a:prstGeom prst="roundRect">
            <a:avLst>
              <a:gd name="adj" fmla="val 16667"/>
            </a:avLst>
          </a:prstGeom>
          <a:solidFill>
            <a:srgbClr val="0F1E33"/>
          </a:solidFill>
          <a:ln w="12700">
            <a:solidFill>
              <a:srgbClr val="24405F"/>
            </a:solidFill>
            <a:prstDash val="solid"/>
          </a:ln>
        </p:spPr>
      </p:sp>
      <p:sp>
        <p:nvSpPr>
          <p:cNvPr id="12" name="Text 9"/>
          <p:cNvSpPr/>
          <p:nvPr/>
        </p:nvSpPr>
        <p:spPr>
          <a:xfrm>
            <a:off x="6976872" y="1508760"/>
            <a:ext cx="4754880" cy="548640"/>
          </a:xfrm>
          <a:prstGeom prst="rect">
            <a:avLst/>
          </a:prstGeom>
          <a:noFill/>
          <a:ln/>
        </p:spPr>
        <p:txBody>
          <a:bodyPr wrap="square" lIns="0" tIns="0" rIns="0" bIns="0" rtlCol="0" anchor="ctr"/>
          <a:lstStyle/>
          <a:p>
            <a:pPr algn="ctr" indent="0" marL="0">
              <a:buNone/>
            </a:pPr>
            <a:r>
              <a:rPr lang="en-US" sz="1400" b="1" dirty="0">
                <a:solidFill>
                  <a:srgbClr val="FFA94D"/>
                </a:solidFill>
                <a:latin typeface="Calibri" pitchFamily="34" charset="0"/>
                <a:ea typeface="Calibri" pitchFamily="34" charset="-122"/>
                <a:cs typeface="Calibri" pitchFamily="34" charset="-120"/>
              </a:rPr>
              <a:t>COUNTRY B</a:t>
            </a:r>
            <a:endParaRPr lang="en-US" sz="1400" dirty="0"/>
          </a:p>
        </p:txBody>
      </p:sp>
      <p:sp>
        <p:nvSpPr>
          <p:cNvPr id="13" name="Text 10"/>
          <p:cNvSpPr/>
          <p:nvPr/>
        </p:nvSpPr>
        <p:spPr>
          <a:xfrm>
            <a:off x="5135728" y="2331720"/>
            <a:ext cx="1920240" cy="34747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Power Index</a:t>
            </a:r>
            <a:endParaRPr lang="en-US" sz="1000" dirty="0"/>
          </a:p>
        </p:txBody>
      </p:sp>
      <p:sp>
        <p:nvSpPr>
          <p:cNvPr id="14" name="Shape 11"/>
          <p:cNvSpPr/>
          <p:nvPr/>
        </p:nvSpPr>
        <p:spPr>
          <a:xfrm>
            <a:off x="1715872" y="2386584"/>
            <a:ext cx="3328416" cy="237744"/>
          </a:xfrm>
          <a:prstGeom prst="roundRect">
            <a:avLst>
              <a:gd name="adj" fmla="val 11538"/>
            </a:avLst>
          </a:prstGeom>
          <a:solidFill>
            <a:srgbClr val="2E9BF5"/>
          </a:solidFill>
          <a:ln/>
        </p:spPr>
      </p:sp>
      <p:sp>
        <p:nvSpPr>
          <p:cNvPr id="15" name="Shape 12"/>
          <p:cNvSpPr/>
          <p:nvPr/>
        </p:nvSpPr>
        <p:spPr>
          <a:xfrm>
            <a:off x="7147408" y="2386584"/>
            <a:ext cx="2496312" cy="237744"/>
          </a:xfrm>
          <a:prstGeom prst="roundRect">
            <a:avLst>
              <a:gd name="adj" fmla="val 11538"/>
            </a:avLst>
          </a:prstGeom>
          <a:solidFill>
            <a:srgbClr val="FFA94D">
              <a:alpha val="85000"/>
            </a:srgbClr>
          </a:solidFill>
          <a:ln/>
        </p:spPr>
      </p:sp>
      <p:sp>
        <p:nvSpPr>
          <p:cNvPr id="16" name="Text 13"/>
          <p:cNvSpPr/>
          <p:nvPr/>
        </p:nvSpPr>
        <p:spPr>
          <a:xfrm>
            <a:off x="5135728" y="2734056"/>
            <a:ext cx="1920240" cy="34747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Global Rank</a:t>
            </a:r>
            <a:endParaRPr lang="en-US" sz="1000" dirty="0"/>
          </a:p>
        </p:txBody>
      </p:sp>
      <p:sp>
        <p:nvSpPr>
          <p:cNvPr id="17" name="Shape 14"/>
          <p:cNvSpPr/>
          <p:nvPr/>
        </p:nvSpPr>
        <p:spPr>
          <a:xfrm>
            <a:off x="2756002" y="2788920"/>
            <a:ext cx="2288286" cy="237744"/>
          </a:xfrm>
          <a:prstGeom prst="roundRect">
            <a:avLst>
              <a:gd name="adj" fmla="val 11538"/>
            </a:avLst>
          </a:prstGeom>
          <a:solidFill>
            <a:srgbClr val="2E9BF5"/>
          </a:solidFill>
          <a:ln/>
        </p:spPr>
      </p:sp>
      <p:sp>
        <p:nvSpPr>
          <p:cNvPr id="18" name="Shape 15"/>
          <p:cNvSpPr/>
          <p:nvPr/>
        </p:nvSpPr>
        <p:spPr>
          <a:xfrm>
            <a:off x="7147408" y="2788920"/>
            <a:ext cx="3120390" cy="237744"/>
          </a:xfrm>
          <a:prstGeom prst="roundRect">
            <a:avLst>
              <a:gd name="adj" fmla="val 11538"/>
            </a:avLst>
          </a:prstGeom>
          <a:solidFill>
            <a:srgbClr val="FFA94D">
              <a:alpha val="85000"/>
            </a:srgbClr>
          </a:solidFill>
          <a:ln/>
        </p:spPr>
      </p:sp>
      <p:sp>
        <p:nvSpPr>
          <p:cNvPr id="19" name="Text 16"/>
          <p:cNvSpPr/>
          <p:nvPr/>
        </p:nvSpPr>
        <p:spPr>
          <a:xfrm>
            <a:off x="5135728" y="3136392"/>
            <a:ext cx="1920240" cy="34747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Population</a:t>
            </a:r>
            <a:endParaRPr lang="en-US" sz="1000" dirty="0"/>
          </a:p>
        </p:txBody>
      </p:sp>
      <p:sp>
        <p:nvSpPr>
          <p:cNvPr id="20" name="Shape 17"/>
          <p:cNvSpPr/>
          <p:nvPr/>
        </p:nvSpPr>
        <p:spPr>
          <a:xfrm>
            <a:off x="2339950" y="3191256"/>
            <a:ext cx="2704338" cy="237744"/>
          </a:xfrm>
          <a:prstGeom prst="roundRect">
            <a:avLst>
              <a:gd name="adj" fmla="val 11538"/>
            </a:avLst>
          </a:prstGeom>
          <a:solidFill>
            <a:srgbClr val="2E9BF5"/>
          </a:solidFill>
          <a:ln/>
        </p:spPr>
      </p:sp>
      <p:sp>
        <p:nvSpPr>
          <p:cNvPr id="21" name="Shape 18"/>
          <p:cNvSpPr/>
          <p:nvPr/>
        </p:nvSpPr>
        <p:spPr>
          <a:xfrm>
            <a:off x="7147408" y="3191256"/>
            <a:ext cx="3536442" cy="237744"/>
          </a:xfrm>
          <a:prstGeom prst="roundRect">
            <a:avLst>
              <a:gd name="adj" fmla="val 11538"/>
            </a:avLst>
          </a:prstGeom>
          <a:solidFill>
            <a:srgbClr val="FFA94D">
              <a:alpha val="85000"/>
            </a:srgbClr>
          </a:solidFill>
          <a:ln/>
        </p:spPr>
      </p:sp>
      <p:sp>
        <p:nvSpPr>
          <p:cNvPr id="22" name="Text 19"/>
          <p:cNvSpPr/>
          <p:nvPr/>
        </p:nvSpPr>
        <p:spPr>
          <a:xfrm>
            <a:off x="5135728" y="3538728"/>
            <a:ext cx="1920240" cy="34747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Active Personnel</a:t>
            </a:r>
            <a:endParaRPr lang="en-US" sz="1000" dirty="0"/>
          </a:p>
        </p:txBody>
      </p:sp>
      <p:sp>
        <p:nvSpPr>
          <p:cNvPr id="23" name="Shape 20"/>
          <p:cNvSpPr/>
          <p:nvPr/>
        </p:nvSpPr>
        <p:spPr>
          <a:xfrm>
            <a:off x="1299820" y="3593592"/>
            <a:ext cx="3744468" cy="237744"/>
          </a:xfrm>
          <a:prstGeom prst="roundRect">
            <a:avLst>
              <a:gd name="adj" fmla="val 11538"/>
            </a:avLst>
          </a:prstGeom>
          <a:solidFill>
            <a:srgbClr val="2E9BF5"/>
          </a:solidFill>
          <a:ln/>
        </p:spPr>
      </p:sp>
      <p:sp>
        <p:nvSpPr>
          <p:cNvPr id="24" name="Shape 21"/>
          <p:cNvSpPr/>
          <p:nvPr/>
        </p:nvSpPr>
        <p:spPr>
          <a:xfrm>
            <a:off x="7147408" y="3593592"/>
            <a:ext cx="2288286" cy="237744"/>
          </a:xfrm>
          <a:prstGeom prst="roundRect">
            <a:avLst>
              <a:gd name="adj" fmla="val 11538"/>
            </a:avLst>
          </a:prstGeom>
          <a:solidFill>
            <a:srgbClr val="FFA94D">
              <a:alpha val="85000"/>
            </a:srgbClr>
          </a:solidFill>
          <a:ln/>
        </p:spPr>
      </p:sp>
      <p:sp>
        <p:nvSpPr>
          <p:cNvPr id="25" name="Text 22"/>
          <p:cNvSpPr/>
          <p:nvPr/>
        </p:nvSpPr>
        <p:spPr>
          <a:xfrm>
            <a:off x="5135728" y="3941064"/>
            <a:ext cx="1920240" cy="34747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Aircraft</a:t>
            </a:r>
            <a:endParaRPr lang="en-US" sz="1000" dirty="0"/>
          </a:p>
        </p:txBody>
      </p:sp>
      <p:sp>
        <p:nvSpPr>
          <p:cNvPr id="26" name="Shape 23"/>
          <p:cNvSpPr/>
          <p:nvPr/>
        </p:nvSpPr>
        <p:spPr>
          <a:xfrm>
            <a:off x="2131924" y="3995928"/>
            <a:ext cx="2912364" cy="237744"/>
          </a:xfrm>
          <a:prstGeom prst="roundRect">
            <a:avLst>
              <a:gd name="adj" fmla="val 11538"/>
            </a:avLst>
          </a:prstGeom>
          <a:solidFill>
            <a:srgbClr val="2E9BF5"/>
          </a:solidFill>
          <a:ln/>
        </p:spPr>
      </p:sp>
      <p:sp>
        <p:nvSpPr>
          <p:cNvPr id="27" name="Shape 24"/>
          <p:cNvSpPr/>
          <p:nvPr/>
        </p:nvSpPr>
        <p:spPr>
          <a:xfrm>
            <a:off x="7147408" y="3995928"/>
            <a:ext cx="3744468" cy="237744"/>
          </a:xfrm>
          <a:prstGeom prst="roundRect">
            <a:avLst>
              <a:gd name="adj" fmla="val 11538"/>
            </a:avLst>
          </a:prstGeom>
          <a:solidFill>
            <a:srgbClr val="FFA94D">
              <a:alpha val="85000"/>
            </a:srgbClr>
          </a:solidFill>
          <a:ln/>
        </p:spPr>
      </p:sp>
      <p:sp>
        <p:nvSpPr>
          <p:cNvPr id="28" name="Text 25"/>
          <p:cNvSpPr/>
          <p:nvPr/>
        </p:nvSpPr>
        <p:spPr>
          <a:xfrm>
            <a:off x="5135728" y="4343400"/>
            <a:ext cx="1920240" cy="34747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Tanks</a:t>
            </a:r>
            <a:endParaRPr lang="en-US" sz="1000" dirty="0"/>
          </a:p>
        </p:txBody>
      </p:sp>
      <p:sp>
        <p:nvSpPr>
          <p:cNvPr id="29" name="Shape 26"/>
          <p:cNvSpPr/>
          <p:nvPr/>
        </p:nvSpPr>
        <p:spPr>
          <a:xfrm>
            <a:off x="2964028" y="4398264"/>
            <a:ext cx="2080260" cy="237744"/>
          </a:xfrm>
          <a:prstGeom prst="roundRect">
            <a:avLst>
              <a:gd name="adj" fmla="val 11538"/>
            </a:avLst>
          </a:prstGeom>
          <a:solidFill>
            <a:srgbClr val="2E9BF5"/>
          </a:solidFill>
          <a:ln/>
        </p:spPr>
      </p:sp>
      <p:sp>
        <p:nvSpPr>
          <p:cNvPr id="30" name="Shape 27"/>
          <p:cNvSpPr/>
          <p:nvPr/>
        </p:nvSpPr>
        <p:spPr>
          <a:xfrm>
            <a:off x="7147408" y="4398264"/>
            <a:ext cx="3120390" cy="237744"/>
          </a:xfrm>
          <a:prstGeom prst="roundRect">
            <a:avLst>
              <a:gd name="adj" fmla="val 11538"/>
            </a:avLst>
          </a:prstGeom>
          <a:solidFill>
            <a:srgbClr val="FFA94D">
              <a:alpha val="85000"/>
            </a:srgbClr>
          </a:solidFill>
          <a:ln/>
        </p:spPr>
      </p:sp>
      <p:sp>
        <p:nvSpPr>
          <p:cNvPr id="31" name="Text 28"/>
          <p:cNvSpPr/>
          <p:nvPr/>
        </p:nvSpPr>
        <p:spPr>
          <a:xfrm>
            <a:off x="5135728" y="4745736"/>
            <a:ext cx="1920240" cy="34747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Naval Fleet</a:t>
            </a:r>
            <a:endParaRPr lang="en-US" sz="1000" dirty="0"/>
          </a:p>
        </p:txBody>
      </p:sp>
      <p:sp>
        <p:nvSpPr>
          <p:cNvPr id="32" name="Shape 29"/>
          <p:cNvSpPr/>
          <p:nvPr/>
        </p:nvSpPr>
        <p:spPr>
          <a:xfrm>
            <a:off x="1507846" y="4800600"/>
            <a:ext cx="3536442" cy="237744"/>
          </a:xfrm>
          <a:prstGeom prst="roundRect">
            <a:avLst>
              <a:gd name="adj" fmla="val 11538"/>
            </a:avLst>
          </a:prstGeom>
          <a:solidFill>
            <a:srgbClr val="2E9BF5"/>
          </a:solidFill>
          <a:ln/>
        </p:spPr>
      </p:sp>
      <p:sp>
        <p:nvSpPr>
          <p:cNvPr id="33" name="Shape 30"/>
          <p:cNvSpPr/>
          <p:nvPr/>
        </p:nvSpPr>
        <p:spPr>
          <a:xfrm>
            <a:off x="7147408" y="4800600"/>
            <a:ext cx="1872234" cy="237744"/>
          </a:xfrm>
          <a:prstGeom prst="roundRect">
            <a:avLst>
              <a:gd name="adj" fmla="val 11538"/>
            </a:avLst>
          </a:prstGeom>
          <a:solidFill>
            <a:srgbClr val="FFA94D">
              <a:alpha val="85000"/>
            </a:srgbClr>
          </a:solidFill>
          <a:ln/>
        </p:spPr>
      </p:sp>
      <p:sp>
        <p:nvSpPr>
          <p:cNvPr id="34" name="Text 31"/>
          <p:cNvSpPr/>
          <p:nvPr/>
        </p:nvSpPr>
        <p:spPr>
          <a:xfrm>
            <a:off x="5135728" y="5148072"/>
            <a:ext cx="1920240" cy="347472"/>
          </a:xfrm>
          <a:prstGeom prst="rect">
            <a:avLst/>
          </a:prstGeom>
          <a:noFill/>
          <a:ln/>
        </p:spPr>
        <p:txBody>
          <a:bodyPr wrap="square" lIns="0" tIns="0" rIns="0" bIns="0" rtlCol="0" anchor="ctr"/>
          <a:lstStyle/>
          <a:p>
            <a:pPr algn="ctr" indent="0" marL="0">
              <a:buNone/>
            </a:pPr>
            <a:r>
              <a:rPr lang="en-US" sz="1000" dirty="0">
                <a:solidFill>
                  <a:srgbClr val="9BB0CC"/>
                </a:solidFill>
                <a:latin typeface="Calibri" pitchFamily="34" charset="0"/>
                <a:ea typeface="Calibri" pitchFamily="34" charset="-122"/>
                <a:cs typeface="Calibri" pitchFamily="34" charset="-120"/>
              </a:rPr>
              <a:t>Defense Budget</a:t>
            </a:r>
            <a:endParaRPr lang="en-US" sz="1000" dirty="0"/>
          </a:p>
        </p:txBody>
      </p:sp>
      <p:sp>
        <p:nvSpPr>
          <p:cNvPr id="35" name="Shape 32"/>
          <p:cNvSpPr/>
          <p:nvPr/>
        </p:nvSpPr>
        <p:spPr>
          <a:xfrm>
            <a:off x="2547976" y="5202936"/>
            <a:ext cx="2496312" cy="237744"/>
          </a:xfrm>
          <a:prstGeom prst="roundRect">
            <a:avLst>
              <a:gd name="adj" fmla="val 11538"/>
            </a:avLst>
          </a:prstGeom>
          <a:solidFill>
            <a:srgbClr val="2E9BF5"/>
          </a:solidFill>
          <a:ln/>
        </p:spPr>
      </p:sp>
      <p:sp>
        <p:nvSpPr>
          <p:cNvPr id="36" name="Shape 33"/>
          <p:cNvSpPr/>
          <p:nvPr/>
        </p:nvSpPr>
        <p:spPr>
          <a:xfrm>
            <a:off x="7147408" y="5202936"/>
            <a:ext cx="3328416" cy="237744"/>
          </a:xfrm>
          <a:prstGeom prst="roundRect">
            <a:avLst>
              <a:gd name="adj" fmla="val 11538"/>
            </a:avLst>
          </a:prstGeom>
          <a:solidFill>
            <a:srgbClr val="FFA94D">
              <a:alpha val="85000"/>
            </a:srgbClr>
          </a:solidFill>
          <a:ln/>
        </p:spPr>
      </p:sp>
      <p:sp>
        <p:nvSpPr>
          <p:cNvPr id="37" name="Text 34"/>
          <p:cNvSpPr/>
          <p:nvPr/>
        </p:nvSpPr>
        <p:spPr>
          <a:xfrm>
            <a:off x="457200" y="5605272"/>
            <a:ext cx="11274552" cy="274320"/>
          </a:xfrm>
          <a:prstGeom prst="rect">
            <a:avLst/>
          </a:prstGeom>
          <a:noFill/>
          <a:ln/>
        </p:spPr>
        <p:txBody>
          <a:bodyPr wrap="square" lIns="0" tIns="0" rIns="0" bIns="0" rtlCol="0" anchor="ctr"/>
          <a:lstStyle/>
          <a:p>
            <a:pPr algn="ctr" indent="0" marL="0">
              <a:buNone/>
            </a:pPr>
            <a:r>
              <a:rPr lang="en-US" sz="1000" i="1" dirty="0">
                <a:solidFill>
                  <a:srgbClr val="5C7291"/>
                </a:solidFill>
                <a:latin typeface="Calibri" pitchFamily="34" charset="0"/>
                <a:ea typeface="Calibri" pitchFamily="34" charset="-122"/>
                <a:cs typeface="Calibri" pitchFamily="34" charset="-120"/>
              </a:rPr>
              <a:t>Illustrative example — actual figures are displayed dynamically from the live dataset in Power BI.</a:t>
            </a:r>
            <a:endParaRPr lang="en-US" sz="1000" dirty="0"/>
          </a:p>
        </p:txBody>
      </p:sp>
      <p:sp>
        <p:nvSpPr>
          <p:cNvPr id="38" name="Shape 35"/>
          <p:cNvSpPr/>
          <p:nvPr/>
        </p:nvSpPr>
        <p:spPr>
          <a:xfrm>
            <a:off x="457200" y="5989320"/>
            <a:ext cx="365760" cy="365760"/>
          </a:xfrm>
          <a:prstGeom prst="ellipse">
            <a:avLst/>
          </a:prstGeom>
          <a:solidFill>
            <a:srgbClr val="1B324F"/>
          </a:solidFill>
          <a:ln/>
        </p:spPr>
      </p:sp>
      <p:pic>
        <p:nvPicPr>
          <p:cNvPr id="39" name="Image 1" descr="preencoded.png">    </p:cNvPr>
          <p:cNvPicPr>
            <a:picLocks noChangeAspect="1"/>
          </p:cNvPicPr>
          <p:nvPr/>
        </p:nvPicPr>
        <p:blipFill>
          <a:blip r:embed="rId2"/>
          <a:stretch>
            <a:fillRect/>
          </a:stretch>
        </p:blipFill>
        <p:spPr>
          <a:xfrm>
            <a:off x="504749" y="6036869"/>
            <a:ext cx="270662" cy="270662"/>
          </a:xfrm>
          <a:prstGeom prst="rect">
            <a:avLst/>
          </a:prstGeom>
        </p:spPr>
      </p:pic>
      <p:sp>
        <p:nvSpPr>
          <p:cNvPr id="40" name="Text 36"/>
          <p:cNvSpPr/>
          <p:nvPr/>
        </p:nvSpPr>
        <p:spPr>
          <a:xfrm>
            <a:off x="914400" y="5916168"/>
            <a:ext cx="2267712" cy="502920"/>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Identify strengths</a:t>
            </a:r>
            <a:endParaRPr lang="en-US" sz="950" dirty="0"/>
          </a:p>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&amp; weaknesses</a:t>
            </a:r>
            <a:endParaRPr lang="en-US" sz="950" dirty="0"/>
          </a:p>
        </p:txBody>
      </p:sp>
      <p:sp>
        <p:nvSpPr>
          <p:cNvPr id="41" name="Shape 37"/>
          <p:cNvSpPr/>
          <p:nvPr/>
        </p:nvSpPr>
        <p:spPr>
          <a:xfrm>
            <a:off x="3291840" y="5989320"/>
            <a:ext cx="365760" cy="365760"/>
          </a:xfrm>
          <a:prstGeom prst="ellipse">
            <a:avLst/>
          </a:prstGeom>
          <a:solidFill>
            <a:srgbClr val="1B324F"/>
          </a:solidFill>
          <a:ln/>
        </p:spPr>
      </p:sp>
      <p:pic>
        <p:nvPicPr>
          <p:cNvPr id="42" name="Image 2" descr="preencoded.png">    </p:cNvPr>
          <p:cNvPicPr>
            <a:picLocks noChangeAspect="1"/>
          </p:cNvPicPr>
          <p:nvPr/>
        </p:nvPicPr>
        <p:blipFill>
          <a:blip r:embed="rId3"/>
          <a:stretch>
            <a:fillRect/>
          </a:stretch>
        </p:blipFill>
        <p:spPr>
          <a:xfrm>
            <a:off x="3339389" y="6036869"/>
            <a:ext cx="270662" cy="270662"/>
          </a:xfrm>
          <a:prstGeom prst="rect">
            <a:avLst/>
          </a:prstGeom>
        </p:spPr>
      </p:pic>
      <p:sp>
        <p:nvSpPr>
          <p:cNvPr id="43" name="Text 38"/>
          <p:cNvSpPr/>
          <p:nvPr/>
        </p:nvSpPr>
        <p:spPr>
          <a:xfrm>
            <a:off x="3749040" y="5916168"/>
            <a:ext cx="2267712" cy="502920"/>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Compare military</a:t>
            </a:r>
            <a:endParaRPr lang="en-US" sz="950" dirty="0"/>
          </a:p>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resources</a:t>
            </a:r>
            <a:endParaRPr lang="en-US" sz="950" dirty="0"/>
          </a:p>
        </p:txBody>
      </p:sp>
      <p:sp>
        <p:nvSpPr>
          <p:cNvPr id="44" name="Shape 39"/>
          <p:cNvSpPr/>
          <p:nvPr/>
        </p:nvSpPr>
        <p:spPr>
          <a:xfrm>
            <a:off x="6126480" y="5989320"/>
            <a:ext cx="365760" cy="365760"/>
          </a:xfrm>
          <a:prstGeom prst="ellipse">
            <a:avLst/>
          </a:prstGeom>
          <a:solidFill>
            <a:srgbClr val="1B324F"/>
          </a:solidFill>
          <a:ln/>
        </p:spPr>
      </p:sp>
      <p:pic>
        <p:nvPicPr>
          <p:cNvPr id="45" name="Image 3" descr="preencoded.png">    </p:cNvPr>
          <p:cNvPicPr>
            <a:picLocks noChangeAspect="1"/>
          </p:cNvPicPr>
          <p:nvPr/>
        </p:nvPicPr>
        <p:blipFill>
          <a:blip r:embed="rId4"/>
          <a:stretch>
            <a:fillRect/>
          </a:stretch>
        </p:blipFill>
        <p:spPr>
          <a:xfrm>
            <a:off x="6174029" y="6036869"/>
            <a:ext cx="270662" cy="270662"/>
          </a:xfrm>
          <a:prstGeom prst="rect">
            <a:avLst/>
          </a:prstGeom>
        </p:spPr>
      </p:pic>
      <p:sp>
        <p:nvSpPr>
          <p:cNvPr id="46" name="Text 40"/>
          <p:cNvSpPr/>
          <p:nvPr/>
        </p:nvSpPr>
        <p:spPr>
          <a:xfrm>
            <a:off x="6583680" y="5916168"/>
            <a:ext cx="2267712" cy="502920"/>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Understand key</a:t>
            </a:r>
            <a:endParaRPr lang="en-US" sz="950" dirty="0"/>
          </a:p>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differences</a:t>
            </a:r>
            <a:endParaRPr lang="en-US" sz="950" dirty="0"/>
          </a:p>
        </p:txBody>
      </p:sp>
      <p:sp>
        <p:nvSpPr>
          <p:cNvPr id="47" name="Shape 41"/>
          <p:cNvSpPr/>
          <p:nvPr/>
        </p:nvSpPr>
        <p:spPr>
          <a:xfrm>
            <a:off x="8961120" y="5989320"/>
            <a:ext cx="365760" cy="365760"/>
          </a:xfrm>
          <a:prstGeom prst="ellipse">
            <a:avLst/>
          </a:prstGeom>
          <a:solidFill>
            <a:srgbClr val="1B324F"/>
          </a:solidFill>
          <a:ln/>
        </p:spPr>
      </p:sp>
      <p:pic>
        <p:nvPicPr>
          <p:cNvPr id="48" name="Image 4" descr="preencoded.png">    </p:cNvPr>
          <p:cNvPicPr>
            <a:picLocks noChangeAspect="1"/>
          </p:cNvPicPr>
          <p:nvPr/>
        </p:nvPicPr>
        <p:blipFill>
          <a:blip r:embed="rId5"/>
          <a:stretch>
            <a:fillRect/>
          </a:stretch>
        </p:blipFill>
        <p:spPr>
          <a:xfrm>
            <a:off x="9008669" y="6036869"/>
            <a:ext cx="270662" cy="270662"/>
          </a:xfrm>
          <a:prstGeom prst="rect">
            <a:avLst/>
          </a:prstGeom>
        </p:spPr>
      </p:pic>
      <p:sp>
        <p:nvSpPr>
          <p:cNvPr id="49" name="Text 42"/>
          <p:cNvSpPr/>
          <p:nvPr/>
        </p:nvSpPr>
        <p:spPr>
          <a:xfrm>
            <a:off x="9418320" y="5916168"/>
            <a:ext cx="2267712" cy="502920"/>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Support data-driven</a:t>
            </a:r>
            <a:endParaRPr lang="en-US" sz="950" dirty="0"/>
          </a:p>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interpretation</a:t>
            </a:r>
            <a:endParaRPr lang="en-US" sz="950" dirty="0"/>
          </a:p>
        </p:txBody>
      </p:sp>
      <p:sp>
        <p:nvSpPr>
          <p:cNvPr id="50" name="Text 43"/>
          <p:cNvSpPr/>
          <p:nvPr/>
        </p:nvSpPr>
        <p:spPr>
          <a:xfrm>
            <a:off x="457200" y="6528816"/>
            <a:ext cx="7315200" cy="256032"/>
          </a:xfrm>
          <a:prstGeom prst="rect">
            <a:avLst/>
          </a:prstGeom>
          <a:noFill/>
          <a:ln/>
        </p:spPr>
        <p:txBody>
          <a:bodyPr wrap="square" lIns="0" tIns="0" rIns="0" bIns="0" rtlCol="0" anchor="ctr"/>
          <a:lstStyle/>
          <a:p>
            <a:pPr indent="0" marL="0">
              <a:buNone/>
            </a:pPr>
            <a:r>
              <a:rPr lang="en-US" sz="800" spc="100" kern="0" dirty="0">
                <a:solidFill>
                  <a:srgbClr val="5C7291"/>
                </a:solidFill>
                <a:latin typeface="Calibri" pitchFamily="34" charset="0"/>
                <a:ea typeface="Calibri" pitchFamily="34" charset="-122"/>
                <a:cs typeface="Calibri" pitchFamily="34" charset="-120"/>
              </a:rPr>
              <a:t>UNIFIED MILITARY ANALYTICS &amp; COMPARISON DASHBOARD</a:t>
            </a:r>
            <a:endParaRPr lang="en-US" sz="800" dirty="0"/>
          </a:p>
        </p:txBody>
      </p:sp>
      <p:sp>
        <p:nvSpPr>
          <p:cNvPr id="51" name="Text 44"/>
          <p:cNvSpPr/>
          <p:nvPr/>
        </p:nvSpPr>
        <p:spPr>
          <a:xfrm>
            <a:off x="8991295" y="6528816"/>
            <a:ext cx="2743200" cy="256032"/>
          </a:xfrm>
          <a:prstGeom prst="rect">
            <a:avLst/>
          </a:prstGeom>
          <a:noFill/>
          <a:ln/>
        </p:spPr>
        <p:txBody>
          <a:bodyPr wrap="square" lIns="0" tIns="0" rIns="0" bIns="0" rtlCol="0" anchor="ctr"/>
          <a:lstStyle/>
          <a:p>
            <a:pPr algn="r" indent="0" marL="0">
              <a:buNone/>
            </a:pPr>
            <a:r>
              <a:rPr lang="en-US" sz="800" dirty="0">
                <a:solidFill>
                  <a:srgbClr val="5C7291"/>
                </a:solidFill>
                <a:latin typeface="Calibri" pitchFamily="34" charset="0"/>
                <a:ea typeface="Calibri" pitchFamily="34" charset="-122"/>
                <a:cs typeface="Calibri" pitchFamily="34" charset="-120"/>
              </a:rPr>
              <a:t>R. Meghanasri   |   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457200" y="384048"/>
            <a:ext cx="2807208" cy="310896"/>
          </a:xfrm>
          <a:prstGeom prst="roundRect">
            <a:avLst>
              <a:gd name="adj" fmla="val 50000"/>
            </a:avLst>
          </a:prstGeom>
          <a:solidFill>
            <a:srgbClr val="13253F"/>
          </a:solidFill>
          <a:ln w="9525">
            <a:solidFill>
              <a:srgbClr val="24405F"/>
            </a:solidFill>
            <a:prstDash val="solid"/>
          </a:ln>
        </p:spPr>
      </p:sp>
      <p:sp>
        <p:nvSpPr>
          <p:cNvPr id="5" name="Text 3"/>
          <p:cNvSpPr/>
          <p:nvPr/>
        </p:nvSpPr>
        <p:spPr>
          <a:xfrm>
            <a:off x="457200" y="384048"/>
            <a:ext cx="2807208"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MULTI-NATION ANALYSIS</a:t>
            </a:r>
            <a:endParaRPr lang="en-US" sz="1050" dirty="0"/>
          </a:p>
        </p:txBody>
      </p:sp>
      <p:sp>
        <p:nvSpPr>
          <p:cNvPr id="6" name="Text 4"/>
          <p:cNvSpPr/>
          <p:nvPr/>
        </p:nvSpPr>
        <p:spPr>
          <a:xfrm>
            <a:off x="457200" y="786384"/>
            <a:ext cx="10607040" cy="685800"/>
          </a:xfrm>
          <a:prstGeom prst="rect">
            <a:avLst/>
          </a:prstGeom>
          <a:noFill/>
          <a:ln/>
        </p:spPr>
        <p:txBody>
          <a:bodyPr wrap="square" lIns="0" tIns="0" rIns="0" bIns="0" rtlCol="0" anchor="ctr"/>
          <a:lstStyle/>
          <a:p>
            <a:pPr indent="0" marL="0">
              <a:buNone/>
            </a:pPr>
            <a:r>
              <a:rPr lang="en-US" sz="3000" b="1" dirty="0">
                <a:solidFill>
                  <a:srgbClr val="F2F6FA"/>
                </a:solidFill>
                <a:latin typeface="Cambria" pitchFamily="34" charset="0"/>
                <a:ea typeface="Cambria" pitchFamily="34" charset="-122"/>
                <a:cs typeface="Cambria" pitchFamily="34" charset="-120"/>
              </a:rPr>
              <a:t>Coalition Builder &amp; Key Insights</a:t>
            </a:r>
            <a:endParaRPr lang="en-US" sz="3000" dirty="0"/>
          </a:p>
        </p:txBody>
      </p:sp>
      <p:sp>
        <p:nvSpPr>
          <p:cNvPr id="7" name="Shape 5"/>
          <p:cNvSpPr/>
          <p:nvPr/>
        </p:nvSpPr>
        <p:spPr>
          <a:xfrm>
            <a:off x="457200" y="1508760"/>
            <a:ext cx="5349240" cy="4846320"/>
          </a:xfrm>
          <a:prstGeom prst="roundRect">
            <a:avLst>
              <a:gd name="adj" fmla="val 1887"/>
            </a:avLst>
          </a:prstGeom>
          <a:solidFill>
            <a:srgbClr val="0F1E33"/>
          </a:solidFill>
          <a:ln w="12700">
            <a:solidFill>
              <a:srgbClr val="24405F"/>
            </a:solidFill>
            <a:prstDash val="solid"/>
          </a:ln>
        </p:spPr>
      </p:sp>
      <p:sp>
        <p:nvSpPr>
          <p:cNvPr id="8" name="Shape 6"/>
          <p:cNvSpPr/>
          <p:nvPr/>
        </p:nvSpPr>
        <p:spPr>
          <a:xfrm>
            <a:off x="731520" y="1755648"/>
            <a:ext cx="502920" cy="502920"/>
          </a:xfrm>
          <a:prstGeom prst="ellipse">
            <a:avLst/>
          </a:prstGeom>
          <a:solidFill>
            <a:srgbClr val="1B324F"/>
          </a:solidFill>
          <a:ln/>
        </p:spPr>
      </p:sp>
      <p:pic>
        <p:nvPicPr>
          <p:cNvPr id="9" name="Image 0" descr="preencoded.png">    </p:cNvPr>
          <p:cNvPicPr>
            <a:picLocks noChangeAspect="1"/>
          </p:cNvPicPr>
          <p:nvPr/>
        </p:nvPicPr>
        <p:blipFill>
          <a:blip r:embed="rId1"/>
          <a:stretch>
            <a:fillRect/>
          </a:stretch>
        </p:blipFill>
        <p:spPr>
          <a:xfrm>
            <a:off x="796900" y="1821028"/>
            <a:ext cx="372161" cy="372161"/>
          </a:xfrm>
          <a:prstGeom prst="rect">
            <a:avLst/>
          </a:prstGeom>
        </p:spPr>
      </p:pic>
      <p:sp>
        <p:nvSpPr>
          <p:cNvPr id="10" name="Text 7"/>
          <p:cNvSpPr/>
          <p:nvPr/>
        </p:nvSpPr>
        <p:spPr>
          <a:xfrm>
            <a:off x="1417320" y="1783080"/>
            <a:ext cx="4114800" cy="457200"/>
          </a:xfrm>
          <a:prstGeom prst="rect">
            <a:avLst/>
          </a:prstGeom>
          <a:noFill/>
          <a:ln/>
        </p:spPr>
        <p:txBody>
          <a:bodyPr wrap="square" lIns="0" tIns="0" rIns="0" bIns="0" rtlCol="0" anchor="ctr"/>
          <a:lstStyle/>
          <a:p>
            <a:pPr indent="0" marL="0">
              <a:buNone/>
            </a:pPr>
            <a:r>
              <a:rPr lang="en-US" sz="1700" b="1" dirty="0">
                <a:solidFill>
                  <a:srgbClr val="F2F6FA"/>
                </a:solidFill>
                <a:latin typeface="Cambria" pitchFamily="34" charset="0"/>
                <a:ea typeface="Cambria" pitchFamily="34" charset="-122"/>
                <a:cs typeface="Cambria" pitchFamily="34" charset="-120"/>
              </a:rPr>
              <a:t>Coalition Builder</a:t>
            </a:r>
            <a:endParaRPr lang="en-US" sz="1700" dirty="0"/>
          </a:p>
        </p:txBody>
      </p:sp>
      <p:sp>
        <p:nvSpPr>
          <p:cNvPr id="11" name="Shape 8"/>
          <p:cNvSpPr/>
          <p:nvPr/>
        </p:nvSpPr>
        <p:spPr>
          <a:xfrm>
            <a:off x="749808" y="2487168"/>
            <a:ext cx="274320" cy="274320"/>
          </a:xfrm>
          <a:prstGeom prst="ellipse">
            <a:avLst/>
          </a:prstGeom>
          <a:solidFill>
            <a:srgbClr val="1B324F"/>
          </a:solidFill>
          <a:ln/>
        </p:spPr>
      </p:sp>
      <p:pic>
        <p:nvPicPr>
          <p:cNvPr id="12" name="Image 1" descr="preencoded.png">    </p:cNvPr>
          <p:cNvPicPr>
            <a:picLocks noChangeAspect="1"/>
          </p:cNvPicPr>
          <p:nvPr/>
        </p:nvPicPr>
        <p:blipFill>
          <a:blip r:embed="rId2"/>
          <a:stretch>
            <a:fillRect/>
          </a:stretch>
        </p:blipFill>
        <p:spPr>
          <a:xfrm>
            <a:off x="785470" y="2522830"/>
            <a:ext cx="202997" cy="202997"/>
          </a:xfrm>
          <a:prstGeom prst="rect">
            <a:avLst/>
          </a:prstGeom>
        </p:spPr>
      </p:pic>
      <p:sp>
        <p:nvSpPr>
          <p:cNvPr id="13" name="Text 9"/>
          <p:cNvSpPr/>
          <p:nvPr/>
        </p:nvSpPr>
        <p:spPr>
          <a:xfrm>
            <a:off x="1170432" y="2441448"/>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Select multiple countries to form a coalition</a:t>
            </a:r>
            <a:endParaRPr lang="en-US" sz="1200" dirty="0"/>
          </a:p>
        </p:txBody>
      </p:sp>
      <p:sp>
        <p:nvSpPr>
          <p:cNvPr id="14" name="Shape 10"/>
          <p:cNvSpPr/>
          <p:nvPr/>
        </p:nvSpPr>
        <p:spPr>
          <a:xfrm>
            <a:off x="749808" y="3145536"/>
            <a:ext cx="274320" cy="274320"/>
          </a:xfrm>
          <a:prstGeom prst="ellipse">
            <a:avLst/>
          </a:prstGeom>
          <a:solidFill>
            <a:srgbClr val="1B324F"/>
          </a:solidFill>
          <a:ln/>
        </p:spPr>
      </p:sp>
      <p:pic>
        <p:nvPicPr>
          <p:cNvPr id="15" name="Image 2" descr="preencoded.png">    </p:cNvPr>
          <p:cNvPicPr>
            <a:picLocks noChangeAspect="1"/>
          </p:cNvPicPr>
          <p:nvPr/>
        </p:nvPicPr>
        <p:blipFill>
          <a:blip r:embed="rId3"/>
          <a:stretch>
            <a:fillRect/>
          </a:stretch>
        </p:blipFill>
        <p:spPr>
          <a:xfrm>
            <a:off x="785470" y="3181198"/>
            <a:ext cx="202997" cy="202997"/>
          </a:xfrm>
          <a:prstGeom prst="rect">
            <a:avLst/>
          </a:prstGeom>
        </p:spPr>
      </p:pic>
      <p:sp>
        <p:nvSpPr>
          <p:cNvPr id="16" name="Text 11"/>
          <p:cNvSpPr/>
          <p:nvPr/>
        </p:nvSpPr>
        <p:spPr>
          <a:xfrm>
            <a:off x="1170432" y="3099816"/>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View combined military strength as one profile</a:t>
            </a:r>
            <a:endParaRPr lang="en-US" sz="1200" dirty="0"/>
          </a:p>
        </p:txBody>
      </p:sp>
      <p:sp>
        <p:nvSpPr>
          <p:cNvPr id="17" name="Shape 12"/>
          <p:cNvSpPr/>
          <p:nvPr/>
        </p:nvSpPr>
        <p:spPr>
          <a:xfrm>
            <a:off x="749808" y="3803904"/>
            <a:ext cx="274320" cy="274320"/>
          </a:xfrm>
          <a:prstGeom prst="ellipse">
            <a:avLst/>
          </a:prstGeom>
          <a:solidFill>
            <a:srgbClr val="1B324F"/>
          </a:solidFill>
          <a:ln/>
        </p:spPr>
      </p:sp>
      <p:pic>
        <p:nvPicPr>
          <p:cNvPr id="18" name="Image 3" descr="preencoded.png">    </p:cNvPr>
          <p:cNvPicPr>
            <a:picLocks noChangeAspect="1"/>
          </p:cNvPicPr>
          <p:nvPr/>
        </p:nvPicPr>
        <p:blipFill>
          <a:blip r:embed="rId4"/>
          <a:stretch>
            <a:fillRect/>
          </a:stretch>
        </p:blipFill>
        <p:spPr>
          <a:xfrm>
            <a:off x="785470" y="3839566"/>
            <a:ext cx="202997" cy="202997"/>
          </a:xfrm>
          <a:prstGeom prst="rect">
            <a:avLst/>
          </a:prstGeom>
        </p:spPr>
      </p:pic>
      <p:sp>
        <p:nvSpPr>
          <p:cNvPr id="19" name="Text 13"/>
          <p:cNvSpPr/>
          <p:nvPr/>
        </p:nvSpPr>
        <p:spPr>
          <a:xfrm>
            <a:off x="1170432" y="3758184"/>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Aggregate personnel across every selected nation</a:t>
            </a:r>
            <a:endParaRPr lang="en-US" sz="1200" dirty="0"/>
          </a:p>
        </p:txBody>
      </p:sp>
      <p:sp>
        <p:nvSpPr>
          <p:cNvPr id="20" name="Shape 14"/>
          <p:cNvSpPr/>
          <p:nvPr/>
        </p:nvSpPr>
        <p:spPr>
          <a:xfrm>
            <a:off x="749808" y="4462272"/>
            <a:ext cx="274320" cy="274320"/>
          </a:xfrm>
          <a:prstGeom prst="ellipse">
            <a:avLst/>
          </a:prstGeom>
          <a:solidFill>
            <a:srgbClr val="1B324F"/>
          </a:solidFill>
          <a:ln/>
        </p:spPr>
      </p:sp>
      <p:pic>
        <p:nvPicPr>
          <p:cNvPr id="21" name="Image 4" descr="preencoded.png">    </p:cNvPr>
          <p:cNvPicPr>
            <a:picLocks noChangeAspect="1"/>
          </p:cNvPicPr>
          <p:nvPr/>
        </p:nvPicPr>
        <p:blipFill>
          <a:blip r:embed="rId5"/>
          <a:stretch>
            <a:fillRect/>
          </a:stretch>
        </p:blipFill>
        <p:spPr>
          <a:xfrm>
            <a:off x="785470" y="4497934"/>
            <a:ext cx="202997" cy="202997"/>
          </a:xfrm>
          <a:prstGeom prst="rect">
            <a:avLst/>
          </a:prstGeom>
        </p:spPr>
      </p:pic>
      <p:sp>
        <p:nvSpPr>
          <p:cNvPr id="22" name="Text 15"/>
          <p:cNvSpPr/>
          <p:nvPr/>
        </p:nvSpPr>
        <p:spPr>
          <a:xfrm>
            <a:off x="1170432" y="4416552"/>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Roll up combined aircraft, land &amp; naval capability</a:t>
            </a:r>
            <a:endParaRPr lang="en-US" sz="1200" dirty="0"/>
          </a:p>
        </p:txBody>
      </p:sp>
      <p:sp>
        <p:nvSpPr>
          <p:cNvPr id="23" name="Shape 16"/>
          <p:cNvSpPr/>
          <p:nvPr/>
        </p:nvSpPr>
        <p:spPr>
          <a:xfrm>
            <a:off x="749808" y="5120640"/>
            <a:ext cx="274320" cy="274320"/>
          </a:xfrm>
          <a:prstGeom prst="ellipse">
            <a:avLst/>
          </a:prstGeom>
          <a:solidFill>
            <a:srgbClr val="1B324F"/>
          </a:solidFill>
          <a:ln/>
        </p:spPr>
      </p:sp>
      <p:pic>
        <p:nvPicPr>
          <p:cNvPr id="24" name="Image 5" descr="preencoded.png">    </p:cNvPr>
          <p:cNvPicPr>
            <a:picLocks noChangeAspect="1"/>
          </p:cNvPicPr>
          <p:nvPr/>
        </p:nvPicPr>
        <p:blipFill>
          <a:blip r:embed="rId6"/>
          <a:stretch>
            <a:fillRect/>
          </a:stretch>
        </p:blipFill>
        <p:spPr>
          <a:xfrm>
            <a:off x="785470" y="5156302"/>
            <a:ext cx="202997" cy="202997"/>
          </a:xfrm>
          <a:prstGeom prst="rect">
            <a:avLst/>
          </a:prstGeom>
        </p:spPr>
      </p:pic>
      <p:sp>
        <p:nvSpPr>
          <p:cNvPr id="25" name="Text 17"/>
          <p:cNvSpPr/>
          <p:nvPr/>
        </p:nvSpPr>
        <p:spPr>
          <a:xfrm>
            <a:off x="1170432" y="5074920"/>
            <a:ext cx="4425696" cy="365760"/>
          </a:xfrm>
          <a:prstGeom prst="rect">
            <a:avLst/>
          </a:prstGeom>
          <a:noFill/>
          <a:ln/>
        </p:spPr>
        <p:txBody>
          <a:bodyPr wrap="square" lIns="0" tIns="0" rIns="0" bIns="0" rtlCol="0" anchor="ctr"/>
          <a:lstStyle/>
          <a:p>
            <a:pPr indent="0" marL="0">
              <a:lnSpc>
                <a:spcPct val="105000"/>
              </a:lnSpc>
              <a:buNone/>
            </a:pPr>
            <a:r>
              <a:rPr lang="en-US" sz="1200" dirty="0">
                <a:solidFill>
                  <a:srgbClr val="F2F6FA"/>
                </a:solidFill>
                <a:latin typeface="Calibri" pitchFamily="34" charset="0"/>
                <a:ea typeface="Calibri" pitchFamily="34" charset="-122"/>
                <a:cs typeface="Calibri" pitchFamily="34" charset="-120"/>
              </a:rPr>
              <a:t>Compare total defense budget across the coalition</a:t>
            </a:r>
            <a:endParaRPr lang="en-US" sz="1200" dirty="0"/>
          </a:p>
        </p:txBody>
      </p:sp>
      <p:sp>
        <p:nvSpPr>
          <p:cNvPr id="26" name="Shape 18"/>
          <p:cNvSpPr/>
          <p:nvPr/>
        </p:nvSpPr>
        <p:spPr>
          <a:xfrm>
            <a:off x="6035040" y="1508760"/>
            <a:ext cx="5696712" cy="4846320"/>
          </a:xfrm>
          <a:prstGeom prst="roundRect">
            <a:avLst>
              <a:gd name="adj" fmla="val 1887"/>
            </a:avLst>
          </a:prstGeom>
          <a:solidFill>
            <a:srgbClr val="0F1E33"/>
          </a:solidFill>
          <a:ln w="12700">
            <a:solidFill>
              <a:srgbClr val="24405F"/>
            </a:solidFill>
            <a:prstDash val="solid"/>
          </a:ln>
        </p:spPr>
      </p:sp>
      <p:sp>
        <p:nvSpPr>
          <p:cNvPr id="27" name="Shape 19"/>
          <p:cNvSpPr/>
          <p:nvPr/>
        </p:nvSpPr>
        <p:spPr>
          <a:xfrm>
            <a:off x="6327648" y="1755648"/>
            <a:ext cx="502920" cy="502920"/>
          </a:xfrm>
          <a:prstGeom prst="ellipse">
            <a:avLst/>
          </a:prstGeom>
          <a:solidFill>
            <a:srgbClr val="1B324F"/>
          </a:solidFill>
          <a:ln/>
        </p:spPr>
      </p:sp>
      <p:pic>
        <p:nvPicPr>
          <p:cNvPr id="28" name="Image 6" descr="preencoded.png">    </p:cNvPr>
          <p:cNvPicPr>
            <a:picLocks noChangeAspect="1"/>
          </p:cNvPicPr>
          <p:nvPr/>
        </p:nvPicPr>
        <p:blipFill>
          <a:blip r:embed="rId7"/>
          <a:stretch>
            <a:fillRect/>
          </a:stretch>
        </p:blipFill>
        <p:spPr>
          <a:xfrm>
            <a:off x="6393028" y="1821028"/>
            <a:ext cx="372161" cy="372161"/>
          </a:xfrm>
          <a:prstGeom prst="rect">
            <a:avLst/>
          </a:prstGeom>
        </p:spPr>
      </p:pic>
      <p:sp>
        <p:nvSpPr>
          <p:cNvPr id="29" name="Text 20"/>
          <p:cNvSpPr/>
          <p:nvPr/>
        </p:nvSpPr>
        <p:spPr>
          <a:xfrm>
            <a:off x="6995160" y="1783080"/>
            <a:ext cx="4389120" cy="457200"/>
          </a:xfrm>
          <a:prstGeom prst="rect">
            <a:avLst/>
          </a:prstGeom>
          <a:noFill/>
          <a:ln/>
        </p:spPr>
        <p:txBody>
          <a:bodyPr wrap="square" lIns="0" tIns="0" rIns="0" bIns="0" rtlCol="0" anchor="ctr"/>
          <a:lstStyle/>
          <a:p>
            <a:pPr indent="0" marL="0">
              <a:buNone/>
            </a:pPr>
            <a:r>
              <a:rPr lang="en-US" sz="1700" b="1" dirty="0">
                <a:solidFill>
                  <a:srgbClr val="F2F6FA"/>
                </a:solidFill>
                <a:latin typeface="Cambria" pitchFamily="34" charset="0"/>
                <a:ea typeface="Cambria" pitchFamily="34" charset="-122"/>
                <a:cs typeface="Cambria" pitchFamily="34" charset="-120"/>
              </a:rPr>
              <a:t>Key Insights</a:t>
            </a:r>
            <a:endParaRPr lang="en-US" sz="1700" dirty="0"/>
          </a:p>
        </p:txBody>
      </p:sp>
      <p:sp>
        <p:nvSpPr>
          <p:cNvPr id="30" name="Shape 21"/>
          <p:cNvSpPr/>
          <p:nvPr/>
        </p:nvSpPr>
        <p:spPr>
          <a:xfrm>
            <a:off x="6327648" y="2487168"/>
            <a:ext cx="274320" cy="274320"/>
          </a:xfrm>
          <a:prstGeom prst="ellipse">
            <a:avLst/>
          </a:prstGeom>
          <a:solidFill>
            <a:srgbClr val="1B324F"/>
          </a:solidFill>
          <a:ln/>
        </p:spPr>
      </p:sp>
      <p:pic>
        <p:nvPicPr>
          <p:cNvPr id="31" name="Image 7" descr="preencoded.png">    </p:cNvPr>
          <p:cNvPicPr>
            <a:picLocks noChangeAspect="1"/>
          </p:cNvPicPr>
          <p:nvPr/>
        </p:nvPicPr>
        <p:blipFill>
          <a:blip r:embed="rId8"/>
          <a:stretch>
            <a:fillRect/>
          </a:stretch>
        </p:blipFill>
        <p:spPr>
          <a:xfrm>
            <a:off x="6363310" y="2522830"/>
            <a:ext cx="202997" cy="202997"/>
          </a:xfrm>
          <a:prstGeom prst="rect">
            <a:avLst/>
          </a:prstGeom>
        </p:spPr>
      </p:pic>
      <p:sp>
        <p:nvSpPr>
          <p:cNvPr id="32" name="Text 22"/>
          <p:cNvSpPr/>
          <p:nvPr/>
        </p:nvSpPr>
        <p:spPr>
          <a:xfrm>
            <a:off x="6748272" y="2441448"/>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Military strength is multidimensional — not defined by a single KPI</a:t>
            </a:r>
            <a:endParaRPr lang="en-US" sz="1150" dirty="0"/>
          </a:p>
        </p:txBody>
      </p:sp>
      <p:sp>
        <p:nvSpPr>
          <p:cNvPr id="33" name="Shape 23"/>
          <p:cNvSpPr/>
          <p:nvPr/>
        </p:nvSpPr>
        <p:spPr>
          <a:xfrm>
            <a:off x="6327648" y="3145536"/>
            <a:ext cx="274320" cy="274320"/>
          </a:xfrm>
          <a:prstGeom prst="ellipse">
            <a:avLst/>
          </a:prstGeom>
          <a:solidFill>
            <a:srgbClr val="1B324F"/>
          </a:solidFill>
          <a:ln/>
        </p:spPr>
      </p:sp>
      <p:pic>
        <p:nvPicPr>
          <p:cNvPr id="34" name="Image 8" descr="preencoded.png">    </p:cNvPr>
          <p:cNvPicPr>
            <a:picLocks noChangeAspect="1"/>
          </p:cNvPicPr>
          <p:nvPr/>
        </p:nvPicPr>
        <p:blipFill>
          <a:blip r:embed="rId9"/>
          <a:stretch>
            <a:fillRect/>
          </a:stretch>
        </p:blipFill>
        <p:spPr>
          <a:xfrm>
            <a:off x="6363310" y="3181198"/>
            <a:ext cx="202997" cy="202997"/>
          </a:xfrm>
          <a:prstGeom prst="rect">
            <a:avLst/>
          </a:prstGeom>
        </p:spPr>
      </p:pic>
      <p:sp>
        <p:nvSpPr>
          <p:cNvPr id="35" name="Text 24"/>
          <p:cNvSpPr/>
          <p:nvPr/>
        </p:nvSpPr>
        <p:spPr>
          <a:xfrm>
            <a:off x="6748272" y="3099816"/>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Nations show varied strength across air, land, naval &amp; personnel categories</a:t>
            </a:r>
            <a:endParaRPr lang="en-US" sz="1150" dirty="0"/>
          </a:p>
        </p:txBody>
      </p:sp>
      <p:sp>
        <p:nvSpPr>
          <p:cNvPr id="36" name="Shape 25"/>
          <p:cNvSpPr/>
          <p:nvPr/>
        </p:nvSpPr>
        <p:spPr>
          <a:xfrm>
            <a:off x="6327648" y="3803904"/>
            <a:ext cx="274320" cy="274320"/>
          </a:xfrm>
          <a:prstGeom prst="ellipse">
            <a:avLst/>
          </a:prstGeom>
          <a:solidFill>
            <a:srgbClr val="1B324F"/>
          </a:solidFill>
          <a:ln/>
        </p:spPr>
      </p:sp>
      <p:pic>
        <p:nvPicPr>
          <p:cNvPr id="37" name="Image 9" descr="preencoded.png">    </p:cNvPr>
          <p:cNvPicPr>
            <a:picLocks noChangeAspect="1"/>
          </p:cNvPicPr>
          <p:nvPr/>
        </p:nvPicPr>
        <p:blipFill>
          <a:blip r:embed="rId10"/>
          <a:stretch>
            <a:fillRect/>
          </a:stretch>
        </p:blipFill>
        <p:spPr>
          <a:xfrm>
            <a:off x="6363310" y="3839566"/>
            <a:ext cx="202997" cy="202997"/>
          </a:xfrm>
          <a:prstGeom prst="rect">
            <a:avLst/>
          </a:prstGeom>
        </p:spPr>
      </p:pic>
      <p:sp>
        <p:nvSpPr>
          <p:cNvPr id="38" name="Text 26"/>
          <p:cNvSpPr/>
          <p:nvPr/>
        </p:nvSpPr>
        <p:spPr>
          <a:xfrm>
            <a:off x="6748272" y="3758184"/>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Interactive comparison makes differences far easier to spot</a:t>
            </a:r>
            <a:endParaRPr lang="en-US" sz="1150" dirty="0"/>
          </a:p>
        </p:txBody>
      </p:sp>
      <p:sp>
        <p:nvSpPr>
          <p:cNvPr id="39" name="Shape 27"/>
          <p:cNvSpPr/>
          <p:nvPr/>
        </p:nvSpPr>
        <p:spPr>
          <a:xfrm>
            <a:off x="6327648" y="4462272"/>
            <a:ext cx="274320" cy="274320"/>
          </a:xfrm>
          <a:prstGeom prst="ellipse">
            <a:avLst/>
          </a:prstGeom>
          <a:solidFill>
            <a:srgbClr val="1B324F"/>
          </a:solidFill>
          <a:ln/>
        </p:spPr>
      </p:sp>
      <p:pic>
        <p:nvPicPr>
          <p:cNvPr id="40" name="Image 10" descr="preencoded.png">    </p:cNvPr>
          <p:cNvPicPr>
            <a:picLocks noChangeAspect="1"/>
          </p:cNvPicPr>
          <p:nvPr/>
        </p:nvPicPr>
        <p:blipFill>
          <a:blip r:embed="rId11"/>
          <a:stretch>
            <a:fillRect/>
          </a:stretch>
        </p:blipFill>
        <p:spPr>
          <a:xfrm>
            <a:off x="6363310" y="4497934"/>
            <a:ext cx="202997" cy="202997"/>
          </a:xfrm>
          <a:prstGeom prst="rect">
            <a:avLst/>
          </a:prstGeom>
        </p:spPr>
      </p:pic>
      <p:sp>
        <p:nvSpPr>
          <p:cNvPr id="41" name="Text 28"/>
          <p:cNvSpPr/>
          <p:nvPr/>
        </p:nvSpPr>
        <p:spPr>
          <a:xfrm>
            <a:off x="6748272" y="4416552"/>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Coalition analysis gives a broader view than any single country alone</a:t>
            </a:r>
            <a:endParaRPr lang="en-US" sz="1150" dirty="0"/>
          </a:p>
        </p:txBody>
      </p:sp>
      <p:sp>
        <p:nvSpPr>
          <p:cNvPr id="42" name="Shape 29"/>
          <p:cNvSpPr/>
          <p:nvPr/>
        </p:nvSpPr>
        <p:spPr>
          <a:xfrm>
            <a:off x="6327648" y="5120640"/>
            <a:ext cx="274320" cy="274320"/>
          </a:xfrm>
          <a:prstGeom prst="ellipse">
            <a:avLst/>
          </a:prstGeom>
          <a:solidFill>
            <a:srgbClr val="1B324F"/>
          </a:solidFill>
          <a:ln/>
        </p:spPr>
      </p:sp>
      <p:pic>
        <p:nvPicPr>
          <p:cNvPr id="43" name="Image 11" descr="preencoded.png">    </p:cNvPr>
          <p:cNvPicPr>
            <a:picLocks noChangeAspect="1"/>
          </p:cNvPicPr>
          <p:nvPr/>
        </p:nvPicPr>
        <p:blipFill>
          <a:blip r:embed="rId12"/>
          <a:stretch>
            <a:fillRect/>
          </a:stretch>
        </p:blipFill>
        <p:spPr>
          <a:xfrm>
            <a:off x="6363310" y="5156302"/>
            <a:ext cx="202997" cy="202997"/>
          </a:xfrm>
          <a:prstGeom prst="rect">
            <a:avLst/>
          </a:prstGeom>
        </p:spPr>
      </p:pic>
      <p:sp>
        <p:nvSpPr>
          <p:cNvPr id="44" name="Text 30"/>
          <p:cNvSpPr/>
          <p:nvPr/>
        </p:nvSpPr>
        <p:spPr>
          <a:xfrm>
            <a:off x="6748272" y="5074920"/>
            <a:ext cx="4791456" cy="365760"/>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Power BI enables far faster exploration than manual dataset analysis</a:t>
            </a:r>
            <a:endParaRPr lang="en-US" sz="1150" dirty="0"/>
          </a:p>
        </p:txBody>
      </p:sp>
      <p:sp>
        <p:nvSpPr>
          <p:cNvPr id="45" name="Text 31"/>
          <p:cNvSpPr/>
          <p:nvPr/>
        </p:nvSpPr>
        <p:spPr>
          <a:xfrm>
            <a:off x="6327648" y="5824728"/>
            <a:ext cx="5212080" cy="365760"/>
          </a:xfrm>
          <a:prstGeom prst="rect">
            <a:avLst/>
          </a:prstGeom>
          <a:noFill/>
          <a:ln/>
        </p:spPr>
        <p:txBody>
          <a:bodyPr wrap="square" lIns="0" tIns="0" rIns="0" bIns="0" rtlCol="0" anchor="ctr"/>
          <a:lstStyle/>
          <a:p>
            <a:pPr indent="0" marL="0">
              <a:buNone/>
            </a:pPr>
            <a:r>
              <a:rPr lang="en-US" sz="950" i="1" dirty="0">
                <a:solidFill>
                  <a:srgbClr val="5C7291"/>
                </a:solidFill>
                <a:latin typeface="Calibri" pitchFamily="34" charset="0"/>
                <a:ea typeface="Calibri" pitchFamily="34" charset="-122"/>
                <a:cs typeface="Calibri" pitchFamily="34" charset="-120"/>
              </a:rPr>
              <a:t>Conceptual observations drawn from dashboard capability — not country-specific findings.</a:t>
            </a:r>
            <a:endParaRPr lang="en-US" sz="950" dirty="0"/>
          </a:p>
        </p:txBody>
      </p:sp>
      <p:sp>
        <p:nvSpPr>
          <p:cNvPr id="46" name="Text 32"/>
          <p:cNvSpPr/>
          <p:nvPr/>
        </p:nvSpPr>
        <p:spPr>
          <a:xfrm>
            <a:off x="457200" y="6528816"/>
            <a:ext cx="7315200" cy="256032"/>
          </a:xfrm>
          <a:prstGeom prst="rect">
            <a:avLst/>
          </a:prstGeom>
          <a:noFill/>
          <a:ln/>
        </p:spPr>
        <p:txBody>
          <a:bodyPr wrap="square" lIns="0" tIns="0" rIns="0" bIns="0" rtlCol="0" anchor="ctr"/>
          <a:lstStyle/>
          <a:p>
            <a:pPr indent="0" marL="0">
              <a:buNone/>
            </a:pPr>
            <a:r>
              <a:rPr lang="en-US" sz="800" spc="100" kern="0" dirty="0">
                <a:solidFill>
                  <a:srgbClr val="5C7291"/>
                </a:solidFill>
                <a:latin typeface="Calibri" pitchFamily="34" charset="0"/>
                <a:ea typeface="Calibri" pitchFamily="34" charset="-122"/>
                <a:cs typeface="Calibri" pitchFamily="34" charset="-120"/>
              </a:rPr>
              <a:t>UNIFIED MILITARY ANALYTICS &amp; COMPARISON DASHBOARD</a:t>
            </a:r>
            <a:endParaRPr lang="en-US" sz="800" dirty="0"/>
          </a:p>
        </p:txBody>
      </p:sp>
      <p:sp>
        <p:nvSpPr>
          <p:cNvPr id="47" name="Text 33"/>
          <p:cNvSpPr/>
          <p:nvPr/>
        </p:nvSpPr>
        <p:spPr>
          <a:xfrm>
            <a:off x="8991295" y="6528816"/>
            <a:ext cx="2743200" cy="256032"/>
          </a:xfrm>
          <a:prstGeom prst="rect">
            <a:avLst/>
          </a:prstGeom>
          <a:noFill/>
          <a:ln/>
        </p:spPr>
        <p:txBody>
          <a:bodyPr wrap="square" lIns="0" tIns="0" rIns="0" bIns="0" rtlCol="0" anchor="ctr"/>
          <a:lstStyle/>
          <a:p>
            <a:pPr algn="r" indent="0" marL="0">
              <a:buNone/>
            </a:pPr>
            <a:r>
              <a:rPr lang="en-US" sz="800" dirty="0">
                <a:solidFill>
                  <a:srgbClr val="5C7291"/>
                </a:solidFill>
                <a:latin typeface="Calibri" pitchFamily="34" charset="0"/>
                <a:ea typeface="Calibri" pitchFamily="34" charset="-122"/>
                <a:cs typeface="Calibri" pitchFamily="34" charset="-120"/>
              </a:rPr>
              <a:t>Bhagavan Yerra   |   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6"/>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E9BF5">
              <a:alpha val="10000"/>
            </a:srgbClr>
          </a:solidFill>
          <a:ln/>
        </p:spPr>
      </p:sp>
      <p:sp>
        <p:nvSpPr>
          <p:cNvPr id="3" name="Shape 1"/>
          <p:cNvSpPr/>
          <p:nvPr/>
        </p:nvSpPr>
        <p:spPr>
          <a:xfrm>
            <a:off x="-2560320" y="4572000"/>
            <a:ext cx="5029200" cy="5029200"/>
          </a:xfrm>
          <a:prstGeom prst="ellipse">
            <a:avLst/>
          </a:prstGeom>
          <a:solidFill>
            <a:srgbClr val="2E9BF5">
              <a:alpha val="7000"/>
            </a:srgbClr>
          </a:solidFill>
          <a:ln/>
        </p:spPr>
      </p:sp>
      <p:sp>
        <p:nvSpPr>
          <p:cNvPr id="4" name="Shape 2"/>
          <p:cNvSpPr/>
          <p:nvPr/>
        </p:nvSpPr>
        <p:spPr>
          <a:xfrm>
            <a:off x="457200" y="384048"/>
            <a:ext cx="2148840" cy="310896"/>
          </a:xfrm>
          <a:prstGeom prst="roundRect">
            <a:avLst>
              <a:gd name="adj" fmla="val 50000"/>
            </a:avLst>
          </a:prstGeom>
          <a:solidFill>
            <a:srgbClr val="13253F"/>
          </a:solidFill>
          <a:ln w="9525">
            <a:solidFill>
              <a:srgbClr val="24405F"/>
            </a:solidFill>
            <a:prstDash val="solid"/>
          </a:ln>
        </p:spPr>
      </p:sp>
      <p:sp>
        <p:nvSpPr>
          <p:cNvPr id="5" name="Text 3"/>
          <p:cNvSpPr/>
          <p:nvPr/>
        </p:nvSpPr>
        <p:spPr>
          <a:xfrm>
            <a:off x="457200" y="384048"/>
            <a:ext cx="2148840" cy="310896"/>
          </a:xfrm>
          <a:prstGeom prst="rect">
            <a:avLst/>
          </a:prstGeom>
          <a:noFill/>
          <a:ln/>
        </p:spPr>
        <p:txBody>
          <a:bodyPr wrap="square" lIns="0" tIns="0" rIns="0" bIns="0" rtlCol="0" anchor="ctr"/>
          <a:lstStyle/>
          <a:p>
            <a:pPr algn="ctr" indent="0" marL="0">
              <a:buNone/>
            </a:pPr>
            <a:r>
              <a:rPr lang="en-US" sz="1050" b="1" spc="140" kern="0" dirty="0">
                <a:solidFill>
                  <a:srgbClr val="00D4FF"/>
                </a:solidFill>
                <a:latin typeface="Calibri" pitchFamily="34" charset="0"/>
                <a:ea typeface="Calibri" pitchFamily="34" charset="-122"/>
                <a:cs typeface="Calibri" pitchFamily="34" charset="-120"/>
              </a:rPr>
              <a:t>PROJECT SUMMARY</a:t>
            </a:r>
            <a:endParaRPr lang="en-US" sz="1050" dirty="0"/>
          </a:p>
        </p:txBody>
      </p:sp>
      <p:sp>
        <p:nvSpPr>
          <p:cNvPr id="6" name="Text 4"/>
          <p:cNvSpPr/>
          <p:nvPr/>
        </p:nvSpPr>
        <p:spPr>
          <a:xfrm>
            <a:off x="457200" y="786384"/>
            <a:ext cx="10607040" cy="685800"/>
          </a:xfrm>
          <a:prstGeom prst="rect">
            <a:avLst/>
          </a:prstGeom>
          <a:noFill/>
          <a:ln/>
        </p:spPr>
        <p:txBody>
          <a:bodyPr wrap="square" lIns="0" tIns="0" rIns="0" bIns="0" rtlCol="0" anchor="ctr"/>
          <a:lstStyle/>
          <a:p>
            <a:pPr indent="0" marL="0">
              <a:buNone/>
            </a:pPr>
            <a:r>
              <a:rPr lang="en-US" sz="3000" b="1" dirty="0">
                <a:solidFill>
                  <a:srgbClr val="F2F6FA"/>
                </a:solidFill>
                <a:latin typeface="Cambria" pitchFamily="34" charset="0"/>
                <a:ea typeface="Cambria" pitchFamily="34" charset="-122"/>
                <a:cs typeface="Cambria" pitchFamily="34" charset="-120"/>
              </a:rPr>
              <a:t>Conclusion &amp; Future Scope</a:t>
            </a:r>
            <a:endParaRPr lang="en-US" sz="3000" dirty="0"/>
          </a:p>
        </p:txBody>
      </p:sp>
      <p:sp>
        <p:nvSpPr>
          <p:cNvPr id="7" name="Shape 5"/>
          <p:cNvSpPr/>
          <p:nvPr/>
        </p:nvSpPr>
        <p:spPr>
          <a:xfrm>
            <a:off x="457200" y="1508760"/>
            <a:ext cx="5349240" cy="3794760"/>
          </a:xfrm>
          <a:prstGeom prst="roundRect">
            <a:avLst>
              <a:gd name="adj" fmla="val 2410"/>
            </a:avLst>
          </a:prstGeom>
          <a:solidFill>
            <a:srgbClr val="0F1E33"/>
          </a:solidFill>
          <a:ln w="12700">
            <a:solidFill>
              <a:srgbClr val="24405F"/>
            </a:solidFill>
            <a:prstDash val="solid"/>
          </a:ln>
        </p:spPr>
      </p:sp>
      <p:sp>
        <p:nvSpPr>
          <p:cNvPr id="8" name="Shape 6"/>
          <p:cNvSpPr/>
          <p:nvPr/>
        </p:nvSpPr>
        <p:spPr>
          <a:xfrm>
            <a:off x="731520" y="1755648"/>
            <a:ext cx="457200" cy="457200"/>
          </a:xfrm>
          <a:prstGeom prst="ellipse">
            <a:avLst/>
          </a:prstGeom>
          <a:solidFill>
            <a:srgbClr val="1B324F"/>
          </a:solidFill>
          <a:ln/>
        </p:spPr>
      </p:sp>
      <p:pic>
        <p:nvPicPr>
          <p:cNvPr id="9" name="Image 0" descr="preencoded.png">    </p:cNvPr>
          <p:cNvPicPr>
            <a:picLocks noChangeAspect="1"/>
          </p:cNvPicPr>
          <p:nvPr/>
        </p:nvPicPr>
        <p:blipFill>
          <a:blip r:embed="rId1"/>
          <a:stretch>
            <a:fillRect/>
          </a:stretch>
        </p:blipFill>
        <p:spPr>
          <a:xfrm>
            <a:off x="790956" y="1815084"/>
            <a:ext cx="338328" cy="338328"/>
          </a:xfrm>
          <a:prstGeom prst="rect">
            <a:avLst/>
          </a:prstGeom>
        </p:spPr>
      </p:pic>
      <p:sp>
        <p:nvSpPr>
          <p:cNvPr id="10" name="Text 7"/>
          <p:cNvSpPr/>
          <p:nvPr/>
        </p:nvSpPr>
        <p:spPr>
          <a:xfrm>
            <a:off x="1353312" y="1783080"/>
            <a:ext cx="4114800" cy="411480"/>
          </a:xfrm>
          <a:prstGeom prst="rect">
            <a:avLst/>
          </a:prstGeom>
          <a:noFill/>
          <a:ln/>
        </p:spPr>
        <p:txBody>
          <a:bodyPr wrap="square" lIns="0" tIns="0" rIns="0" bIns="0" rtlCol="0" anchor="ctr"/>
          <a:lstStyle/>
          <a:p>
            <a:pPr indent="0" marL="0">
              <a:buNone/>
            </a:pPr>
            <a:r>
              <a:rPr lang="en-US" sz="1700" b="1" dirty="0">
                <a:solidFill>
                  <a:srgbClr val="F2F6FA"/>
                </a:solidFill>
                <a:latin typeface="Cambria" pitchFamily="34" charset="0"/>
                <a:ea typeface="Cambria" pitchFamily="34" charset="-122"/>
                <a:cs typeface="Cambria" pitchFamily="34" charset="-120"/>
              </a:rPr>
              <a:t>Conclusion</a:t>
            </a:r>
            <a:endParaRPr lang="en-US" sz="1700" dirty="0"/>
          </a:p>
        </p:txBody>
      </p:sp>
      <p:sp>
        <p:nvSpPr>
          <p:cNvPr id="11" name="Shape 8"/>
          <p:cNvSpPr/>
          <p:nvPr/>
        </p:nvSpPr>
        <p:spPr>
          <a:xfrm>
            <a:off x="749808" y="2395728"/>
            <a:ext cx="256032" cy="256032"/>
          </a:xfrm>
          <a:prstGeom prst="ellipse">
            <a:avLst/>
          </a:prstGeom>
          <a:solidFill>
            <a:srgbClr val="1B324F"/>
          </a:solidFill>
          <a:ln/>
        </p:spPr>
      </p:sp>
      <p:pic>
        <p:nvPicPr>
          <p:cNvPr id="12" name="Image 1" descr="preencoded.png">    </p:cNvPr>
          <p:cNvPicPr>
            <a:picLocks noChangeAspect="1"/>
          </p:cNvPicPr>
          <p:nvPr/>
        </p:nvPicPr>
        <p:blipFill>
          <a:blip r:embed="rId2"/>
          <a:stretch>
            <a:fillRect/>
          </a:stretch>
        </p:blipFill>
        <p:spPr>
          <a:xfrm>
            <a:off x="783092" y="2429012"/>
            <a:ext cx="189464" cy="189464"/>
          </a:xfrm>
          <a:prstGeom prst="rect">
            <a:avLst/>
          </a:prstGeom>
        </p:spPr>
      </p:pic>
      <p:sp>
        <p:nvSpPr>
          <p:cNvPr id="13" name="Text 9"/>
          <p:cNvSpPr/>
          <p:nvPr/>
        </p:nvSpPr>
        <p:spPr>
          <a:xfrm>
            <a:off x="1152144" y="2350008"/>
            <a:ext cx="4443984" cy="347472"/>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Delivered a unified military analytics solution</a:t>
            </a:r>
            <a:endParaRPr lang="en-US" sz="1150" dirty="0"/>
          </a:p>
        </p:txBody>
      </p:sp>
      <p:sp>
        <p:nvSpPr>
          <p:cNvPr id="14" name="Shape 10"/>
          <p:cNvSpPr/>
          <p:nvPr/>
        </p:nvSpPr>
        <p:spPr>
          <a:xfrm>
            <a:off x="749808" y="2962656"/>
            <a:ext cx="256032" cy="256032"/>
          </a:xfrm>
          <a:prstGeom prst="ellipse">
            <a:avLst/>
          </a:prstGeom>
          <a:solidFill>
            <a:srgbClr val="1B324F"/>
          </a:solidFill>
          <a:ln/>
        </p:spPr>
      </p:sp>
      <p:pic>
        <p:nvPicPr>
          <p:cNvPr id="15" name="Image 2" descr="preencoded.png">    </p:cNvPr>
          <p:cNvPicPr>
            <a:picLocks noChangeAspect="1"/>
          </p:cNvPicPr>
          <p:nvPr/>
        </p:nvPicPr>
        <p:blipFill>
          <a:blip r:embed="rId3"/>
          <a:stretch>
            <a:fillRect/>
          </a:stretch>
        </p:blipFill>
        <p:spPr>
          <a:xfrm>
            <a:off x="783092" y="2995940"/>
            <a:ext cx="189464" cy="189464"/>
          </a:xfrm>
          <a:prstGeom prst="rect">
            <a:avLst/>
          </a:prstGeom>
        </p:spPr>
      </p:pic>
      <p:sp>
        <p:nvSpPr>
          <p:cNvPr id="16" name="Text 11"/>
          <p:cNvSpPr/>
          <p:nvPr/>
        </p:nvSpPr>
        <p:spPr>
          <a:xfrm>
            <a:off x="1152144" y="2916936"/>
            <a:ext cx="4443984" cy="347472"/>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Converted raw military data into structured, analysis-ready form</a:t>
            </a:r>
            <a:endParaRPr lang="en-US" sz="1150" dirty="0"/>
          </a:p>
        </p:txBody>
      </p:sp>
      <p:sp>
        <p:nvSpPr>
          <p:cNvPr id="17" name="Shape 12"/>
          <p:cNvSpPr/>
          <p:nvPr/>
        </p:nvSpPr>
        <p:spPr>
          <a:xfrm>
            <a:off x="749808" y="3529584"/>
            <a:ext cx="256032" cy="256032"/>
          </a:xfrm>
          <a:prstGeom prst="ellipse">
            <a:avLst/>
          </a:prstGeom>
          <a:solidFill>
            <a:srgbClr val="1B324F"/>
          </a:solidFill>
          <a:ln/>
        </p:spPr>
      </p:sp>
      <p:pic>
        <p:nvPicPr>
          <p:cNvPr id="18" name="Image 3" descr="preencoded.png">    </p:cNvPr>
          <p:cNvPicPr>
            <a:picLocks noChangeAspect="1"/>
          </p:cNvPicPr>
          <p:nvPr/>
        </p:nvPicPr>
        <p:blipFill>
          <a:blip r:embed="rId4"/>
          <a:stretch>
            <a:fillRect/>
          </a:stretch>
        </p:blipFill>
        <p:spPr>
          <a:xfrm>
            <a:off x="783092" y="3562868"/>
            <a:ext cx="189464" cy="189464"/>
          </a:xfrm>
          <a:prstGeom prst="rect">
            <a:avLst/>
          </a:prstGeom>
        </p:spPr>
      </p:pic>
      <p:sp>
        <p:nvSpPr>
          <p:cNvPr id="19" name="Text 13"/>
          <p:cNvSpPr/>
          <p:nvPr/>
        </p:nvSpPr>
        <p:spPr>
          <a:xfrm>
            <a:off x="1152144" y="3483864"/>
            <a:ext cx="4443984" cy="347472"/>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Built four interactive Power BI dashboard sections</a:t>
            </a:r>
            <a:endParaRPr lang="en-US" sz="1150" dirty="0"/>
          </a:p>
        </p:txBody>
      </p:sp>
      <p:sp>
        <p:nvSpPr>
          <p:cNvPr id="20" name="Shape 14"/>
          <p:cNvSpPr/>
          <p:nvPr/>
        </p:nvSpPr>
        <p:spPr>
          <a:xfrm>
            <a:off x="749808" y="4096512"/>
            <a:ext cx="256032" cy="256032"/>
          </a:xfrm>
          <a:prstGeom prst="ellipse">
            <a:avLst/>
          </a:prstGeom>
          <a:solidFill>
            <a:srgbClr val="1B324F"/>
          </a:solidFill>
          <a:ln/>
        </p:spPr>
      </p:sp>
      <p:pic>
        <p:nvPicPr>
          <p:cNvPr id="21" name="Image 4" descr="preencoded.png">    </p:cNvPr>
          <p:cNvPicPr>
            <a:picLocks noChangeAspect="1"/>
          </p:cNvPicPr>
          <p:nvPr/>
        </p:nvPicPr>
        <p:blipFill>
          <a:blip r:embed="rId5"/>
          <a:stretch>
            <a:fillRect/>
          </a:stretch>
        </p:blipFill>
        <p:spPr>
          <a:xfrm>
            <a:off x="783092" y="4129796"/>
            <a:ext cx="189464" cy="189464"/>
          </a:xfrm>
          <a:prstGeom prst="rect">
            <a:avLst/>
          </a:prstGeom>
        </p:spPr>
      </p:pic>
      <p:sp>
        <p:nvSpPr>
          <p:cNvPr id="22" name="Text 15"/>
          <p:cNvSpPr/>
          <p:nvPr/>
        </p:nvSpPr>
        <p:spPr>
          <a:xfrm>
            <a:off x="1152144" y="4050792"/>
            <a:ext cx="4443984" cy="347472"/>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Enabled quick stats, nation, comparison &amp; coalition analysis</a:t>
            </a:r>
            <a:endParaRPr lang="en-US" sz="1150" dirty="0"/>
          </a:p>
        </p:txBody>
      </p:sp>
      <p:sp>
        <p:nvSpPr>
          <p:cNvPr id="23" name="Shape 16"/>
          <p:cNvSpPr/>
          <p:nvPr/>
        </p:nvSpPr>
        <p:spPr>
          <a:xfrm>
            <a:off x="749808" y="4663440"/>
            <a:ext cx="256032" cy="256032"/>
          </a:xfrm>
          <a:prstGeom prst="ellipse">
            <a:avLst/>
          </a:prstGeom>
          <a:solidFill>
            <a:srgbClr val="1B324F"/>
          </a:solidFill>
          <a:ln/>
        </p:spPr>
      </p:sp>
      <p:pic>
        <p:nvPicPr>
          <p:cNvPr id="24" name="Image 5" descr="preencoded.png">    </p:cNvPr>
          <p:cNvPicPr>
            <a:picLocks noChangeAspect="1"/>
          </p:cNvPicPr>
          <p:nvPr/>
        </p:nvPicPr>
        <p:blipFill>
          <a:blip r:embed="rId6"/>
          <a:stretch>
            <a:fillRect/>
          </a:stretch>
        </p:blipFill>
        <p:spPr>
          <a:xfrm>
            <a:off x="783092" y="4696724"/>
            <a:ext cx="189464" cy="189464"/>
          </a:xfrm>
          <a:prstGeom prst="rect">
            <a:avLst/>
          </a:prstGeom>
        </p:spPr>
      </p:pic>
      <p:sp>
        <p:nvSpPr>
          <p:cNvPr id="25" name="Text 17"/>
          <p:cNvSpPr/>
          <p:nvPr/>
        </p:nvSpPr>
        <p:spPr>
          <a:xfrm>
            <a:off x="1152144" y="4617720"/>
            <a:ext cx="4443984" cy="347472"/>
          </a:xfrm>
          <a:prstGeom prst="rect">
            <a:avLst/>
          </a:prstGeom>
          <a:noFill/>
          <a:ln/>
        </p:spPr>
        <p:txBody>
          <a:bodyPr wrap="square" lIns="0" tIns="0" rIns="0" bIns="0" rtlCol="0" anchor="ctr"/>
          <a:lstStyle/>
          <a:p>
            <a:pPr indent="0" marL="0">
              <a:lnSpc>
                <a:spcPct val="105000"/>
              </a:lnSpc>
              <a:buNone/>
            </a:pPr>
            <a:r>
              <a:rPr lang="en-US" sz="1150" dirty="0">
                <a:solidFill>
                  <a:srgbClr val="F2F6FA"/>
                </a:solidFill>
                <a:latin typeface="Calibri" pitchFamily="34" charset="0"/>
                <a:ea typeface="Calibri" pitchFamily="34" charset="-122"/>
                <a:cs typeface="Calibri" pitchFamily="34" charset="-120"/>
              </a:rPr>
              <a:t>Made complex global military datasets easy to explore</a:t>
            </a:r>
            <a:endParaRPr lang="en-US" sz="1150" dirty="0"/>
          </a:p>
        </p:txBody>
      </p:sp>
      <p:sp>
        <p:nvSpPr>
          <p:cNvPr id="26" name="Shape 18"/>
          <p:cNvSpPr/>
          <p:nvPr/>
        </p:nvSpPr>
        <p:spPr>
          <a:xfrm>
            <a:off x="6035040" y="1508760"/>
            <a:ext cx="5696712" cy="3794760"/>
          </a:xfrm>
          <a:prstGeom prst="roundRect">
            <a:avLst>
              <a:gd name="adj" fmla="val 2410"/>
            </a:avLst>
          </a:prstGeom>
          <a:solidFill>
            <a:srgbClr val="0F1E33"/>
          </a:solidFill>
          <a:ln w="12700">
            <a:solidFill>
              <a:srgbClr val="24405F"/>
            </a:solidFill>
            <a:prstDash val="solid"/>
          </a:ln>
        </p:spPr>
      </p:sp>
      <p:sp>
        <p:nvSpPr>
          <p:cNvPr id="27" name="Shape 19"/>
          <p:cNvSpPr/>
          <p:nvPr/>
        </p:nvSpPr>
        <p:spPr>
          <a:xfrm>
            <a:off x="6327648" y="1755648"/>
            <a:ext cx="457200" cy="457200"/>
          </a:xfrm>
          <a:prstGeom prst="ellipse">
            <a:avLst/>
          </a:prstGeom>
          <a:solidFill>
            <a:srgbClr val="1B324F"/>
          </a:solidFill>
          <a:ln/>
        </p:spPr>
      </p:sp>
      <p:pic>
        <p:nvPicPr>
          <p:cNvPr id="28" name="Image 6" descr="preencoded.png">    </p:cNvPr>
          <p:cNvPicPr>
            <a:picLocks noChangeAspect="1"/>
          </p:cNvPicPr>
          <p:nvPr/>
        </p:nvPicPr>
        <p:blipFill>
          <a:blip r:embed="rId7"/>
          <a:stretch>
            <a:fillRect/>
          </a:stretch>
        </p:blipFill>
        <p:spPr>
          <a:xfrm>
            <a:off x="6387084" y="1815084"/>
            <a:ext cx="338328" cy="338328"/>
          </a:xfrm>
          <a:prstGeom prst="rect">
            <a:avLst/>
          </a:prstGeom>
        </p:spPr>
      </p:pic>
      <p:sp>
        <p:nvSpPr>
          <p:cNvPr id="29" name="Text 20"/>
          <p:cNvSpPr/>
          <p:nvPr/>
        </p:nvSpPr>
        <p:spPr>
          <a:xfrm>
            <a:off x="6949440" y="1783080"/>
            <a:ext cx="4389120" cy="411480"/>
          </a:xfrm>
          <a:prstGeom prst="rect">
            <a:avLst/>
          </a:prstGeom>
          <a:noFill/>
          <a:ln/>
        </p:spPr>
        <p:txBody>
          <a:bodyPr wrap="square" lIns="0" tIns="0" rIns="0" bIns="0" rtlCol="0" anchor="ctr"/>
          <a:lstStyle/>
          <a:p>
            <a:pPr indent="0" marL="0">
              <a:buNone/>
            </a:pPr>
            <a:r>
              <a:rPr lang="en-US" sz="1700" b="1" dirty="0">
                <a:solidFill>
                  <a:srgbClr val="F2F6FA"/>
                </a:solidFill>
                <a:latin typeface="Cambria" pitchFamily="34" charset="0"/>
                <a:ea typeface="Cambria" pitchFamily="34" charset="-122"/>
                <a:cs typeface="Cambria" pitchFamily="34" charset="-120"/>
              </a:rPr>
              <a:t>Future Scope</a:t>
            </a:r>
            <a:endParaRPr lang="en-US" sz="1700" dirty="0"/>
          </a:p>
        </p:txBody>
      </p:sp>
      <p:sp>
        <p:nvSpPr>
          <p:cNvPr id="30" name="Shape 21"/>
          <p:cNvSpPr/>
          <p:nvPr/>
        </p:nvSpPr>
        <p:spPr>
          <a:xfrm>
            <a:off x="6327648" y="2395728"/>
            <a:ext cx="2724912" cy="621792"/>
          </a:xfrm>
          <a:prstGeom prst="roundRect">
            <a:avLst>
              <a:gd name="adj" fmla="val 14706"/>
            </a:avLst>
          </a:prstGeom>
          <a:solidFill>
            <a:srgbClr val="13253F"/>
          </a:solidFill>
          <a:ln w="12700">
            <a:solidFill>
              <a:srgbClr val="24405F"/>
            </a:solidFill>
            <a:prstDash val="solid"/>
          </a:ln>
        </p:spPr>
      </p:sp>
      <p:sp>
        <p:nvSpPr>
          <p:cNvPr id="31" name="Shape 22"/>
          <p:cNvSpPr/>
          <p:nvPr/>
        </p:nvSpPr>
        <p:spPr>
          <a:xfrm>
            <a:off x="6419088" y="2542032"/>
            <a:ext cx="329184" cy="329184"/>
          </a:xfrm>
          <a:prstGeom prst="ellipse">
            <a:avLst/>
          </a:prstGeom>
          <a:solidFill>
            <a:srgbClr val="1B324F"/>
          </a:solidFill>
          <a:ln/>
        </p:spPr>
      </p:sp>
      <p:pic>
        <p:nvPicPr>
          <p:cNvPr id="32" name="Image 7" descr="preencoded.png">    </p:cNvPr>
          <p:cNvPicPr>
            <a:picLocks noChangeAspect="1"/>
          </p:cNvPicPr>
          <p:nvPr/>
        </p:nvPicPr>
        <p:blipFill>
          <a:blip r:embed="rId8"/>
          <a:stretch>
            <a:fillRect/>
          </a:stretch>
        </p:blipFill>
        <p:spPr>
          <a:xfrm>
            <a:off x="6461882" y="2584826"/>
            <a:ext cx="243596" cy="243596"/>
          </a:xfrm>
          <a:prstGeom prst="rect">
            <a:avLst/>
          </a:prstGeom>
        </p:spPr>
      </p:pic>
      <p:sp>
        <p:nvSpPr>
          <p:cNvPr id="33" name="Text 23"/>
          <p:cNvSpPr/>
          <p:nvPr/>
        </p:nvSpPr>
        <p:spPr>
          <a:xfrm>
            <a:off x="6830568" y="2395728"/>
            <a:ext cx="2130552" cy="621792"/>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Real-time / automated data updates</a:t>
            </a:r>
            <a:endParaRPr lang="en-US" sz="950" dirty="0"/>
          </a:p>
        </p:txBody>
      </p:sp>
      <p:sp>
        <p:nvSpPr>
          <p:cNvPr id="34" name="Shape 24"/>
          <p:cNvSpPr/>
          <p:nvPr/>
        </p:nvSpPr>
        <p:spPr>
          <a:xfrm>
            <a:off x="9144000" y="2395728"/>
            <a:ext cx="2724912" cy="621792"/>
          </a:xfrm>
          <a:prstGeom prst="roundRect">
            <a:avLst>
              <a:gd name="adj" fmla="val 14706"/>
            </a:avLst>
          </a:prstGeom>
          <a:solidFill>
            <a:srgbClr val="13253F"/>
          </a:solidFill>
          <a:ln w="12700">
            <a:solidFill>
              <a:srgbClr val="24405F"/>
            </a:solidFill>
            <a:prstDash val="solid"/>
          </a:ln>
        </p:spPr>
      </p:sp>
      <p:sp>
        <p:nvSpPr>
          <p:cNvPr id="35" name="Shape 25"/>
          <p:cNvSpPr/>
          <p:nvPr/>
        </p:nvSpPr>
        <p:spPr>
          <a:xfrm>
            <a:off x="9235440" y="2542032"/>
            <a:ext cx="329184" cy="329184"/>
          </a:xfrm>
          <a:prstGeom prst="ellipse">
            <a:avLst/>
          </a:prstGeom>
          <a:solidFill>
            <a:srgbClr val="1B324F"/>
          </a:solidFill>
          <a:ln/>
        </p:spPr>
      </p:sp>
      <p:pic>
        <p:nvPicPr>
          <p:cNvPr id="36" name="Image 8" descr="preencoded.png">    </p:cNvPr>
          <p:cNvPicPr>
            <a:picLocks noChangeAspect="1"/>
          </p:cNvPicPr>
          <p:nvPr/>
        </p:nvPicPr>
        <p:blipFill>
          <a:blip r:embed="rId9"/>
          <a:stretch>
            <a:fillRect/>
          </a:stretch>
        </p:blipFill>
        <p:spPr>
          <a:xfrm>
            <a:off x="9278234" y="2584826"/>
            <a:ext cx="243596" cy="243596"/>
          </a:xfrm>
          <a:prstGeom prst="rect">
            <a:avLst/>
          </a:prstGeom>
        </p:spPr>
      </p:pic>
      <p:sp>
        <p:nvSpPr>
          <p:cNvPr id="37" name="Text 26"/>
          <p:cNvSpPr/>
          <p:nvPr/>
        </p:nvSpPr>
        <p:spPr>
          <a:xfrm>
            <a:off x="9646920" y="2395728"/>
            <a:ext cx="2130552" cy="621792"/>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Additional military data sources</a:t>
            </a:r>
            <a:endParaRPr lang="en-US" sz="950" dirty="0"/>
          </a:p>
        </p:txBody>
      </p:sp>
      <p:sp>
        <p:nvSpPr>
          <p:cNvPr id="38" name="Shape 27"/>
          <p:cNvSpPr/>
          <p:nvPr/>
        </p:nvSpPr>
        <p:spPr>
          <a:xfrm>
            <a:off x="6327648" y="3090672"/>
            <a:ext cx="2724912" cy="621792"/>
          </a:xfrm>
          <a:prstGeom prst="roundRect">
            <a:avLst>
              <a:gd name="adj" fmla="val 14706"/>
            </a:avLst>
          </a:prstGeom>
          <a:solidFill>
            <a:srgbClr val="13253F"/>
          </a:solidFill>
          <a:ln w="12700">
            <a:solidFill>
              <a:srgbClr val="24405F"/>
            </a:solidFill>
            <a:prstDash val="solid"/>
          </a:ln>
        </p:spPr>
      </p:sp>
      <p:sp>
        <p:nvSpPr>
          <p:cNvPr id="39" name="Shape 28"/>
          <p:cNvSpPr/>
          <p:nvPr/>
        </p:nvSpPr>
        <p:spPr>
          <a:xfrm>
            <a:off x="6419088" y="3236976"/>
            <a:ext cx="329184" cy="329184"/>
          </a:xfrm>
          <a:prstGeom prst="ellipse">
            <a:avLst/>
          </a:prstGeom>
          <a:solidFill>
            <a:srgbClr val="1B324F"/>
          </a:solidFill>
          <a:ln/>
        </p:spPr>
      </p:sp>
      <p:pic>
        <p:nvPicPr>
          <p:cNvPr id="40" name="Image 9" descr="preencoded.png">    </p:cNvPr>
          <p:cNvPicPr>
            <a:picLocks noChangeAspect="1"/>
          </p:cNvPicPr>
          <p:nvPr/>
        </p:nvPicPr>
        <p:blipFill>
          <a:blip r:embed="rId10"/>
          <a:stretch>
            <a:fillRect/>
          </a:stretch>
        </p:blipFill>
        <p:spPr>
          <a:xfrm>
            <a:off x="6461882" y="3279770"/>
            <a:ext cx="243596" cy="243596"/>
          </a:xfrm>
          <a:prstGeom prst="rect">
            <a:avLst/>
          </a:prstGeom>
        </p:spPr>
      </p:pic>
      <p:sp>
        <p:nvSpPr>
          <p:cNvPr id="41" name="Text 29"/>
          <p:cNvSpPr/>
          <p:nvPr/>
        </p:nvSpPr>
        <p:spPr>
          <a:xfrm>
            <a:off x="6830568" y="3090672"/>
            <a:ext cx="2130552" cy="621792"/>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Historical trend analysis</a:t>
            </a:r>
            <a:endParaRPr lang="en-US" sz="950" dirty="0"/>
          </a:p>
        </p:txBody>
      </p:sp>
      <p:sp>
        <p:nvSpPr>
          <p:cNvPr id="42" name="Shape 30"/>
          <p:cNvSpPr/>
          <p:nvPr/>
        </p:nvSpPr>
        <p:spPr>
          <a:xfrm>
            <a:off x="9144000" y="3090672"/>
            <a:ext cx="2724912" cy="621792"/>
          </a:xfrm>
          <a:prstGeom prst="roundRect">
            <a:avLst>
              <a:gd name="adj" fmla="val 14706"/>
            </a:avLst>
          </a:prstGeom>
          <a:solidFill>
            <a:srgbClr val="13253F"/>
          </a:solidFill>
          <a:ln w="12700">
            <a:solidFill>
              <a:srgbClr val="24405F"/>
            </a:solidFill>
            <a:prstDash val="solid"/>
          </a:ln>
        </p:spPr>
      </p:sp>
      <p:sp>
        <p:nvSpPr>
          <p:cNvPr id="43" name="Shape 31"/>
          <p:cNvSpPr/>
          <p:nvPr/>
        </p:nvSpPr>
        <p:spPr>
          <a:xfrm>
            <a:off x="9235440" y="3236976"/>
            <a:ext cx="329184" cy="329184"/>
          </a:xfrm>
          <a:prstGeom prst="ellipse">
            <a:avLst/>
          </a:prstGeom>
          <a:solidFill>
            <a:srgbClr val="1B324F"/>
          </a:solidFill>
          <a:ln/>
        </p:spPr>
      </p:sp>
      <p:pic>
        <p:nvPicPr>
          <p:cNvPr id="44" name="Image 10" descr="preencoded.png">    </p:cNvPr>
          <p:cNvPicPr>
            <a:picLocks noChangeAspect="1"/>
          </p:cNvPicPr>
          <p:nvPr/>
        </p:nvPicPr>
        <p:blipFill>
          <a:blip r:embed="rId11"/>
          <a:stretch>
            <a:fillRect/>
          </a:stretch>
        </p:blipFill>
        <p:spPr>
          <a:xfrm>
            <a:off x="9278234" y="3279770"/>
            <a:ext cx="243596" cy="243596"/>
          </a:xfrm>
          <a:prstGeom prst="rect">
            <a:avLst/>
          </a:prstGeom>
        </p:spPr>
      </p:pic>
      <p:sp>
        <p:nvSpPr>
          <p:cNvPr id="45" name="Text 32"/>
          <p:cNvSpPr/>
          <p:nvPr/>
        </p:nvSpPr>
        <p:spPr>
          <a:xfrm>
            <a:off x="9646920" y="3090672"/>
            <a:ext cx="2130552" cy="621792"/>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Predictive analytics</a:t>
            </a:r>
            <a:endParaRPr lang="en-US" sz="950" dirty="0"/>
          </a:p>
        </p:txBody>
      </p:sp>
      <p:sp>
        <p:nvSpPr>
          <p:cNvPr id="46" name="Shape 33"/>
          <p:cNvSpPr/>
          <p:nvPr/>
        </p:nvSpPr>
        <p:spPr>
          <a:xfrm>
            <a:off x="6327648" y="3785616"/>
            <a:ext cx="2724912" cy="621792"/>
          </a:xfrm>
          <a:prstGeom prst="roundRect">
            <a:avLst>
              <a:gd name="adj" fmla="val 14706"/>
            </a:avLst>
          </a:prstGeom>
          <a:solidFill>
            <a:srgbClr val="13253F"/>
          </a:solidFill>
          <a:ln w="12700">
            <a:solidFill>
              <a:srgbClr val="24405F"/>
            </a:solidFill>
            <a:prstDash val="solid"/>
          </a:ln>
        </p:spPr>
      </p:sp>
      <p:sp>
        <p:nvSpPr>
          <p:cNvPr id="47" name="Shape 34"/>
          <p:cNvSpPr/>
          <p:nvPr/>
        </p:nvSpPr>
        <p:spPr>
          <a:xfrm>
            <a:off x="6419088" y="3931920"/>
            <a:ext cx="329184" cy="329184"/>
          </a:xfrm>
          <a:prstGeom prst="ellipse">
            <a:avLst/>
          </a:prstGeom>
          <a:solidFill>
            <a:srgbClr val="1B324F"/>
          </a:solidFill>
          <a:ln/>
        </p:spPr>
      </p:sp>
      <p:pic>
        <p:nvPicPr>
          <p:cNvPr id="48" name="Image 11" descr="preencoded.png">    </p:cNvPr>
          <p:cNvPicPr>
            <a:picLocks noChangeAspect="1"/>
          </p:cNvPicPr>
          <p:nvPr/>
        </p:nvPicPr>
        <p:blipFill>
          <a:blip r:embed="rId12"/>
          <a:stretch>
            <a:fillRect/>
          </a:stretch>
        </p:blipFill>
        <p:spPr>
          <a:xfrm>
            <a:off x="6461882" y="3974714"/>
            <a:ext cx="243596" cy="243596"/>
          </a:xfrm>
          <a:prstGeom prst="rect">
            <a:avLst/>
          </a:prstGeom>
        </p:spPr>
      </p:pic>
      <p:sp>
        <p:nvSpPr>
          <p:cNvPr id="49" name="Text 35"/>
          <p:cNvSpPr/>
          <p:nvPr/>
        </p:nvSpPr>
        <p:spPr>
          <a:xfrm>
            <a:off x="6830568" y="3785616"/>
            <a:ext cx="2130552" cy="621792"/>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AI-powered military insights</a:t>
            </a:r>
            <a:endParaRPr lang="en-US" sz="950" dirty="0"/>
          </a:p>
        </p:txBody>
      </p:sp>
      <p:sp>
        <p:nvSpPr>
          <p:cNvPr id="50" name="Shape 36"/>
          <p:cNvSpPr/>
          <p:nvPr/>
        </p:nvSpPr>
        <p:spPr>
          <a:xfrm>
            <a:off x="9144000" y="3785616"/>
            <a:ext cx="2724912" cy="621792"/>
          </a:xfrm>
          <a:prstGeom prst="roundRect">
            <a:avLst>
              <a:gd name="adj" fmla="val 14706"/>
            </a:avLst>
          </a:prstGeom>
          <a:solidFill>
            <a:srgbClr val="13253F"/>
          </a:solidFill>
          <a:ln w="12700">
            <a:solidFill>
              <a:srgbClr val="24405F"/>
            </a:solidFill>
            <a:prstDash val="solid"/>
          </a:ln>
        </p:spPr>
      </p:sp>
      <p:sp>
        <p:nvSpPr>
          <p:cNvPr id="51" name="Shape 37"/>
          <p:cNvSpPr/>
          <p:nvPr/>
        </p:nvSpPr>
        <p:spPr>
          <a:xfrm>
            <a:off x="9235440" y="3931920"/>
            <a:ext cx="329184" cy="329184"/>
          </a:xfrm>
          <a:prstGeom prst="ellipse">
            <a:avLst/>
          </a:prstGeom>
          <a:solidFill>
            <a:srgbClr val="1B324F"/>
          </a:solidFill>
          <a:ln/>
        </p:spPr>
      </p:sp>
      <p:pic>
        <p:nvPicPr>
          <p:cNvPr id="52" name="Image 12" descr="preencoded.png">    </p:cNvPr>
          <p:cNvPicPr>
            <a:picLocks noChangeAspect="1"/>
          </p:cNvPicPr>
          <p:nvPr/>
        </p:nvPicPr>
        <p:blipFill>
          <a:blip r:embed="rId13"/>
          <a:stretch>
            <a:fillRect/>
          </a:stretch>
        </p:blipFill>
        <p:spPr>
          <a:xfrm>
            <a:off x="9278234" y="3974714"/>
            <a:ext cx="243596" cy="243596"/>
          </a:xfrm>
          <a:prstGeom prst="rect">
            <a:avLst/>
          </a:prstGeom>
        </p:spPr>
      </p:pic>
      <p:sp>
        <p:nvSpPr>
          <p:cNvPr id="53" name="Text 38"/>
          <p:cNvSpPr/>
          <p:nvPr/>
        </p:nvSpPr>
        <p:spPr>
          <a:xfrm>
            <a:off x="9646920" y="3785616"/>
            <a:ext cx="2130552" cy="621792"/>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Advanced geographic visualization</a:t>
            </a:r>
            <a:endParaRPr lang="en-US" sz="950" dirty="0"/>
          </a:p>
        </p:txBody>
      </p:sp>
      <p:sp>
        <p:nvSpPr>
          <p:cNvPr id="54" name="Shape 39"/>
          <p:cNvSpPr/>
          <p:nvPr/>
        </p:nvSpPr>
        <p:spPr>
          <a:xfrm>
            <a:off x="6327648" y="4480560"/>
            <a:ext cx="2724912" cy="621792"/>
          </a:xfrm>
          <a:prstGeom prst="roundRect">
            <a:avLst>
              <a:gd name="adj" fmla="val 14706"/>
            </a:avLst>
          </a:prstGeom>
          <a:solidFill>
            <a:srgbClr val="13253F"/>
          </a:solidFill>
          <a:ln w="12700">
            <a:solidFill>
              <a:srgbClr val="24405F"/>
            </a:solidFill>
            <a:prstDash val="solid"/>
          </a:ln>
        </p:spPr>
      </p:sp>
      <p:sp>
        <p:nvSpPr>
          <p:cNvPr id="55" name="Shape 40"/>
          <p:cNvSpPr/>
          <p:nvPr/>
        </p:nvSpPr>
        <p:spPr>
          <a:xfrm>
            <a:off x="6419088" y="4626864"/>
            <a:ext cx="329184" cy="329184"/>
          </a:xfrm>
          <a:prstGeom prst="ellipse">
            <a:avLst/>
          </a:prstGeom>
          <a:solidFill>
            <a:srgbClr val="1B324F"/>
          </a:solidFill>
          <a:ln/>
        </p:spPr>
      </p:sp>
      <p:pic>
        <p:nvPicPr>
          <p:cNvPr id="56" name="Image 13" descr="preencoded.png">    </p:cNvPr>
          <p:cNvPicPr>
            <a:picLocks noChangeAspect="1"/>
          </p:cNvPicPr>
          <p:nvPr/>
        </p:nvPicPr>
        <p:blipFill>
          <a:blip r:embed="rId14"/>
          <a:stretch>
            <a:fillRect/>
          </a:stretch>
        </p:blipFill>
        <p:spPr>
          <a:xfrm>
            <a:off x="6461882" y="4669658"/>
            <a:ext cx="243596" cy="243596"/>
          </a:xfrm>
          <a:prstGeom prst="rect">
            <a:avLst/>
          </a:prstGeom>
        </p:spPr>
      </p:pic>
      <p:sp>
        <p:nvSpPr>
          <p:cNvPr id="57" name="Text 41"/>
          <p:cNvSpPr/>
          <p:nvPr/>
        </p:nvSpPr>
        <p:spPr>
          <a:xfrm>
            <a:off x="6830568" y="4480560"/>
            <a:ext cx="2130552" cy="621792"/>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Automated alerts for major changes</a:t>
            </a:r>
            <a:endParaRPr lang="en-US" sz="950" dirty="0"/>
          </a:p>
        </p:txBody>
      </p:sp>
      <p:sp>
        <p:nvSpPr>
          <p:cNvPr id="58" name="Shape 42"/>
          <p:cNvSpPr/>
          <p:nvPr/>
        </p:nvSpPr>
        <p:spPr>
          <a:xfrm>
            <a:off x="9144000" y="4480560"/>
            <a:ext cx="2724912" cy="621792"/>
          </a:xfrm>
          <a:prstGeom prst="roundRect">
            <a:avLst>
              <a:gd name="adj" fmla="val 14706"/>
            </a:avLst>
          </a:prstGeom>
          <a:solidFill>
            <a:srgbClr val="13253F"/>
          </a:solidFill>
          <a:ln w="12700">
            <a:solidFill>
              <a:srgbClr val="24405F"/>
            </a:solidFill>
            <a:prstDash val="solid"/>
          </a:ln>
        </p:spPr>
      </p:sp>
      <p:sp>
        <p:nvSpPr>
          <p:cNvPr id="59" name="Shape 43"/>
          <p:cNvSpPr/>
          <p:nvPr/>
        </p:nvSpPr>
        <p:spPr>
          <a:xfrm>
            <a:off x="9235440" y="4626864"/>
            <a:ext cx="329184" cy="329184"/>
          </a:xfrm>
          <a:prstGeom prst="ellipse">
            <a:avLst/>
          </a:prstGeom>
          <a:solidFill>
            <a:srgbClr val="1B324F"/>
          </a:solidFill>
          <a:ln/>
        </p:spPr>
      </p:sp>
      <p:pic>
        <p:nvPicPr>
          <p:cNvPr id="60" name="Image 14" descr="preencoded.png">    </p:cNvPr>
          <p:cNvPicPr>
            <a:picLocks noChangeAspect="1"/>
          </p:cNvPicPr>
          <p:nvPr/>
        </p:nvPicPr>
        <p:blipFill>
          <a:blip r:embed="rId15"/>
          <a:stretch>
            <a:fillRect/>
          </a:stretch>
        </p:blipFill>
        <p:spPr>
          <a:xfrm>
            <a:off x="9278234" y="4669658"/>
            <a:ext cx="243596" cy="243596"/>
          </a:xfrm>
          <a:prstGeom prst="rect">
            <a:avLst/>
          </a:prstGeom>
        </p:spPr>
      </p:pic>
      <p:sp>
        <p:nvSpPr>
          <p:cNvPr id="61" name="Text 44"/>
          <p:cNvSpPr/>
          <p:nvPr/>
        </p:nvSpPr>
        <p:spPr>
          <a:xfrm>
            <a:off x="9646920" y="4480560"/>
            <a:ext cx="2130552" cy="621792"/>
          </a:xfrm>
          <a:prstGeom prst="rect">
            <a:avLst/>
          </a:prstGeom>
          <a:noFill/>
          <a:ln/>
        </p:spPr>
        <p:txBody>
          <a:bodyPr wrap="square" lIns="0" tIns="0" rIns="0" bIns="0" rtlCol="0" anchor="ctr"/>
          <a:lstStyle/>
          <a:p>
            <a:pPr indent="0" marL="0">
              <a:lnSpc>
                <a:spcPct val="100000"/>
              </a:lnSpc>
              <a:buNone/>
            </a:pPr>
            <a:r>
              <a:rPr lang="en-US" sz="950" b="1" dirty="0">
                <a:solidFill>
                  <a:srgbClr val="F2F6FA"/>
                </a:solidFill>
                <a:latin typeface="Calibri" pitchFamily="34" charset="0"/>
                <a:ea typeface="Calibri" pitchFamily="34" charset="-122"/>
                <a:cs typeface="Calibri" pitchFamily="34" charset="-120"/>
              </a:rPr>
              <a:t>Web-based platform deployment</a:t>
            </a:r>
            <a:endParaRPr lang="en-US" sz="950" dirty="0"/>
          </a:p>
        </p:txBody>
      </p:sp>
      <p:sp>
        <p:nvSpPr>
          <p:cNvPr id="62" name="Text 45"/>
          <p:cNvSpPr/>
          <p:nvPr/>
        </p:nvSpPr>
        <p:spPr>
          <a:xfrm>
            <a:off x="457200" y="5486400"/>
            <a:ext cx="11274552" cy="777240"/>
          </a:xfrm>
          <a:prstGeom prst="rect">
            <a:avLst/>
          </a:prstGeom>
          <a:noFill/>
          <a:ln/>
        </p:spPr>
        <p:txBody>
          <a:bodyPr wrap="square" lIns="0" tIns="0" rIns="0" bIns="0" rtlCol="0" anchor="ctr"/>
          <a:lstStyle/>
          <a:p>
            <a:pPr algn="ctr" indent="0" marL="0">
              <a:buNone/>
            </a:pPr>
            <a:r>
              <a:rPr lang="en-US" sz="3400" b="1" dirty="0">
                <a:solidFill>
                  <a:srgbClr val="00D4FF"/>
                </a:solidFill>
                <a:latin typeface="Cambria" pitchFamily="34" charset="0"/>
                <a:ea typeface="Cambria" pitchFamily="34" charset="-122"/>
                <a:cs typeface="Cambria" pitchFamily="34" charset="-120"/>
              </a:rPr>
              <a:t>Thank You</a:t>
            </a:r>
            <a:endParaRPr lang="en-US" sz="3400" dirty="0"/>
          </a:p>
        </p:txBody>
      </p:sp>
      <p:sp>
        <p:nvSpPr>
          <p:cNvPr id="63" name="Text 46"/>
          <p:cNvSpPr/>
          <p:nvPr/>
        </p:nvSpPr>
        <p:spPr>
          <a:xfrm>
            <a:off x="457200" y="6172200"/>
            <a:ext cx="11274552" cy="365760"/>
          </a:xfrm>
          <a:prstGeom prst="rect">
            <a:avLst/>
          </a:prstGeom>
          <a:noFill/>
          <a:ln/>
        </p:spPr>
        <p:txBody>
          <a:bodyPr wrap="square" lIns="0" tIns="0" rIns="0" bIns="0" rtlCol="0" anchor="ctr"/>
          <a:lstStyle/>
          <a:p>
            <a:pPr algn="ctr" indent="0" marL="0">
              <a:buNone/>
            </a:pPr>
            <a:r>
              <a:rPr lang="en-US" sz="1300" i="1" dirty="0">
                <a:solidFill>
                  <a:srgbClr val="9BB0CC"/>
                </a:solidFill>
                <a:latin typeface="Calibri" pitchFamily="34" charset="0"/>
                <a:ea typeface="Calibri" pitchFamily="34" charset="-122"/>
                <a:cs typeface="Calibri" pitchFamily="34" charset="-120"/>
              </a:rPr>
              <a:t>Questions &amp; Discussion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2026-08-20T05:58:17Z</dcterms:created>
  <dcterms:modified xsi:type="dcterms:W3CDTF">2026-08-20T05:58:17Z</dcterms:modified>
</cp:coreProperties>
</file>